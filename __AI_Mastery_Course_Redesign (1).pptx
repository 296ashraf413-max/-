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42" d="100"/>
          <a:sy n="42" d="100"/>
        </p:scale>
        <p:origin x="1426" y="4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slide" Target="slides/slide38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slide" Target="slides/slide41.xml" /><Relationship Id="rId47" Type="http://schemas.openxmlformats.org/officeDocument/2006/relationships/slide" Target="slides/slide46.xml" /><Relationship Id="rId50" Type="http://schemas.openxmlformats.org/officeDocument/2006/relationships/slide" Target="slides/slide49.xml" /><Relationship Id="rId55" Type="http://schemas.openxmlformats.org/officeDocument/2006/relationships/slide" Target="slides/slide54.xml" /><Relationship Id="rId63" Type="http://schemas.openxmlformats.org/officeDocument/2006/relationships/slide" Target="slides/slide62.xml" /><Relationship Id="rId68" Type="http://schemas.openxmlformats.org/officeDocument/2006/relationships/slide" Target="slides/slide67.xml" /><Relationship Id="rId76" Type="http://schemas.openxmlformats.org/officeDocument/2006/relationships/slide" Target="slides/slide75.xml" /><Relationship Id="rId84" Type="http://schemas.openxmlformats.org/officeDocument/2006/relationships/slide" Target="slides/slide83.xml" /><Relationship Id="rId89" Type="http://schemas.openxmlformats.org/officeDocument/2006/relationships/notesMaster" Target="notesMasters/notesMaster1.xml" /><Relationship Id="rId7" Type="http://schemas.openxmlformats.org/officeDocument/2006/relationships/slide" Target="slides/slide6.xml" /><Relationship Id="rId71" Type="http://schemas.openxmlformats.org/officeDocument/2006/relationships/slide" Target="slides/slide70.xml" /><Relationship Id="rId92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9" Type="http://schemas.openxmlformats.org/officeDocument/2006/relationships/slide" Target="slides/slide28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slide" Target="slides/slide39.xml" /><Relationship Id="rId45" Type="http://schemas.openxmlformats.org/officeDocument/2006/relationships/slide" Target="slides/slide44.xml" /><Relationship Id="rId53" Type="http://schemas.openxmlformats.org/officeDocument/2006/relationships/slide" Target="slides/slide52.xml" /><Relationship Id="rId58" Type="http://schemas.openxmlformats.org/officeDocument/2006/relationships/slide" Target="slides/slide57.xml" /><Relationship Id="rId66" Type="http://schemas.openxmlformats.org/officeDocument/2006/relationships/slide" Target="slides/slide65.xml" /><Relationship Id="rId74" Type="http://schemas.openxmlformats.org/officeDocument/2006/relationships/slide" Target="slides/slide73.xml" /><Relationship Id="rId79" Type="http://schemas.openxmlformats.org/officeDocument/2006/relationships/slide" Target="slides/slide78.xml" /><Relationship Id="rId87" Type="http://schemas.openxmlformats.org/officeDocument/2006/relationships/slide" Target="slides/slide86.xml" /><Relationship Id="rId5" Type="http://schemas.openxmlformats.org/officeDocument/2006/relationships/slide" Target="slides/slide4.xml" /><Relationship Id="rId61" Type="http://schemas.openxmlformats.org/officeDocument/2006/relationships/slide" Target="slides/slide60.xml" /><Relationship Id="rId82" Type="http://schemas.openxmlformats.org/officeDocument/2006/relationships/slide" Target="slides/slide81.xml" /><Relationship Id="rId90" Type="http://schemas.openxmlformats.org/officeDocument/2006/relationships/presProps" Target="presProps.xml" /><Relationship Id="rId19" Type="http://schemas.openxmlformats.org/officeDocument/2006/relationships/slide" Target="slides/slide1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slide" Target="slides/slide42.xml" /><Relationship Id="rId48" Type="http://schemas.openxmlformats.org/officeDocument/2006/relationships/slide" Target="slides/slide47.xml" /><Relationship Id="rId56" Type="http://schemas.openxmlformats.org/officeDocument/2006/relationships/slide" Target="slides/slide55.xml" /><Relationship Id="rId64" Type="http://schemas.openxmlformats.org/officeDocument/2006/relationships/slide" Target="slides/slide63.xml" /><Relationship Id="rId69" Type="http://schemas.openxmlformats.org/officeDocument/2006/relationships/slide" Target="slides/slide68.xml" /><Relationship Id="rId77" Type="http://schemas.openxmlformats.org/officeDocument/2006/relationships/slide" Target="slides/slide76.xml" /><Relationship Id="rId8" Type="http://schemas.openxmlformats.org/officeDocument/2006/relationships/slide" Target="slides/slide7.xml" /><Relationship Id="rId51" Type="http://schemas.openxmlformats.org/officeDocument/2006/relationships/slide" Target="slides/slide50.xml" /><Relationship Id="rId72" Type="http://schemas.openxmlformats.org/officeDocument/2006/relationships/slide" Target="slides/slide71.xml" /><Relationship Id="rId80" Type="http://schemas.openxmlformats.org/officeDocument/2006/relationships/slide" Target="slides/slide79.xml" /><Relationship Id="rId85" Type="http://schemas.openxmlformats.org/officeDocument/2006/relationships/slide" Target="slides/slide84.xml" /><Relationship Id="rId93" Type="http://schemas.openxmlformats.org/officeDocument/2006/relationships/tableStyles" Target="tableStyles.xml" /><Relationship Id="rId3" Type="http://schemas.openxmlformats.org/officeDocument/2006/relationships/slide" Target="slides/slide2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46" Type="http://schemas.openxmlformats.org/officeDocument/2006/relationships/slide" Target="slides/slide45.xml" /><Relationship Id="rId59" Type="http://schemas.openxmlformats.org/officeDocument/2006/relationships/slide" Target="slides/slide58.xml" /><Relationship Id="rId67" Type="http://schemas.openxmlformats.org/officeDocument/2006/relationships/slide" Target="slides/slide66.xml" /><Relationship Id="rId20" Type="http://schemas.openxmlformats.org/officeDocument/2006/relationships/slide" Target="slides/slide19.xml" /><Relationship Id="rId41" Type="http://schemas.openxmlformats.org/officeDocument/2006/relationships/slide" Target="slides/slide40.xml" /><Relationship Id="rId54" Type="http://schemas.openxmlformats.org/officeDocument/2006/relationships/slide" Target="slides/slide53.xml" /><Relationship Id="rId62" Type="http://schemas.openxmlformats.org/officeDocument/2006/relationships/slide" Target="slides/slide61.xml" /><Relationship Id="rId70" Type="http://schemas.openxmlformats.org/officeDocument/2006/relationships/slide" Target="slides/slide69.xml" /><Relationship Id="rId75" Type="http://schemas.openxmlformats.org/officeDocument/2006/relationships/slide" Target="slides/slide74.xml" /><Relationship Id="rId83" Type="http://schemas.openxmlformats.org/officeDocument/2006/relationships/slide" Target="slides/slide82.xml" /><Relationship Id="rId88" Type="http://schemas.openxmlformats.org/officeDocument/2006/relationships/slide" Target="slides/slide87.xml" /><Relationship Id="rId91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49" Type="http://schemas.openxmlformats.org/officeDocument/2006/relationships/slide" Target="slides/slide48.xml" /><Relationship Id="rId57" Type="http://schemas.openxmlformats.org/officeDocument/2006/relationships/slide" Target="slides/slide56.xml" /><Relationship Id="rId10" Type="http://schemas.openxmlformats.org/officeDocument/2006/relationships/slide" Target="slides/slide9.xml" /><Relationship Id="rId31" Type="http://schemas.openxmlformats.org/officeDocument/2006/relationships/slide" Target="slides/slide30.xml" /><Relationship Id="rId44" Type="http://schemas.openxmlformats.org/officeDocument/2006/relationships/slide" Target="slides/slide43.xml" /><Relationship Id="rId52" Type="http://schemas.openxmlformats.org/officeDocument/2006/relationships/slide" Target="slides/slide51.xml" /><Relationship Id="rId60" Type="http://schemas.openxmlformats.org/officeDocument/2006/relationships/slide" Target="slides/slide59.xml" /><Relationship Id="rId65" Type="http://schemas.openxmlformats.org/officeDocument/2006/relationships/slide" Target="slides/slide64.xml" /><Relationship Id="rId73" Type="http://schemas.openxmlformats.org/officeDocument/2006/relationships/slide" Target="slides/slide72.xml" /><Relationship Id="rId78" Type="http://schemas.openxmlformats.org/officeDocument/2006/relationships/slide" Target="slides/slide77.xml" /><Relationship Id="rId81" Type="http://schemas.openxmlformats.org/officeDocument/2006/relationships/slide" Target="slides/slide80.xml" /><Relationship Id="rId86" Type="http://schemas.openxmlformats.org/officeDocument/2006/relationships/slide" Target="slides/slide85.xml" /><Relationship Id="rId4" Type="http://schemas.openxmlformats.org/officeDocument/2006/relationships/slide" Target="slides/slide3.xml" /><Relationship Id="rId9" Type="http://schemas.openxmlformats.org/officeDocument/2006/relationships/slide" Target="slides/slide8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4314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 /><Relationship Id="rId1" Type="http://schemas.openxmlformats.org/officeDocument/2006/relationships/notesMaster" Target="../notesMasters/notesMaster1.xml" 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 /><Relationship Id="rId1" Type="http://schemas.openxmlformats.org/officeDocument/2006/relationships/notesMaster" Target="../notesMasters/notesMaster1.xml" 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 /><Relationship Id="rId1" Type="http://schemas.openxmlformats.org/officeDocument/2006/relationships/notesMaster" Target="../notesMasters/notesMaster1.xml" 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 /><Relationship Id="rId1" Type="http://schemas.openxmlformats.org/officeDocument/2006/relationships/notesMaster" Target="../notesMasters/notesMaster1.xml" 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 /><Relationship Id="rId1" Type="http://schemas.openxmlformats.org/officeDocument/2006/relationships/notesMaster" Target="../notesMasters/notesMaster1.xml" 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 /><Relationship Id="rId1" Type="http://schemas.openxmlformats.org/officeDocument/2006/relationships/notesMaster" Target="../notesMasters/notesMaster1.xml" 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 /><Relationship Id="rId1" Type="http://schemas.openxmlformats.org/officeDocument/2006/relationships/notesMaster" Target="../notesMasters/notesMaster1.xml" 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 /><Relationship Id="rId1" Type="http://schemas.openxmlformats.org/officeDocument/2006/relationships/notesMaster" Target="../notesMasters/notesMaster1.xml" 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 /><Relationship Id="rId1" Type="http://schemas.openxmlformats.org/officeDocument/2006/relationships/notesMaster" Target="../notesMasters/notesMaster1.xml" 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 /><Relationship Id="rId1" Type="http://schemas.openxmlformats.org/officeDocument/2006/relationships/notesMaster" Target="../notesMasters/notesMaster1.xml" 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 /><Relationship Id="rId1" Type="http://schemas.openxmlformats.org/officeDocument/2006/relationships/notesMaster" Target="../notesMasters/notesMaster1.xml" 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 /><Relationship Id="rId1" Type="http://schemas.openxmlformats.org/officeDocument/2006/relationships/notesMaster" Target="../notesMasters/notesMaster1.xml" 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 /><Relationship Id="rId1" Type="http://schemas.openxmlformats.org/officeDocument/2006/relationships/notesMaster" Target="../notesMasters/notesMaster1.xml" 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 /><Relationship Id="rId1" Type="http://schemas.openxmlformats.org/officeDocument/2006/relationships/notesMaster" Target="../notesMasters/notesMaster1.xml" 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 /><Relationship Id="rId1" Type="http://schemas.openxmlformats.org/officeDocument/2006/relationships/notesMaster" Target="../notesMasters/notesMaster1.xml" 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 /><Relationship Id="rId1" Type="http://schemas.openxmlformats.org/officeDocument/2006/relationships/notesMaster" Target="../notesMasters/notesMaster1.xml" 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 /><Relationship Id="rId1" Type="http://schemas.openxmlformats.org/officeDocument/2006/relationships/notesMaster" Target="../notesMasters/notesMaster1.xml" 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 /><Relationship Id="rId1" Type="http://schemas.openxmlformats.org/officeDocument/2006/relationships/notesMaster" Target="../notesMasters/notesMaster1.xml" 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 /><Relationship Id="rId1" Type="http://schemas.openxmlformats.org/officeDocument/2006/relationships/notesMaster" Target="../notesMasters/notesMaster1.xml" 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 /><Relationship Id="rId1" Type="http://schemas.openxmlformats.org/officeDocument/2006/relationships/notesMaster" Target="../notesMasters/notesMaster1.xml" 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 /><Relationship Id="rId1" Type="http://schemas.openxmlformats.org/officeDocument/2006/relationships/notesMaster" Target="../notesMasters/notesMaster1.xml" 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 /><Relationship Id="rId1" Type="http://schemas.openxmlformats.org/officeDocument/2006/relationships/notesMaster" Target="../notesMasters/notesMaster1.xml" 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 /><Relationship Id="rId1" Type="http://schemas.openxmlformats.org/officeDocument/2006/relationships/notesMaster" Target="../notesMasters/notesMaster1.xml" 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 /><Relationship Id="rId1" Type="http://schemas.openxmlformats.org/officeDocument/2006/relationships/notesMaster" Target="../notesMasters/notesMaster1.xml" 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 /><Relationship Id="rId1" Type="http://schemas.openxmlformats.org/officeDocument/2006/relationships/notesMaster" Target="../notesMasters/notesMaster1.xml" 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 /><Relationship Id="rId1" Type="http://schemas.openxmlformats.org/officeDocument/2006/relationships/notesMaster" Target="../notesMasters/notesMaster1.xml" 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 /><Relationship Id="rId1" Type="http://schemas.openxmlformats.org/officeDocument/2006/relationships/notesMaster" Target="../notesMasters/notesMaster1.xml" 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 /><Relationship Id="rId1" Type="http://schemas.openxmlformats.org/officeDocument/2006/relationships/notesMaster" Target="../notesMasters/notesMaster1.xml" 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 /><Relationship Id="rId1" Type="http://schemas.openxmlformats.org/officeDocument/2006/relationships/notesMaster" Target="../notesMasters/notesMaster1.xml" 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 /><Relationship Id="rId1" Type="http://schemas.openxmlformats.org/officeDocument/2006/relationships/notesMaster" Target="../notesMasters/notesMaster1.xml" 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 /><Relationship Id="rId1" Type="http://schemas.openxmlformats.org/officeDocument/2006/relationships/notesMaster" Target="../notesMasters/notesMaster1.xml" 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 /><Relationship Id="rId1" Type="http://schemas.openxmlformats.org/officeDocument/2006/relationships/notesMaster" Target="../notesMasters/notesMaster1.xml" 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 /><Relationship Id="rId1" Type="http://schemas.openxmlformats.org/officeDocument/2006/relationships/notesMaster" Target="../notesMasters/notesMaster1.xml" 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 /><Relationship Id="rId1" Type="http://schemas.openxmlformats.org/officeDocument/2006/relationships/notesMaster" Target="../notesMasters/notesMaster1.xml" 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 /><Relationship Id="rId1" Type="http://schemas.openxmlformats.org/officeDocument/2006/relationships/notesMaster" Target="../notesMasters/notesMaster1.xml" 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 /><Relationship Id="rId1" Type="http://schemas.openxmlformats.org/officeDocument/2006/relationships/notesMaster" Target="../notesMasters/notesMaster1.xml" 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 /><Relationship Id="rId1" Type="http://schemas.openxmlformats.org/officeDocument/2006/relationships/notesMaster" Target="../notesMasters/notesMaster1.xml" 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 /><Relationship Id="rId1" Type="http://schemas.openxmlformats.org/officeDocument/2006/relationships/notesMaster" Target="../notesMasters/notesMaster1.xml" 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 /><Relationship Id="rId1" Type="http://schemas.openxmlformats.org/officeDocument/2006/relationships/notesMaster" Target="../notesMasters/notesMaster1.xml" 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 /><Relationship Id="rId1" Type="http://schemas.openxmlformats.org/officeDocument/2006/relationships/notesMaster" Target="../notesMasters/notesMaster1.xml" 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 /><Relationship Id="rId1" Type="http://schemas.openxmlformats.org/officeDocument/2006/relationships/notesMaster" Target="../notesMasters/notesMaster1.xml" 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 /><Relationship Id="rId1" Type="http://schemas.openxmlformats.org/officeDocument/2006/relationships/notesMaster" Target="../notesMasters/notesMaster1.xml" 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 /><Relationship Id="rId1" Type="http://schemas.openxmlformats.org/officeDocument/2006/relationships/notesMaster" Target="../notesMasters/notesMaster1.xml" 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 /><Relationship Id="rId1" Type="http://schemas.openxmlformats.org/officeDocument/2006/relationships/notesMaster" Target="../notesMasters/notesMaster1.xml" 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 /><Relationship Id="rId1" Type="http://schemas.openxmlformats.org/officeDocument/2006/relationships/notesMaster" Target="../notesMasters/notesMaster1.xml" 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 /><Relationship Id="rId1" Type="http://schemas.openxmlformats.org/officeDocument/2006/relationships/notesMaster" Target="../notesMasters/notesMaster1.xml" 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 /><Relationship Id="rId1" Type="http://schemas.openxmlformats.org/officeDocument/2006/relationships/notesMaster" Target="../notesMasters/notesMaster1.xml" 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 /><Relationship Id="rId1" Type="http://schemas.openxmlformats.org/officeDocument/2006/relationships/notesMaster" Target="../notesMasters/notesMaster1.xml" 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 /><Relationship Id="rId1" Type="http://schemas.openxmlformats.org/officeDocument/2006/relationships/notesMaster" Target="../notesMasters/notesMaster1.xml" 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 /><Relationship Id="rId1" Type="http://schemas.openxmlformats.org/officeDocument/2006/relationships/notesMaster" Target="../notesMasters/notesMaster1.xml" 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 /><Relationship Id="rId1" Type="http://schemas.openxmlformats.org/officeDocument/2006/relationships/notesMaster" Target="../notesMasters/notesMaster1.xml" 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 /><Relationship Id="rId1" Type="http://schemas.openxmlformats.org/officeDocument/2006/relationships/notesMaster" Target="../notesMasters/notesMaster1.xml" 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1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1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1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1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 /><Relationship Id="rId1" Type="http://schemas.openxmlformats.org/officeDocument/2006/relationships/slideLayout" Target="../slideLayouts/slideLayout1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 /><Relationship Id="rId1" Type="http://schemas.openxmlformats.org/officeDocument/2006/relationships/slideLayout" Target="../slideLayouts/slideLayout1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 /><Relationship Id="rId1" Type="http://schemas.openxmlformats.org/officeDocument/2006/relationships/slideLayout" Target="../slideLayouts/slideLayout1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 /><Relationship Id="rId1" Type="http://schemas.openxmlformats.org/officeDocument/2006/relationships/slideLayout" Target="../slideLayouts/slideLayout1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 /><Relationship Id="rId1" Type="http://schemas.openxmlformats.org/officeDocument/2006/relationships/slideLayout" Target="../slideLayouts/slideLayout1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 /><Relationship Id="rId1" Type="http://schemas.openxmlformats.org/officeDocument/2006/relationships/slideLayout" Target="../slideLayouts/slideLayout1.xml" 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 /><Relationship Id="rId1" Type="http://schemas.openxmlformats.org/officeDocument/2006/relationships/slideLayout" Target="../slideLayouts/slideLayout1.xml" 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 /><Relationship Id="rId1" Type="http://schemas.openxmlformats.org/officeDocument/2006/relationships/slideLayout" Target="../slideLayouts/slideLayout1.xml" 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 /><Relationship Id="rId1" Type="http://schemas.openxmlformats.org/officeDocument/2006/relationships/slideLayout" Target="../slideLayouts/slideLayout1.xml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 /><Relationship Id="rId1" Type="http://schemas.openxmlformats.org/officeDocument/2006/relationships/slideLayout" Target="../slideLayouts/slideLayout1.xml" 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 /><Relationship Id="rId1" Type="http://schemas.openxmlformats.org/officeDocument/2006/relationships/slideLayout" Target="../slideLayouts/slideLayout1.xml" 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 /><Relationship Id="rId1" Type="http://schemas.openxmlformats.org/officeDocument/2006/relationships/slideLayout" Target="../slideLayouts/slideLayout1.xml" 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 /><Relationship Id="rId1" Type="http://schemas.openxmlformats.org/officeDocument/2006/relationships/slideLayout" Target="../slideLayouts/slideLayout1.xml" 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 /><Relationship Id="rId1" Type="http://schemas.openxmlformats.org/officeDocument/2006/relationships/slideLayout" Target="../slideLayouts/slideLayout1.xml" 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 /><Relationship Id="rId1" Type="http://schemas.openxmlformats.org/officeDocument/2006/relationships/slideLayout" Target="../slideLayouts/slideLayout1.xml" 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 /><Relationship Id="rId1" Type="http://schemas.openxmlformats.org/officeDocument/2006/relationships/slideLayout" Target="../slideLayouts/slideLayout1.xml" 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 /><Relationship Id="rId1" Type="http://schemas.openxmlformats.org/officeDocument/2006/relationships/slideLayout" Target="../slideLayouts/slideLayout1.xml" 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 /><Relationship Id="rId1" Type="http://schemas.openxmlformats.org/officeDocument/2006/relationships/slideLayout" Target="../slideLayouts/slideLayout1.xml" 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 /><Relationship Id="rId1" Type="http://schemas.openxmlformats.org/officeDocument/2006/relationships/slideLayout" Target="../slideLayouts/slideLayout1.xml" 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 /><Relationship Id="rId1" Type="http://schemas.openxmlformats.org/officeDocument/2006/relationships/slideLayout" Target="../slideLayouts/slideLayout1.xml" 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 /><Relationship Id="rId1" Type="http://schemas.openxmlformats.org/officeDocument/2006/relationships/slideLayout" Target="../slideLayouts/slideLayout1.xml" 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 /><Relationship Id="rId1" Type="http://schemas.openxmlformats.org/officeDocument/2006/relationships/slideLayout" Target="../slideLayouts/slideLayout1.xml" 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 /><Relationship Id="rId1" Type="http://schemas.openxmlformats.org/officeDocument/2006/relationships/slideLayout" Target="../slideLayouts/slideLayout1.xml" 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 /><Relationship Id="rId1" Type="http://schemas.openxmlformats.org/officeDocument/2006/relationships/slideLayout" Target="../slideLayouts/slideLayout1.xml" 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 /><Relationship Id="rId1" Type="http://schemas.openxmlformats.org/officeDocument/2006/relationships/slideLayout" Target="../slideLayouts/slideLayout1.xml" 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 /><Relationship Id="rId1" Type="http://schemas.openxmlformats.org/officeDocument/2006/relationships/slideLayout" Target="../slideLayouts/slideLayout1.xml" 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 /><Relationship Id="rId1" Type="http://schemas.openxmlformats.org/officeDocument/2006/relationships/slideLayout" Target="../slideLayouts/slideLayout1.xml" 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 /><Relationship Id="rId1" Type="http://schemas.openxmlformats.org/officeDocument/2006/relationships/slideLayout" Target="../slideLayouts/slideLayout1.xml" 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 /><Relationship Id="rId1" Type="http://schemas.openxmlformats.org/officeDocument/2006/relationships/slideLayout" Target="../slideLayouts/slideLayout1.xml" 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 /><Relationship Id="rId1" Type="http://schemas.openxmlformats.org/officeDocument/2006/relationships/slideLayout" Target="../slideLayouts/slideLayout1.xml" 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 /><Relationship Id="rId1" Type="http://schemas.openxmlformats.org/officeDocument/2006/relationships/slideLayout" Target="../slideLayouts/slideLayout1.xml" 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 /><Relationship Id="rId1" Type="http://schemas.openxmlformats.org/officeDocument/2006/relationships/slideLayout" Target="../slideLayouts/slideLayout1.xml" 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 /><Relationship Id="rId1" Type="http://schemas.openxmlformats.org/officeDocument/2006/relationships/slideLayout" Target="../slideLayouts/slideLayout1.xml" 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 /><Relationship Id="rId1" Type="http://schemas.openxmlformats.org/officeDocument/2006/relationships/slideLayout" Target="../slideLayouts/slideLayout1.xml" 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 /><Relationship Id="rId1" Type="http://schemas.openxmlformats.org/officeDocument/2006/relationships/slideLayout" Target="../slideLayouts/slideLayout1.xml" 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 /><Relationship Id="rId1" Type="http://schemas.openxmlformats.org/officeDocument/2006/relationships/slideLayout" Target="../slideLayouts/slideLayout1.xml" 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 /><Relationship Id="rId1" Type="http://schemas.openxmlformats.org/officeDocument/2006/relationships/slideLayout" Target="../slideLayouts/slideLayout1.xml" 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 /><Relationship Id="rId1" Type="http://schemas.openxmlformats.org/officeDocument/2006/relationships/slideLayout" Target="../slideLayouts/slideLayout1.xml" 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 /><Relationship Id="rId1" Type="http://schemas.openxmlformats.org/officeDocument/2006/relationships/slideLayout" Target="../slideLayouts/slideLayout1.xml" 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 /><Relationship Id="rId1" Type="http://schemas.openxmlformats.org/officeDocument/2006/relationships/slideLayout" Target="../slideLayouts/slideLayout1.xml" 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 /><Relationship Id="rId1" Type="http://schemas.openxmlformats.org/officeDocument/2006/relationships/slideLayout" Target="../slideLayouts/slideLayout1.xml" 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 /><Relationship Id="rId1" Type="http://schemas.openxmlformats.org/officeDocument/2006/relationships/slideLayout" Target="../slideLayouts/slideLayout1.xml" 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 /><Relationship Id="rId1" Type="http://schemas.openxmlformats.org/officeDocument/2006/relationships/slideLayout" Target="../slideLayouts/slideLayout1.xml" 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 /><Relationship Id="rId1" Type="http://schemas.openxmlformats.org/officeDocument/2006/relationships/slideLayout" Target="../slideLayouts/slideLayout1.xml" 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 /><Relationship Id="rId1" Type="http://schemas.openxmlformats.org/officeDocument/2006/relationships/slideLayout" Target="../slideLayouts/slideLayout1.xml" 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 /><Relationship Id="rId1" Type="http://schemas.openxmlformats.org/officeDocument/2006/relationships/slideLayout" Target="../slideLayouts/slideLayout1.xml" 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 /><Relationship Id="rId1" Type="http://schemas.openxmlformats.org/officeDocument/2006/relationships/slideLayout" Target="../slideLayouts/slideLayout1.xml" 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 /><Relationship Id="rId1" Type="http://schemas.openxmlformats.org/officeDocument/2006/relationships/slideLayout" Target="../slideLayouts/slideLayout1.xml" 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 /><Relationship Id="rId1" Type="http://schemas.openxmlformats.org/officeDocument/2006/relationships/slideLayout" Target="../slideLayouts/slideLayout1.xml" 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 /><Relationship Id="rId1" Type="http://schemas.openxmlformats.org/officeDocument/2006/relationships/slideLayout" Target="../slideLayouts/slideLayout1.xml" 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 /><Relationship Id="rId1" Type="http://schemas.openxmlformats.org/officeDocument/2006/relationships/slideLayout" Target="../slideLayouts/slideLayout1.xml" 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 /><Relationship Id="rId1" Type="http://schemas.openxmlformats.org/officeDocument/2006/relationships/slideLayout" Target="../slideLayouts/slideLayout1.xml" 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 /><Relationship Id="rId1" Type="http://schemas.openxmlformats.org/officeDocument/2006/relationships/slideLayout" Target="../slideLayouts/slideLayout1.xml" 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 /><Relationship Id="rId1" Type="http://schemas.openxmlformats.org/officeDocument/2006/relationships/slideLayout" Target="../slideLayouts/slideLayout1.xml" 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 /><Relationship Id="rId1" Type="http://schemas.openxmlformats.org/officeDocument/2006/relationships/slideLayout" Target="../slideLayouts/slideLayout1.xml" 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 /><Relationship Id="rId1" Type="http://schemas.openxmlformats.org/officeDocument/2006/relationships/slideLayout" Target="../slideLayouts/slideLayout1.xml" 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 /><Relationship Id="rId1" Type="http://schemas.openxmlformats.org/officeDocument/2006/relationships/slideLayout" Target="../slideLayouts/slideLayout1.xml" 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 /><Relationship Id="rId1" Type="http://schemas.openxmlformats.org/officeDocument/2006/relationships/slideLayout" Target="../slideLayouts/slideLayout1.xml" 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 /><Relationship Id="rId1" Type="http://schemas.openxmlformats.org/officeDocument/2006/relationships/slideLayout" Target="../slideLayouts/slideLayout1.xml" 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 /><Relationship Id="rId1" Type="http://schemas.openxmlformats.org/officeDocument/2006/relationships/slideLayout" Target="../slideLayouts/slideLayout1.xml" 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 /><Relationship Id="rId1" Type="http://schemas.openxmlformats.org/officeDocument/2006/relationships/slideLayout" Target="../slideLayouts/slideLayout1.xml" 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 /><Relationship Id="rId1" Type="http://schemas.openxmlformats.org/officeDocument/2006/relationships/slideLayout" Target="../slideLayouts/slideLayout1.xml" 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 /><Relationship Id="rId1" Type="http://schemas.openxmlformats.org/officeDocument/2006/relationships/slideLayout" Target="../slideLayouts/slideLayout1.xml" 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 /><Relationship Id="rId1" Type="http://schemas.openxmlformats.org/officeDocument/2006/relationships/slideLayout" Target="../slideLayouts/slideLayout1.xml" 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 /><Relationship Id="rId1" Type="http://schemas.openxmlformats.org/officeDocument/2006/relationships/slideLayout" Target="../slideLayouts/slideLayout1.xml" 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 /><Relationship Id="rId1" Type="http://schemas.openxmlformats.org/officeDocument/2006/relationships/slideLayout" Target="../slideLayouts/slideLayout1.xml" 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6305A">
                  <a:alpha val="100000"/>
                </a:srgbClr>
              </a:gs>
              <a:gs pos="55000">
                <a:srgbClr val="0A1526">
                  <a:alpha val="100000"/>
                </a:srgbClr>
              </a:gs>
              <a:gs pos="100000">
                <a:srgbClr val="060D19">
                  <a:alpha val="100000"/>
                </a:srgbClr>
              </a:gs>
            </a:gsLst>
            <a:path path="circle">
              <a:fillToRect l="12000" r="88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3449869" y="762000"/>
            <a:ext cx="3790381" cy="411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9189"/>
              </a:lnSpc>
              <a:buNone/>
            </a:pPr>
            <a:r>
              <a:rPr lang="en-US" sz="2100" b="1" kern="0" spc="252" dirty="0">
                <a:solidFill>
                  <a:srgbClr val="F5B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سلسلة التدريب على الذكاء الاصطناعي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47750" y="2120635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kern="0" spc="495" dirty="0">
                <a:solidFill>
                  <a:srgbClr val="F5B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TRAINING SERIES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047750" y="2730235"/>
            <a:ext cx="14716125" cy="21182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7800" b="1" kern="0" spc="-1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Mastery: From Curiosity to Automated Workflows</a:t>
            </a:r>
            <a:endParaRPr lang="en-US" sz="7800" dirty="0"/>
          </a:p>
        </p:txBody>
      </p:sp>
      <p:sp>
        <p:nvSpPr>
          <p:cNvPr id="10" name="Text 8"/>
          <p:cNvSpPr/>
          <p:nvPr/>
        </p:nvSpPr>
        <p:spPr>
          <a:xfrm>
            <a:off x="-571500" y="5134240"/>
            <a:ext cx="178117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1250"/>
              </a:lnSpc>
              <a:buNone/>
            </a:pPr>
            <a:r>
              <a:rPr lang="en-US" sz="4200" b="1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إتقان الذكاء الاصطناعي: من الفضول إلى سير العمل الآلي</a:t>
            </a:r>
            <a:endParaRPr lang="en-US" sz="4200" dirty="0"/>
          </a:p>
        </p:txBody>
      </p:sp>
      <p:sp>
        <p:nvSpPr>
          <p:cNvPr id="11" name="Shape 9"/>
          <p:cNvSpPr/>
          <p:nvPr/>
        </p:nvSpPr>
        <p:spPr>
          <a:xfrm>
            <a:off x="1047750" y="6258190"/>
            <a:ext cx="3238500" cy="76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5B93A">
                  <a:alpha val="100000"/>
                </a:srgbClr>
              </a:gs>
              <a:gs pos="16667">
                <a:srgbClr val="3DA9F5">
                  <a:alpha val="100000"/>
                </a:srgbClr>
              </a:gs>
              <a:gs pos="33333">
                <a:srgbClr val="2FCC94">
                  <a:alpha val="100000"/>
                </a:srgbClr>
              </a:gs>
              <a:gs pos="50000">
                <a:srgbClr val="A98BF7">
                  <a:alpha val="100000"/>
                </a:srgbClr>
              </a:gs>
              <a:gs pos="66667">
                <a:srgbClr val="FF6F91">
                  <a:alpha val="100000"/>
                </a:srgbClr>
              </a:gs>
              <a:gs pos="83333">
                <a:srgbClr val="E0805C">
                  <a:alpha val="100000"/>
                </a:srgbClr>
              </a:gs>
              <a:gs pos="100000">
                <a:srgbClr val="14C8C8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047750" y="6658240"/>
            <a:ext cx="1373505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398"/>
              </a:lnSpc>
              <a:buNone/>
            </a:pPr>
            <a:r>
              <a:rPr lang="en-US" sz="2550" dirty="0">
                <a:solidFill>
                  <a:srgbClr val="AFC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corporate course — from why AI matters today, to Claude, prompt engineering, and n8n automation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-571500" y="7953640"/>
            <a:ext cx="17811750" cy="525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7143"/>
              </a:lnSpc>
              <a:buNone/>
            </a:pPr>
            <a:r>
              <a:rPr lang="en-US" sz="24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كورس شامل — من أهمية الذكاء الاصطناعي اليوم إلى Claude وهندسة الأوامر وأتمتة n8n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047750" y="8974667"/>
            <a:ext cx="16192500" cy="16933"/>
          </a:xfrm>
          <a:prstGeom prst="rect">
            <a:avLst/>
          </a:prstGeom>
          <a:solidFill>
            <a:srgbClr val="2338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1047750" y="9277350"/>
            <a:ext cx="518796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Dr. Mohamed Hussein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5309983" y="9277350"/>
            <a:ext cx="212329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إعداد د. محمد حسين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F5B9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245799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F5B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MAP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58589" y="762000"/>
            <a:ext cx="147820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F5B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خريطة الكورس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8657325" cy="834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969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Learning Journey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3855727" y="1527837"/>
            <a:ext cx="3384523" cy="582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2895"/>
              </a:lnSpc>
              <a:buNone/>
            </a:pPr>
            <a:r>
              <a:rPr lang="en-US" sz="330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رحلتك في هذا الكورس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1047750" y="2567914"/>
            <a:ext cx="3862387" cy="3390635"/>
          </a:xfrm>
          <a:prstGeom prst="roundRect">
            <a:avLst>
              <a:gd name="adj" fmla="val 4495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047750" y="2567914"/>
            <a:ext cx="3862387" cy="76200"/>
          </a:xfrm>
          <a:prstGeom prst="rect">
            <a:avLst/>
          </a:prstGeom>
          <a:solidFill>
            <a:srgbClr val="F5B9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333500" y="2929864"/>
            <a:ext cx="3619976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890"/>
              </a:lnSpc>
              <a:buNone/>
            </a:pPr>
            <a:r>
              <a:rPr lang="en-US" sz="3450" b="1" dirty="0">
                <a:solidFill>
                  <a:srgbClr val="F5B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1333500" y="3482314"/>
            <a:ext cx="3619976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318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AI Matters Now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004411" y="3985154"/>
            <a:ext cx="361997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154"/>
              </a:lnSpc>
              <a:buNone/>
            </a:pPr>
            <a:r>
              <a:rPr lang="en-US" sz="2250" b="1" dirty="0">
                <a:solidFill>
                  <a:srgbClr val="B9C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ليه الذكاء الاصطناعي مهم دلوقتي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333500" y="4499504"/>
            <a:ext cx="3389614" cy="784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89"/>
              </a:lnSpc>
              <a:buNone/>
            </a:pPr>
            <a:r>
              <a:rPr lang="en-US" sz="21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History, myths, and the reality of AI at work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5157788" y="2567914"/>
            <a:ext cx="3862387" cy="3390635"/>
          </a:xfrm>
          <a:prstGeom prst="roundRect">
            <a:avLst>
              <a:gd name="adj" fmla="val 4495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5157788" y="2567914"/>
            <a:ext cx="3862387" cy="76200"/>
          </a:xfrm>
          <a:prstGeom prst="rect">
            <a:avLst/>
          </a:prstGeom>
          <a:solidFill>
            <a:srgbClr val="3DA9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443538" y="2929864"/>
            <a:ext cx="3619976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890"/>
              </a:lnSpc>
              <a:buNone/>
            </a:pPr>
            <a:r>
              <a:rPr lang="en-US" sz="3450" b="1" dirty="0">
                <a:solidFill>
                  <a:srgbClr val="3D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450" dirty="0"/>
          </a:p>
        </p:txBody>
      </p:sp>
      <p:sp>
        <p:nvSpPr>
          <p:cNvPr id="16" name="Text 14"/>
          <p:cNvSpPr/>
          <p:nvPr/>
        </p:nvSpPr>
        <p:spPr>
          <a:xfrm>
            <a:off x="5443538" y="3482314"/>
            <a:ext cx="3619976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318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AI Terms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5114449" y="3985154"/>
            <a:ext cx="361997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154"/>
              </a:lnSpc>
              <a:buNone/>
            </a:pPr>
            <a:r>
              <a:rPr lang="en-US" sz="2250" b="1" dirty="0">
                <a:solidFill>
                  <a:srgbClr val="B9C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أهم المصطلحات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5443538" y="4499504"/>
            <a:ext cx="3389614" cy="784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89"/>
              </a:lnSpc>
              <a:buNone/>
            </a:pPr>
            <a:r>
              <a:rPr lang="en-US" sz="21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vocabulary you'll hear every day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267825" y="2567914"/>
            <a:ext cx="3862387" cy="3390635"/>
          </a:xfrm>
          <a:prstGeom prst="roundRect">
            <a:avLst>
              <a:gd name="adj" fmla="val 4495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9267825" y="2567914"/>
            <a:ext cx="3862387" cy="76200"/>
          </a:xfrm>
          <a:prstGeom prst="rect">
            <a:avLst/>
          </a:prstGeom>
          <a:solidFill>
            <a:srgbClr val="2FCC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9553575" y="2929864"/>
            <a:ext cx="3619976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890"/>
              </a:lnSpc>
              <a:buNone/>
            </a:pPr>
            <a:r>
              <a:rPr lang="en-US" sz="3450" b="1" dirty="0">
                <a:solidFill>
                  <a:srgbClr val="2FCC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450" dirty="0"/>
          </a:p>
        </p:txBody>
      </p:sp>
      <p:sp>
        <p:nvSpPr>
          <p:cNvPr id="22" name="Text 20"/>
          <p:cNvSpPr/>
          <p:nvPr/>
        </p:nvSpPr>
        <p:spPr>
          <a:xfrm>
            <a:off x="9553575" y="3482314"/>
            <a:ext cx="3389614" cy="8151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318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Fluency — The 4Ds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224486" y="4373695"/>
            <a:ext cx="361997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154"/>
              </a:lnSpc>
              <a:buNone/>
            </a:pPr>
            <a:r>
              <a:rPr lang="en-US" sz="2250" b="1" dirty="0">
                <a:solidFill>
                  <a:srgbClr val="B9C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إتقان الذكاء الاصطناعي — 4Ds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9553575" y="4888045"/>
            <a:ext cx="3389614" cy="784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89"/>
              </a:lnSpc>
              <a:buNone/>
            </a:pPr>
            <a:r>
              <a:rPr lang="en-US" sz="21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professional mindset for using AI well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13377863" y="2567914"/>
            <a:ext cx="3862387" cy="3390635"/>
          </a:xfrm>
          <a:prstGeom prst="roundRect">
            <a:avLst>
              <a:gd name="adj" fmla="val 4495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13377863" y="2567914"/>
            <a:ext cx="3862387" cy="76200"/>
          </a:xfrm>
          <a:prstGeom prst="rect">
            <a:avLst/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13663613" y="2929864"/>
            <a:ext cx="3619976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890"/>
              </a:lnSpc>
              <a:buNone/>
            </a:pPr>
            <a:r>
              <a:rPr lang="en-US" sz="3450" b="1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450" dirty="0"/>
          </a:p>
        </p:txBody>
      </p:sp>
      <p:sp>
        <p:nvSpPr>
          <p:cNvPr id="28" name="Text 26"/>
          <p:cNvSpPr/>
          <p:nvPr/>
        </p:nvSpPr>
        <p:spPr>
          <a:xfrm>
            <a:off x="13663613" y="3482314"/>
            <a:ext cx="3619976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318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</a:t>
            </a:r>
            <a:endParaRPr lang="en-US" sz="2550" dirty="0"/>
          </a:p>
        </p:txBody>
      </p:sp>
      <p:sp>
        <p:nvSpPr>
          <p:cNvPr id="29" name="Text 27"/>
          <p:cNvSpPr/>
          <p:nvPr/>
        </p:nvSpPr>
        <p:spPr>
          <a:xfrm>
            <a:off x="13334524" y="3985154"/>
            <a:ext cx="361997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154"/>
              </a:lnSpc>
              <a:buNone/>
            </a:pPr>
            <a:r>
              <a:rPr lang="en-US" sz="2250" b="1" dirty="0">
                <a:solidFill>
                  <a:srgbClr val="B9C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هندسة الأوامر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13663613" y="4499504"/>
            <a:ext cx="3389614" cy="784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89"/>
              </a:lnSpc>
              <a:buNone/>
            </a:pPr>
            <a:r>
              <a:rPr lang="en-US" sz="21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basics to 8 advanced frameworks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1047750" y="6206199"/>
            <a:ext cx="5232400" cy="3002095"/>
          </a:xfrm>
          <a:prstGeom prst="roundRect">
            <a:avLst>
              <a:gd name="adj" fmla="val 5076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1047750" y="6206199"/>
            <a:ext cx="5232400" cy="76200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1333500" y="6568149"/>
            <a:ext cx="512699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890"/>
              </a:lnSpc>
              <a:buNone/>
            </a:pPr>
            <a:r>
              <a:rPr lang="en-US" sz="345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450" dirty="0"/>
          </a:p>
        </p:txBody>
      </p:sp>
      <p:sp>
        <p:nvSpPr>
          <p:cNvPr id="34" name="Text 32"/>
          <p:cNvSpPr/>
          <p:nvPr/>
        </p:nvSpPr>
        <p:spPr>
          <a:xfrm>
            <a:off x="1333500" y="7120599"/>
            <a:ext cx="5126990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318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Work Clusters + AI Tools</a:t>
            </a:r>
            <a:endParaRPr lang="en-US" sz="2550" dirty="0"/>
          </a:p>
        </p:txBody>
      </p:sp>
      <p:sp>
        <p:nvSpPr>
          <p:cNvPr id="35" name="Text 33"/>
          <p:cNvSpPr/>
          <p:nvPr/>
        </p:nvSpPr>
        <p:spPr>
          <a:xfrm>
            <a:off x="867410" y="7623440"/>
            <a:ext cx="512699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154"/>
              </a:lnSpc>
              <a:buNone/>
            </a:pPr>
            <a:r>
              <a:rPr lang="en-US" sz="2250" b="1" dirty="0">
                <a:solidFill>
                  <a:srgbClr val="B9C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 مجموعات عمل + أدوات الذكاء الاصطناعي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1333500" y="8137790"/>
            <a:ext cx="4800727" cy="784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89"/>
              </a:lnSpc>
              <a:buNone/>
            </a:pPr>
            <a:r>
              <a:rPr lang="en-US" sz="21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workflow, mapped to the right tool</a:t>
            </a:r>
            <a:endParaRPr lang="en-US" sz="2100" dirty="0"/>
          </a:p>
        </p:txBody>
      </p:sp>
      <p:sp>
        <p:nvSpPr>
          <p:cNvPr id="37" name="Shape 35"/>
          <p:cNvSpPr/>
          <p:nvPr/>
        </p:nvSpPr>
        <p:spPr>
          <a:xfrm>
            <a:off x="6527800" y="6206199"/>
            <a:ext cx="5232400" cy="3002095"/>
          </a:xfrm>
          <a:prstGeom prst="roundRect">
            <a:avLst>
              <a:gd name="adj" fmla="val 5076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6527800" y="6206199"/>
            <a:ext cx="5232400" cy="76200"/>
          </a:xfrm>
          <a:prstGeom prst="rect">
            <a:avLst/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6813550" y="6568149"/>
            <a:ext cx="512699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890"/>
              </a:lnSpc>
              <a:buNone/>
            </a:pPr>
            <a:r>
              <a:rPr lang="en-US" sz="345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450" dirty="0"/>
          </a:p>
        </p:txBody>
      </p:sp>
      <p:sp>
        <p:nvSpPr>
          <p:cNvPr id="40" name="Text 38"/>
          <p:cNvSpPr/>
          <p:nvPr/>
        </p:nvSpPr>
        <p:spPr>
          <a:xfrm>
            <a:off x="6813550" y="7120599"/>
            <a:ext cx="5126990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318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Claude</a:t>
            </a:r>
            <a:endParaRPr lang="en-US" sz="2550" dirty="0"/>
          </a:p>
        </p:txBody>
      </p:sp>
      <p:sp>
        <p:nvSpPr>
          <p:cNvPr id="41" name="Text 39"/>
          <p:cNvSpPr/>
          <p:nvPr/>
        </p:nvSpPr>
        <p:spPr>
          <a:xfrm>
            <a:off x="6347460" y="7623440"/>
            <a:ext cx="512699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154"/>
              </a:lnSpc>
              <a:buNone/>
            </a:pPr>
            <a:r>
              <a:rPr lang="en-US" sz="2250" b="1" dirty="0">
                <a:solidFill>
                  <a:srgbClr val="B9C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إتقان Claude</a:t>
            </a:r>
            <a:endParaRPr lang="en-US" sz="2250" dirty="0"/>
          </a:p>
        </p:txBody>
      </p:sp>
      <p:sp>
        <p:nvSpPr>
          <p:cNvPr id="42" name="Text 40"/>
          <p:cNvSpPr/>
          <p:nvPr/>
        </p:nvSpPr>
        <p:spPr>
          <a:xfrm>
            <a:off x="6813550" y="8137790"/>
            <a:ext cx="4800727" cy="784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89"/>
              </a:lnSpc>
              <a:buNone/>
            </a:pPr>
            <a:r>
              <a:rPr lang="en-US" sz="21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Projects, Skills, Artifacts, Connectors, MCP</a:t>
            </a:r>
            <a:endParaRPr lang="en-US" sz="2100" dirty="0"/>
          </a:p>
        </p:txBody>
      </p:sp>
      <p:sp>
        <p:nvSpPr>
          <p:cNvPr id="43" name="Shape 41"/>
          <p:cNvSpPr/>
          <p:nvPr/>
        </p:nvSpPr>
        <p:spPr>
          <a:xfrm>
            <a:off x="12007850" y="6206199"/>
            <a:ext cx="5232400" cy="3002095"/>
          </a:xfrm>
          <a:prstGeom prst="roundRect">
            <a:avLst>
              <a:gd name="adj" fmla="val 5076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12007850" y="6206199"/>
            <a:ext cx="5232400" cy="76200"/>
          </a:xfrm>
          <a:prstGeom prst="rect">
            <a:avLst/>
          </a:prstGeom>
          <a:solidFill>
            <a:srgbClr val="14C8C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12293600" y="6568149"/>
            <a:ext cx="512699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890"/>
              </a:lnSpc>
              <a:buNone/>
            </a:pPr>
            <a:r>
              <a:rPr lang="en-US" sz="3450" b="1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3450" dirty="0"/>
          </a:p>
        </p:txBody>
      </p:sp>
      <p:sp>
        <p:nvSpPr>
          <p:cNvPr id="46" name="Text 44"/>
          <p:cNvSpPr/>
          <p:nvPr/>
        </p:nvSpPr>
        <p:spPr>
          <a:xfrm>
            <a:off x="12293600" y="7120599"/>
            <a:ext cx="5126990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318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Automation</a:t>
            </a:r>
            <a:endParaRPr lang="en-US" sz="2550" dirty="0"/>
          </a:p>
        </p:txBody>
      </p:sp>
      <p:sp>
        <p:nvSpPr>
          <p:cNvPr id="47" name="Text 45"/>
          <p:cNvSpPr/>
          <p:nvPr/>
        </p:nvSpPr>
        <p:spPr>
          <a:xfrm>
            <a:off x="11827510" y="7623440"/>
            <a:ext cx="512699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154"/>
              </a:lnSpc>
              <a:buNone/>
            </a:pPr>
            <a:r>
              <a:rPr lang="en-US" sz="2250" b="1" dirty="0">
                <a:solidFill>
                  <a:srgbClr val="B9C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أتمتة n8n</a:t>
            </a:r>
            <a:endParaRPr lang="en-US" sz="2250" dirty="0"/>
          </a:p>
        </p:txBody>
      </p:sp>
      <p:sp>
        <p:nvSpPr>
          <p:cNvPr id="48" name="Text 46"/>
          <p:cNvSpPr/>
          <p:nvPr/>
        </p:nvSpPr>
        <p:spPr>
          <a:xfrm>
            <a:off x="12293600" y="8137790"/>
            <a:ext cx="4800727" cy="784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89"/>
              </a:lnSpc>
              <a:buNone/>
            </a:pPr>
            <a:r>
              <a:rPr lang="en-US" sz="21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Nodes, triggers, and your first automated workflow</a:t>
            </a:r>
            <a:endParaRPr lang="en-US" sz="2100" dirty="0"/>
          </a:p>
        </p:txBody>
      </p:sp>
      <p:sp>
        <p:nvSpPr>
          <p:cNvPr id="49" name="Shape 47"/>
          <p:cNvSpPr/>
          <p:nvPr/>
        </p:nvSpPr>
        <p:spPr>
          <a:xfrm>
            <a:off x="1047750" y="9208294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1047750" y="9491927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51" name="Text 49"/>
          <p:cNvSpPr/>
          <p:nvPr/>
        </p:nvSpPr>
        <p:spPr>
          <a:xfrm>
            <a:off x="15165652" y="9491927"/>
            <a:ext cx="22820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MAP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60841" cy="10287000"/>
          </a:xfrm>
          <a:prstGeom prst="rect">
            <a:avLst/>
          </a:prstGeom>
          <a:gradFill rotWithShape="1">
            <a:gsLst>
              <a:gs pos="0">
                <a:srgbClr val="F5B93A">
                  <a:alpha val="100000"/>
                </a:srgbClr>
              </a:gs>
              <a:gs pos="100000">
                <a:srgbClr val="C98C1F">
                  <a:alpha val="100000"/>
                </a:srgbClr>
              </a:gs>
            </a:gsLst>
            <a:lin ang="420000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71500" y="762000"/>
            <a:ext cx="2974843" cy="869950"/>
          </a:xfrm>
          <a:prstGeom prst="roundRect">
            <a:avLst>
              <a:gd name="adj" fmla="val 19708"/>
            </a:avLst>
          </a:prstGeom>
          <a:ln w="25400">
            <a:solidFill>
              <a:srgbClr val="7A5A10">
                <a:alpha val="60000"/>
              </a:srgbClr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825500" y="939800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87400" y="93980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9255"/>
              </a:lnSpc>
              <a:buNone/>
            </a:pPr>
            <a:r>
              <a:rPr lang="en-US" sz="2250" b="1" dirty="0">
                <a:solidFill>
                  <a:srgbClr val="F5B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571500" y="4302125"/>
            <a:ext cx="6839625" cy="2305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0169"/>
              </a:lnSpc>
              <a:buNone/>
            </a:pPr>
            <a:r>
              <a:rPr lang="en-US" sz="21000" b="1" dirty="0">
                <a:solidFill>
                  <a:srgbClr val="0A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1000" dirty="0"/>
          </a:p>
        </p:txBody>
      </p:sp>
      <p:sp>
        <p:nvSpPr>
          <p:cNvPr id="8" name="Text 6"/>
          <p:cNvSpPr/>
          <p:nvPr/>
        </p:nvSpPr>
        <p:spPr>
          <a:xfrm>
            <a:off x="571500" y="9239250"/>
            <a:ext cx="683962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kern="0" spc="450" dirty="0">
                <a:solidFill>
                  <a:srgbClr val="4A3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 / 7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8313341" y="2953808"/>
            <a:ext cx="99243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2400" b="1" kern="0" spc="576" dirty="0">
                <a:solidFill>
                  <a:srgbClr val="F5B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313341" y="3544358"/>
            <a:ext cx="9924375" cy="960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526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AI Matters Now</a:t>
            </a:r>
            <a:endParaRPr lang="en-US" sz="6600" dirty="0"/>
          </a:p>
        </p:txBody>
      </p:sp>
      <p:sp>
        <p:nvSpPr>
          <p:cNvPr id="11" name="Text 9"/>
          <p:cNvSpPr/>
          <p:nvPr/>
        </p:nvSpPr>
        <p:spPr>
          <a:xfrm>
            <a:off x="7411125" y="4752049"/>
            <a:ext cx="9924375" cy="731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2239"/>
              </a:lnSpc>
              <a:buNone/>
            </a:pPr>
            <a:r>
              <a:rPr lang="en-US" sz="3900" b="1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ليه الذكاء الاصطناعي مهم دلوقتي</a:t>
            </a:r>
            <a:endParaRPr lang="en-US" sz="3900" dirty="0"/>
          </a:p>
        </p:txBody>
      </p:sp>
      <p:sp>
        <p:nvSpPr>
          <p:cNvPr id="12" name="Shape 10"/>
          <p:cNvSpPr/>
          <p:nvPr/>
        </p:nvSpPr>
        <p:spPr>
          <a:xfrm>
            <a:off x="8313341" y="5731140"/>
            <a:ext cx="2095500" cy="57150"/>
          </a:xfrm>
          <a:prstGeom prst="roundRect">
            <a:avLst>
              <a:gd name="adj" fmla="val 50000"/>
            </a:avLst>
          </a:prstGeom>
          <a:solidFill>
            <a:srgbClr val="F5B9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8313341" y="6074040"/>
            <a:ext cx="942975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398"/>
              </a:lnSpc>
              <a:buNone/>
            </a:pPr>
            <a:r>
              <a:rPr lang="en-US" sz="25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History, reality, and the myths holding people back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7456091" y="6845565"/>
            <a:ext cx="9429750" cy="525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7143"/>
              </a:lnSpc>
              <a:buNone/>
            </a:pPr>
            <a:r>
              <a:rPr lang="en-US" sz="24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التاريخ والحقيقة والخرافات اللي بتعطّل الناس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F5B9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36575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F5B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249069" y="762000"/>
            <a:ext cx="98001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F5B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ليه ده مهم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8301964" cy="834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969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at Work, Right Now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1779872" y="1527837"/>
            <a:ext cx="5460378" cy="582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2895"/>
              </a:lnSpc>
              <a:buNone/>
            </a:pPr>
            <a:r>
              <a:rPr lang="en-US" sz="330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في الشغل، دلوقتي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1047750" y="2606014"/>
            <a:ext cx="5207000" cy="3680354"/>
          </a:xfrm>
          <a:prstGeom prst="roundRect">
            <a:avLst>
              <a:gd name="adj" fmla="val 5176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428750" y="3025114"/>
            <a:ext cx="4889500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3813"/>
              </a:lnSpc>
              <a:buNone/>
            </a:pPr>
            <a:r>
              <a:rPr lang="en-US" sz="11250" b="1" dirty="0">
                <a:solidFill>
                  <a:srgbClr val="F5B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11250" dirty="0"/>
          </a:p>
        </p:txBody>
      </p:sp>
      <p:sp>
        <p:nvSpPr>
          <p:cNvPr id="9" name="Text 7"/>
          <p:cNvSpPr/>
          <p:nvPr/>
        </p:nvSpPr>
        <p:spPr>
          <a:xfrm>
            <a:off x="1428750" y="4463389"/>
            <a:ext cx="4578350" cy="8609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714"/>
              </a:lnSpc>
              <a:buNone/>
            </a:pPr>
            <a:r>
              <a:rPr lang="en-US" sz="24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organizations already use AI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84250" y="5438643"/>
            <a:ext cx="48895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المؤسسات تستخدم الذكاء الاصطناعي بالفعل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6540500" y="2606014"/>
            <a:ext cx="5207000" cy="3680354"/>
          </a:xfrm>
          <a:prstGeom prst="roundRect">
            <a:avLst>
              <a:gd name="adj" fmla="val 5176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921500" y="3025114"/>
            <a:ext cx="4889500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3813"/>
              </a:lnSpc>
              <a:buNone/>
            </a:pPr>
            <a:r>
              <a:rPr lang="en-US" sz="11250" b="1" dirty="0">
                <a:solidFill>
                  <a:srgbClr val="3D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3.2x</a:t>
            </a:r>
            <a:endParaRPr lang="en-US" sz="11250" dirty="0"/>
          </a:p>
        </p:txBody>
      </p:sp>
      <p:sp>
        <p:nvSpPr>
          <p:cNvPr id="13" name="Text 11"/>
          <p:cNvSpPr/>
          <p:nvPr/>
        </p:nvSpPr>
        <p:spPr>
          <a:xfrm>
            <a:off x="6921500" y="4463389"/>
            <a:ext cx="4578350" cy="8609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714"/>
              </a:lnSpc>
              <a:buNone/>
            </a:pPr>
            <a:r>
              <a:rPr lang="en-US" sz="24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in AI spending in one year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77000" y="5438643"/>
            <a:ext cx="48895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زيادة الإنفاق على الذكاء الاصطناعي خلال عام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2033250" y="2606014"/>
            <a:ext cx="5207000" cy="3680354"/>
          </a:xfrm>
          <a:prstGeom prst="roundRect">
            <a:avLst>
              <a:gd name="adj" fmla="val 5176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2414250" y="3025114"/>
            <a:ext cx="4889500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3813"/>
              </a:lnSpc>
              <a:buNone/>
            </a:pPr>
            <a:r>
              <a:rPr lang="en-US" sz="11250" b="1" dirty="0">
                <a:solidFill>
                  <a:srgbClr val="2FCC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2-4h</a:t>
            </a:r>
            <a:endParaRPr lang="en-US" sz="11250" dirty="0"/>
          </a:p>
        </p:txBody>
      </p:sp>
      <p:sp>
        <p:nvSpPr>
          <p:cNvPr id="17" name="Text 15"/>
          <p:cNvSpPr/>
          <p:nvPr/>
        </p:nvSpPr>
        <p:spPr>
          <a:xfrm>
            <a:off x="12414250" y="4463389"/>
            <a:ext cx="4578350" cy="8609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714"/>
              </a:lnSpc>
              <a:buNone/>
            </a:pPr>
            <a:r>
              <a:rPr lang="en-US" sz="24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reclaimed daily by AI-fluent staff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1969750" y="5438643"/>
            <a:ext cx="48895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ساعات تُستعاد يومياً لمن يتقن الذكاء الاصطناعي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047750" y="6705468"/>
            <a:ext cx="16192500" cy="2266685"/>
          </a:xfrm>
          <a:prstGeom prst="roundRect">
            <a:avLst>
              <a:gd name="adj" fmla="val 8404"/>
            </a:avLst>
          </a:prstGeom>
          <a:solidFill>
            <a:srgbClr val="F5B9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1466850" y="7048368"/>
            <a:ext cx="15814929" cy="998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38"/>
              </a:lnSpc>
              <a:buNone/>
            </a:pPr>
            <a:r>
              <a:rPr lang="en-US" sz="2700" b="1" dirty="0">
                <a:solidFill>
                  <a:srgbClr val="0A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won't take your job. Someone who uses AI well will." The gap between the two groups widens every month.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-68580" y="8141626"/>
            <a:ext cx="16889730" cy="525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7143"/>
              </a:lnSpc>
              <a:buNone/>
            </a:pPr>
            <a:r>
              <a:rPr lang="en-US" sz="2400" b="1" dirty="0">
                <a:solidFill>
                  <a:srgbClr val="3E2E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"الذكاء الاصطناعي لن يأخذ وظيفتك. شخص يجيده سيأخذها." والفجوة بين الفريقين تتسع كل شهر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1047750" y="9069917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1047750" y="9353550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4343856" y="9353550"/>
            <a:ext cx="31860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FOUNDATIONS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F5B9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344054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F5B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PRINCIPLES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51822" y="762000"/>
            <a:ext cx="160713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F5B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المبادئ الأساسية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1297364" cy="834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969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Artificial Intelligence?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3442010" y="1527837"/>
            <a:ext cx="3798239" cy="582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2895"/>
              </a:lnSpc>
              <a:buNone/>
            </a:pPr>
            <a:r>
              <a:rPr lang="en-US" sz="330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هو الذكاء الاصطناعي؟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1047750" y="2453614"/>
            <a:ext cx="16192500" cy="2282031"/>
          </a:xfrm>
          <a:custGeom>
            <a:avLst/>
            <a:gdLst/>
            <a:ahLst/>
            <a:cxnLst/>
            <a:rect l="l" t="t" r="r" b="b"/>
            <a:pathLst>
              <a:path w="16192500" h="2282031">
                <a:moveTo>
                  <a:pt x="0" y="0"/>
                </a:moveTo>
                <a:lnTo>
                  <a:pt x="16002000" y="0"/>
                </a:lnTo>
                <a:arcTo wR="190500" hR="190500" stAng="16200000" swAng="5400000"/>
                <a:lnTo>
                  <a:pt x="16192500" y="2091531"/>
                </a:lnTo>
                <a:arcTo wR="190500" hR="190500" stAng="0" swAng="5400000"/>
                <a:lnTo>
                  <a:pt x="0" y="2282031"/>
                </a:lnTo>
                <a:lnTo>
                  <a:pt x="0" y="0"/>
                </a:lnTo>
                <a:close/>
              </a:path>
            </a:pathLst>
          </a:cu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047750" y="2453614"/>
            <a:ext cx="93133" cy="2282031"/>
          </a:xfrm>
          <a:prstGeom prst="rect">
            <a:avLst/>
          </a:prstGeom>
          <a:solidFill>
            <a:srgbClr val="F5B9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559983" y="2777464"/>
            <a:ext cx="15719002" cy="1032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947"/>
              </a:lnSpc>
              <a:buNone/>
            </a:pPr>
            <a:r>
              <a:rPr lang="en-US" sz="270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ability of a machine to perform tasks that normally require human intelligence — by learning from data and experience, not from fixed pre-written rules.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33867" y="3924168"/>
            <a:ext cx="16787284" cy="525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7143"/>
              </a:lnSpc>
              <a:buNone/>
            </a:pPr>
            <a:r>
              <a:rPr lang="en-US" sz="240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قدرة الآلة على أداء مهام تتطلب عادةً ذكاءً بشرياً — عن طريق التعلّم من البيانات والتجربة، لا من قواعد ثابتة مكتوبة مسبقاً.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47750" y="5097595"/>
            <a:ext cx="3876675" cy="3623733"/>
          </a:xfrm>
          <a:prstGeom prst="roundRect">
            <a:avLst>
              <a:gd name="adj" fmla="val 4731"/>
            </a:avLst>
          </a:prstGeom>
          <a:solidFill>
            <a:srgbClr val="0F1E37"/>
          </a:solidFill>
          <a:ln w="16933">
            <a:solidFill>
              <a:srgbClr val="2338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369483" y="5419328"/>
            <a:ext cx="571500" cy="571500"/>
          </a:xfrm>
          <a:prstGeom prst="roundRect">
            <a:avLst>
              <a:gd name="adj" fmla="val 23333"/>
            </a:avLst>
          </a:prstGeom>
          <a:solidFill>
            <a:srgbClr val="F5B9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331383" y="5419328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2353"/>
              </a:lnSpc>
              <a:buNone/>
            </a:pPr>
            <a:r>
              <a:rPr lang="en-US" sz="2400" b="1" dirty="0">
                <a:solidFill>
                  <a:srgbClr val="0A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69483" y="6105128"/>
            <a:ext cx="3556529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665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from Data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046163" y="6624240"/>
            <a:ext cx="355652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154"/>
              </a:lnSpc>
              <a:buNone/>
            </a:pPr>
            <a:r>
              <a:rPr lang="en-US" sz="2250" b="1" dirty="0">
                <a:solidFill>
                  <a:srgbClr val="B9C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يتعلّم من البيانات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369483" y="7138590"/>
            <a:ext cx="3330205" cy="784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89"/>
              </a:lnSpc>
              <a:buNone/>
            </a:pPr>
            <a:r>
              <a:rPr lang="en-US" sz="21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from pre-programmed rules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046163" y="7999545"/>
            <a:ext cx="355652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7703"/>
              </a:lnSpc>
              <a:buNone/>
            </a:pPr>
            <a:r>
              <a:rPr lang="en-US" sz="21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من قواعد مبرمجة مسبقاً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5153025" y="5097595"/>
            <a:ext cx="3876675" cy="3623733"/>
          </a:xfrm>
          <a:prstGeom prst="roundRect">
            <a:avLst>
              <a:gd name="adj" fmla="val 4731"/>
            </a:avLst>
          </a:prstGeom>
          <a:solidFill>
            <a:srgbClr val="0F1E37"/>
          </a:solidFill>
          <a:ln w="16933">
            <a:solidFill>
              <a:srgbClr val="2338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5474758" y="5419328"/>
            <a:ext cx="571500" cy="571500"/>
          </a:xfrm>
          <a:prstGeom prst="roundRect">
            <a:avLst>
              <a:gd name="adj" fmla="val 23333"/>
            </a:avLst>
          </a:prstGeom>
          <a:solidFill>
            <a:srgbClr val="F5B9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436658" y="5419328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2353"/>
              </a:lnSpc>
              <a:buNone/>
            </a:pPr>
            <a:r>
              <a:rPr lang="en-US" sz="2400" b="1" dirty="0">
                <a:solidFill>
                  <a:srgbClr val="0A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474758" y="6105128"/>
            <a:ext cx="3556529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665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Mimics Reasoning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5151437" y="6624240"/>
            <a:ext cx="355652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154"/>
              </a:lnSpc>
              <a:buNone/>
            </a:pPr>
            <a:r>
              <a:rPr lang="en-US" sz="2250" b="1" dirty="0">
                <a:solidFill>
                  <a:srgbClr val="B9C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يحاكي التفكير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5474758" y="7138590"/>
            <a:ext cx="3330205" cy="784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89"/>
              </a:lnSpc>
              <a:buNone/>
            </a:pPr>
            <a:r>
              <a:rPr lang="en-US" sz="21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understands, decides, adapts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5151437" y="7999545"/>
            <a:ext cx="355652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7703"/>
              </a:lnSpc>
              <a:buNone/>
            </a:pPr>
            <a:r>
              <a:rPr lang="en-US" sz="21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يفهم ويقرر ويتكيّف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9258300" y="5097595"/>
            <a:ext cx="3876675" cy="3623733"/>
          </a:xfrm>
          <a:prstGeom prst="roundRect">
            <a:avLst>
              <a:gd name="adj" fmla="val 4731"/>
            </a:avLst>
          </a:prstGeom>
          <a:solidFill>
            <a:srgbClr val="0F1E37"/>
          </a:solidFill>
          <a:ln w="16933">
            <a:solidFill>
              <a:srgbClr val="2338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9580033" y="5419328"/>
            <a:ext cx="571500" cy="571500"/>
          </a:xfrm>
          <a:prstGeom prst="roundRect">
            <a:avLst>
              <a:gd name="adj" fmla="val 23333"/>
            </a:avLst>
          </a:prstGeom>
          <a:solidFill>
            <a:srgbClr val="F5B9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9541933" y="5419328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2353"/>
              </a:lnSpc>
              <a:buNone/>
            </a:pPr>
            <a:r>
              <a:rPr lang="en-US" sz="2400" b="1" dirty="0">
                <a:solidFill>
                  <a:srgbClr val="0A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580033" y="6105128"/>
            <a:ext cx="3556529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665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Improves With Use</a:t>
            </a:r>
            <a:endParaRPr lang="en-US" sz="2550" dirty="0"/>
          </a:p>
        </p:txBody>
      </p:sp>
      <p:sp>
        <p:nvSpPr>
          <p:cNvPr id="29" name="Text 27"/>
          <p:cNvSpPr/>
          <p:nvPr/>
        </p:nvSpPr>
        <p:spPr>
          <a:xfrm>
            <a:off x="9256712" y="6624240"/>
            <a:ext cx="355652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154"/>
              </a:lnSpc>
              <a:buNone/>
            </a:pPr>
            <a:r>
              <a:rPr lang="en-US" sz="2250" b="1" dirty="0">
                <a:solidFill>
                  <a:srgbClr val="B9C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يتحسن مع الاستخدام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9580033" y="7138590"/>
            <a:ext cx="3330205" cy="784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89"/>
              </a:lnSpc>
              <a:buNone/>
            </a:pPr>
            <a:r>
              <a:rPr lang="en-US" sz="21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data → higher accuracy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9256712" y="7999545"/>
            <a:ext cx="355652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7703"/>
              </a:lnSpc>
              <a:buNone/>
            </a:pPr>
            <a:r>
              <a:rPr lang="en-US" sz="21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أكثر ← دقة أعلى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13363575" y="5097595"/>
            <a:ext cx="3876675" cy="3623733"/>
          </a:xfrm>
          <a:prstGeom prst="roundRect">
            <a:avLst>
              <a:gd name="adj" fmla="val 4731"/>
            </a:avLst>
          </a:prstGeom>
          <a:solidFill>
            <a:srgbClr val="0F1E37"/>
          </a:solidFill>
          <a:ln w="16933">
            <a:solidFill>
              <a:srgbClr val="2338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13685309" y="5419328"/>
            <a:ext cx="571500" cy="571500"/>
          </a:xfrm>
          <a:prstGeom prst="roundRect">
            <a:avLst>
              <a:gd name="adj" fmla="val 23333"/>
            </a:avLst>
          </a:prstGeom>
          <a:solidFill>
            <a:srgbClr val="F5B9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13647209" y="5419328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2353"/>
              </a:lnSpc>
              <a:buNone/>
            </a:pPr>
            <a:r>
              <a:rPr lang="en-US" sz="2400" b="1" dirty="0">
                <a:solidFill>
                  <a:srgbClr val="0A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3685309" y="6105128"/>
            <a:ext cx="3556529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665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Continuously</a:t>
            </a:r>
            <a:endParaRPr lang="en-US" sz="2550" dirty="0"/>
          </a:p>
        </p:txBody>
      </p:sp>
      <p:sp>
        <p:nvSpPr>
          <p:cNvPr id="36" name="Text 34"/>
          <p:cNvSpPr/>
          <p:nvPr/>
        </p:nvSpPr>
        <p:spPr>
          <a:xfrm>
            <a:off x="13361988" y="6624240"/>
            <a:ext cx="355652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154"/>
              </a:lnSpc>
              <a:buNone/>
            </a:pPr>
            <a:r>
              <a:rPr lang="en-US" sz="2250" b="1" dirty="0">
                <a:solidFill>
                  <a:srgbClr val="B9C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يعمل باستمرار</a:t>
            </a:r>
            <a:endParaRPr lang="en-US" sz="2250" dirty="0"/>
          </a:p>
        </p:txBody>
      </p:sp>
      <p:sp>
        <p:nvSpPr>
          <p:cNvPr id="37" name="Text 35"/>
          <p:cNvSpPr/>
          <p:nvPr/>
        </p:nvSpPr>
        <p:spPr>
          <a:xfrm>
            <a:off x="13685309" y="7138590"/>
            <a:ext cx="3556529" cy="411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89"/>
              </a:lnSpc>
              <a:buNone/>
            </a:pPr>
            <a:r>
              <a:rPr lang="en-US" sz="21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fatigue, no downtime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13361988" y="7626218"/>
            <a:ext cx="355652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7703"/>
              </a:lnSpc>
              <a:buNone/>
            </a:pPr>
            <a:r>
              <a:rPr lang="en-US" sz="21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بلا تعب ولا توقف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1047750" y="9069917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1047750" y="9353550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14343856" y="9353550"/>
            <a:ext cx="31860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FOUNDATIONS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F5B9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338277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F5B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HISTORY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999302" y="762000"/>
            <a:ext cx="11080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F5B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تاريخ موجز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1681976" cy="834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969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Evolution of AI — 75 Years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1664183" y="1527837"/>
            <a:ext cx="5576067" cy="582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2895"/>
              </a:lnSpc>
              <a:buNone/>
            </a:pPr>
            <a:r>
              <a:rPr lang="en-US" sz="330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تطور الذكاء الاصطناعي — ٧٥ عاماً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1047750" y="2510764"/>
            <a:ext cx="16192500" cy="76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E5680">
                  <a:alpha val="100000"/>
                </a:srgbClr>
              </a:gs>
              <a:gs pos="100000">
                <a:srgbClr val="F5B93A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047750" y="2301214"/>
            <a:ext cx="647700" cy="647700"/>
          </a:xfrm>
          <a:prstGeom prst="roundRect">
            <a:avLst>
              <a:gd name="adj" fmla="val 38235"/>
            </a:avLst>
          </a:prstGeom>
          <a:solidFill>
            <a:srgbClr val="0A1526"/>
          </a:solidFill>
          <a:ln w="76200">
            <a:solidFill>
              <a:srgbClr val="3E56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047750" y="3063214"/>
            <a:ext cx="151167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1739"/>
              </a:lnSpc>
              <a:buNone/>
            </a:pPr>
            <a:r>
              <a:rPr lang="en-US" sz="3300" b="1" dirty="0">
                <a:solidFill>
                  <a:srgbClr val="F5B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1950s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047750" y="3596614"/>
            <a:ext cx="183778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Alan Turing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93750" y="4091914"/>
            <a:ext cx="2794000" cy="411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9189"/>
              </a:lnSpc>
              <a:buNone/>
            </a:pPr>
            <a:r>
              <a:rPr lang="en-US" sz="2100" b="1" dirty="0">
                <a:solidFill>
                  <a:srgbClr val="B9C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آلان تورينج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47750" y="4579541"/>
            <a:ext cx="2739721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932"/>
              </a:lnSpc>
              <a:buNone/>
            </a:pPr>
            <a:r>
              <a:rPr lang="en-US" sz="21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machines think?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93750" y="5053806"/>
            <a:ext cx="27940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7703"/>
              </a:lnSpc>
              <a:buNone/>
            </a:pPr>
            <a:r>
              <a:rPr lang="en-US" sz="21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تقدر الآلات تفكر؟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3778250" y="2301214"/>
            <a:ext cx="647700" cy="647700"/>
          </a:xfrm>
          <a:prstGeom prst="roundRect">
            <a:avLst>
              <a:gd name="adj" fmla="val 38235"/>
            </a:avLst>
          </a:prstGeom>
          <a:solidFill>
            <a:srgbClr val="0A1526"/>
          </a:solidFill>
          <a:ln w="76200">
            <a:solidFill>
              <a:srgbClr val="4A669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3778250" y="3063214"/>
            <a:ext cx="151167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1739"/>
              </a:lnSpc>
              <a:buNone/>
            </a:pPr>
            <a:r>
              <a:rPr lang="en-US" sz="3300" b="1" dirty="0">
                <a:solidFill>
                  <a:srgbClr val="F5B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1980s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3778250" y="3596614"/>
            <a:ext cx="251591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Systems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524250" y="4091914"/>
            <a:ext cx="2794000" cy="411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9189"/>
              </a:lnSpc>
              <a:buNone/>
            </a:pPr>
            <a:r>
              <a:rPr lang="en-US" sz="2100" b="1" dirty="0">
                <a:solidFill>
                  <a:srgbClr val="B9C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الأنظمة الخبيرة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3778250" y="4579541"/>
            <a:ext cx="2616200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932"/>
              </a:lnSpc>
              <a:buNone/>
            </a:pPr>
            <a:r>
              <a:rPr lang="en-US" sz="21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Rigid rules, narrow use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3524250" y="5413772"/>
            <a:ext cx="27940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7703"/>
              </a:lnSpc>
              <a:buNone/>
            </a:pPr>
            <a:r>
              <a:rPr lang="en-US" sz="21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قواعد صارمة، استخدام ضيق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6508750" y="2301214"/>
            <a:ext cx="647700" cy="647700"/>
          </a:xfrm>
          <a:prstGeom prst="roundRect">
            <a:avLst>
              <a:gd name="adj" fmla="val 38235"/>
            </a:avLst>
          </a:prstGeom>
          <a:solidFill>
            <a:srgbClr val="0A1526"/>
          </a:solidFill>
          <a:ln w="76200">
            <a:solidFill>
              <a:srgbClr val="5B79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508750" y="3063214"/>
            <a:ext cx="119446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1739"/>
              </a:lnSpc>
              <a:buNone/>
            </a:pPr>
            <a:r>
              <a:rPr lang="en-US" sz="3300" b="1" dirty="0">
                <a:solidFill>
                  <a:srgbClr val="F5B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  <a:endParaRPr lang="en-US" sz="3300" dirty="0"/>
          </a:p>
        </p:txBody>
      </p:sp>
      <p:sp>
        <p:nvSpPr>
          <p:cNvPr id="22" name="Text 20"/>
          <p:cNvSpPr/>
          <p:nvPr/>
        </p:nvSpPr>
        <p:spPr>
          <a:xfrm>
            <a:off x="6508750" y="3596614"/>
            <a:ext cx="232891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254750" y="4091914"/>
            <a:ext cx="2794000" cy="411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9189"/>
              </a:lnSpc>
              <a:buNone/>
            </a:pPr>
            <a:r>
              <a:rPr lang="en-US" sz="2100" b="1" dirty="0">
                <a:solidFill>
                  <a:srgbClr val="B9C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التعلّم العميق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6508750" y="4579541"/>
            <a:ext cx="2616200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932"/>
              </a:lnSpc>
              <a:buNone/>
            </a:pPr>
            <a:r>
              <a:rPr lang="en-US" sz="21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networks take off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6254750" y="5413772"/>
            <a:ext cx="27940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7703"/>
              </a:lnSpc>
              <a:buNone/>
            </a:pPr>
            <a:r>
              <a:rPr lang="en-US" sz="21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انطلاق الشبكات العصبية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239250" y="2301214"/>
            <a:ext cx="647700" cy="647700"/>
          </a:xfrm>
          <a:prstGeom prst="roundRect">
            <a:avLst>
              <a:gd name="adj" fmla="val 38235"/>
            </a:avLst>
          </a:prstGeom>
          <a:solidFill>
            <a:srgbClr val="0A1526"/>
          </a:solidFill>
          <a:ln w="76200">
            <a:solidFill>
              <a:srgbClr val="7C9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9239250" y="3063214"/>
            <a:ext cx="119446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1739"/>
              </a:lnSpc>
              <a:buNone/>
            </a:pPr>
            <a:r>
              <a:rPr lang="en-US" sz="3300" b="1" dirty="0">
                <a:solidFill>
                  <a:srgbClr val="F5B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</a:t>
            </a:r>
            <a:endParaRPr lang="en-US" sz="3300" dirty="0"/>
          </a:p>
        </p:txBody>
      </p:sp>
      <p:sp>
        <p:nvSpPr>
          <p:cNvPr id="28" name="Text 26"/>
          <p:cNvSpPr/>
          <p:nvPr/>
        </p:nvSpPr>
        <p:spPr>
          <a:xfrm>
            <a:off x="9239250" y="3596614"/>
            <a:ext cx="264586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Transformer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8985250" y="4091914"/>
            <a:ext cx="2794000" cy="411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9189"/>
              </a:lnSpc>
              <a:buNone/>
            </a:pPr>
            <a:r>
              <a:rPr lang="en-US" sz="2100" b="1" dirty="0">
                <a:solidFill>
                  <a:srgbClr val="B9C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المحوّل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9239250" y="4579541"/>
            <a:ext cx="2616200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932"/>
              </a:lnSpc>
              <a:buNone/>
            </a:pPr>
            <a:r>
              <a:rPr lang="en-US" sz="21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of every modern LLM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8985250" y="5413772"/>
            <a:ext cx="27940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7703"/>
              </a:lnSpc>
              <a:buNone/>
            </a:pPr>
            <a:r>
              <a:rPr lang="en-US" sz="21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أساس كل نماذج اللغة الحديثة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11969750" y="2301214"/>
            <a:ext cx="647700" cy="647700"/>
          </a:xfrm>
          <a:prstGeom prst="roundRect">
            <a:avLst>
              <a:gd name="adj" fmla="val 38235"/>
            </a:avLst>
          </a:prstGeom>
          <a:solidFill>
            <a:srgbClr val="0A1526"/>
          </a:solidFill>
          <a:ln w="76200">
            <a:solidFill>
              <a:srgbClr val="C9A2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11969750" y="3063214"/>
            <a:ext cx="119446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1739"/>
              </a:lnSpc>
              <a:buNone/>
            </a:pPr>
            <a:r>
              <a:rPr lang="en-US" sz="3300" b="1" dirty="0">
                <a:solidFill>
                  <a:srgbClr val="F5B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3300" dirty="0"/>
          </a:p>
        </p:txBody>
      </p:sp>
      <p:sp>
        <p:nvSpPr>
          <p:cNvPr id="34" name="Text 32"/>
          <p:cNvSpPr/>
          <p:nvPr/>
        </p:nvSpPr>
        <p:spPr>
          <a:xfrm>
            <a:off x="11969750" y="3596614"/>
            <a:ext cx="2616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Launches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1715750" y="4472914"/>
            <a:ext cx="2794000" cy="411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9189"/>
              </a:lnSpc>
              <a:buNone/>
            </a:pPr>
            <a:r>
              <a:rPr lang="en-US" sz="2100" b="1" dirty="0">
                <a:solidFill>
                  <a:srgbClr val="B9C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إطلاق ChatGPT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11969750" y="4960541"/>
            <a:ext cx="2616200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932"/>
              </a:lnSpc>
              <a:buNone/>
            </a:pPr>
            <a:r>
              <a:rPr lang="en-US" sz="21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100M users in 60 days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11893550" y="5794772"/>
            <a:ext cx="2616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7703"/>
              </a:lnSpc>
              <a:buNone/>
            </a:pPr>
            <a:r>
              <a:rPr lang="en-US" sz="21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١٠٠ مليون مستخدم خلال ٦٠ يوماً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14700250" y="2301214"/>
            <a:ext cx="647700" cy="647700"/>
          </a:xfrm>
          <a:prstGeom prst="roundRect">
            <a:avLst>
              <a:gd name="adj" fmla="val 38235"/>
            </a:avLst>
          </a:prstGeom>
          <a:solidFill>
            <a:srgbClr val="F5B93A"/>
          </a:solidFill>
          <a:ln w="76200">
            <a:solidFill>
              <a:srgbClr val="F5B9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14700250" y="3063214"/>
            <a:ext cx="15058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1739"/>
              </a:lnSpc>
              <a:buNone/>
            </a:pPr>
            <a:r>
              <a:rPr lang="en-US" sz="3300" b="1" dirty="0">
                <a:solidFill>
                  <a:srgbClr val="F5B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3300" dirty="0"/>
          </a:p>
        </p:txBody>
      </p:sp>
      <p:sp>
        <p:nvSpPr>
          <p:cNvPr id="40" name="Text 38"/>
          <p:cNvSpPr/>
          <p:nvPr/>
        </p:nvSpPr>
        <p:spPr>
          <a:xfrm>
            <a:off x="14700250" y="3596614"/>
            <a:ext cx="155241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14446250" y="4091914"/>
            <a:ext cx="2794000" cy="411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9189"/>
              </a:lnSpc>
              <a:buNone/>
            </a:pPr>
            <a:r>
              <a:rPr lang="en-US" sz="2100" b="1" dirty="0">
                <a:solidFill>
                  <a:srgbClr val="B9C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وكلاء الذكاء الاصطناعي</a:t>
            </a:r>
            <a:endParaRPr lang="en-US" sz="2100" dirty="0"/>
          </a:p>
        </p:txBody>
      </p:sp>
      <p:sp>
        <p:nvSpPr>
          <p:cNvPr id="42" name="Text 40"/>
          <p:cNvSpPr/>
          <p:nvPr/>
        </p:nvSpPr>
        <p:spPr>
          <a:xfrm>
            <a:off x="14700250" y="4579541"/>
            <a:ext cx="2616200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932"/>
              </a:lnSpc>
              <a:buNone/>
            </a:pPr>
            <a:r>
              <a:rPr lang="en-US" sz="21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plans and acts on its own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14624050" y="5413772"/>
            <a:ext cx="2616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7703"/>
              </a:lnSpc>
              <a:buNone/>
            </a:pPr>
            <a:r>
              <a:rPr lang="en-US" sz="21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يخطط وينفذ بمفرده</a:t>
            </a:r>
            <a:endParaRPr lang="en-US" sz="2100" dirty="0"/>
          </a:p>
        </p:txBody>
      </p:sp>
      <p:sp>
        <p:nvSpPr>
          <p:cNvPr id="44" name="Shape 42"/>
          <p:cNvSpPr/>
          <p:nvPr/>
        </p:nvSpPr>
        <p:spPr>
          <a:xfrm>
            <a:off x="1047750" y="6975872"/>
            <a:ext cx="16192500" cy="1541066"/>
          </a:xfrm>
          <a:prstGeom prst="roundRect">
            <a:avLst>
              <a:gd name="adj" fmla="val 11125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1428750" y="7261622"/>
            <a:ext cx="1697355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hit 100M users in 60 days. TikTok needed 9 months. Instagram needed 2.5 years.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-114300" y="7802563"/>
            <a:ext cx="169735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شات جي بي تي وصل لـ ١٠٠ مليون مستخدم في ٦٠ يوماً. تيك توك احتاج ٩ أشهر. إنستجرام احتاج سنتين ونص</a:t>
            </a:r>
            <a:endParaRPr lang="en-US" sz="2250" dirty="0"/>
          </a:p>
        </p:txBody>
      </p:sp>
      <p:sp>
        <p:nvSpPr>
          <p:cNvPr id="47" name="Shape 45"/>
          <p:cNvSpPr/>
          <p:nvPr/>
        </p:nvSpPr>
        <p:spPr>
          <a:xfrm>
            <a:off x="1047750" y="9069917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1047750" y="9353550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49" name="Text 47"/>
          <p:cNvSpPr/>
          <p:nvPr/>
        </p:nvSpPr>
        <p:spPr>
          <a:xfrm>
            <a:off x="14343856" y="9353550"/>
            <a:ext cx="31860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FOUNDATIONS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F5B9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309639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F5B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738952" y="762000"/>
            <a:ext cx="8216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F5B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التصنيف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8229639" cy="834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969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Types of AI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2415943" y="1527837"/>
            <a:ext cx="4824307" cy="582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2895"/>
              </a:lnSpc>
              <a:buNone/>
            </a:pPr>
            <a:r>
              <a:rPr lang="en-US" sz="330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الأنواع الثلاثة للذكاء الاصطناعي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1047750" y="2529814"/>
            <a:ext cx="16192500" cy="860954"/>
          </a:xfrm>
          <a:prstGeom prst="rect">
            <a:avLst/>
          </a:prstGeom>
          <a:solidFill>
            <a:srgbClr val="F5B9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352550" y="2777464"/>
            <a:ext cx="3726752" cy="403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2400" b="1" dirty="0">
                <a:solidFill>
                  <a:srgbClr val="0A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/ النوع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562600" y="2777464"/>
            <a:ext cx="6728841" cy="403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2400" b="1" dirty="0">
                <a:solidFill>
                  <a:srgbClr val="0A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 / المقصود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687300" y="2777464"/>
            <a:ext cx="4393883" cy="403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2400" b="1" dirty="0">
                <a:solidFill>
                  <a:srgbClr val="0A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Today / مثال اليوم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47750" y="3390768"/>
            <a:ext cx="16192500" cy="1496616"/>
          </a:xfrm>
          <a:prstGeom prst="rect">
            <a:avLst/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047750" y="4861983"/>
            <a:ext cx="4210050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352550" y="3720968"/>
            <a:ext cx="1683147" cy="427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21"/>
              </a:lnSpc>
              <a:buNone/>
            </a:pPr>
            <a:r>
              <a:rPr lang="en-US" sz="2700" b="1" dirty="0">
                <a:solidFill>
                  <a:srgbClr val="F5B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 AI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92505" y="4141258"/>
            <a:ext cx="396049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ضيّق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5257800" y="4861983"/>
            <a:ext cx="7124700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562600" y="3738959"/>
            <a:ext cx="3855352" cy="385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Masters ONE task very well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911090" y="4131733"/>
            <a:ext cx="716661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يتقن مهمة واحدة بكفاءة عالية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2382500" y="4861983"/>
            <a:ext cx="4857750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2687300" y="3695568"/>
            <a:ext cx="4393883" cy="899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ChatGPT, Siri, Netflix algorithm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047750" y="4887384"/>
            <a:ext cx="16192500" cy="1509316"/>
          </a:xfrm>
          <a:prstGeom prst="rect">
            <a:avLst/>
          </a:prstGeom>
          <a:solidFill>
            <a:srgbClr val="0F1E3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1047750" y="6371299"/>
            <a:ext cx="4210050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1352550" y="5230284"/>
            <a:ext cx="2917880" cy="427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21"/>
              </a:lnSpc>
              <a:buNone/>
            </a:pPr>
            <a:r>
              <a:rPr lang="en-US" sz="2700" b="1" dirty="0">
                <a:solidFill>
                  <a:srgbClr val="3D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AI — AGI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992505" y="5650574"/>
            <a:ext cx="396049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عام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5257800" y="6371299"/>
            <a:ext cx="7124700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5562600" y="5248275"/>
            <a:ext cx="5142059" cy="385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Human-level intelligence at ANY task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4911090" y="5641049"/>
            <a:ext cx="716661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ذكاء بمستوى الإنسان في أي مهمة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12382500" y="6371299"/>
            <a:ext cx="4857750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12687300" y="5192184"/>
            <a:ext cx="4393883" cy="912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built yet — active research goal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1047750" y="6396699"/>
            <a:ext cx="16192500" cy="1496616"/>
          </a:xfrm>
          <a:prstGeom prst="rect">
            <a:avLst/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1352550" y="6739599"/>
            <a:ext cx="2565797" cy="427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21"/>
              </a:lnSpc>
              <a:buNone/>
            </a:pPr>
            <a:r>
              <a:rPr lang="en-US" sz="2700" b="1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AI — ASI</a:t>
            </a:r>
            <a:endParaRPr lang="en-US" sz="2700" dirty="0"/>
          </a:p>
        </p:txBody>
      </p:sp>
      <p:sp>
        <p:nvSpPr>
          <p:cNvPr id="31" name="Text 29"/>
          <p:cNvSpPr/>
          <p:nvPr/>
        </p:nvSpPr>
        <p:spPr>
          <a:xfrm>
            <a:off x="992505" y="7159890"/>
            <a:ext cx="396049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فائق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5562600" y="6757590"/>
            <a:ext cx="4572218" cy="385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Surpasses humans at everything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4911090" y="7150365"/>
            <a:ext cx="716661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يتجاوز الإنسان في كل شيء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12687300" y="6701499"/>
            <a:ext cx="4393883" cy="925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Theoretical, distant future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1047750" y="8236215"/>
            <a:ext cx="16192500" cy="1390650"/>
          </a:xfrm>
          <a:custGeom>
            <a:avLst/>
            <a:gdLst/>
            <a:ahLst/>
            <a:cxnLst/>
            <a:rect l="l" t="t" r="r" b="b"/>
            <a:pathLst>
              <a:path w="16192500" h="1390650">
                <a:moveTo>
                  <a:pt x="0" y="0"/>
                </a:moveTo>
                <a:lnTo>
                  <a:pt x="16021050" y="0"/>
                </a:lnTo>
                <a:arcTo wR="171450" hR="171450" stAng="16200000" swAng="5400000"/>
                <a:lnTo>
                  <a:pt x="16192500" y="1219200"/>
                </a:lnTo>
                <a:arcTo wR="171450" hR="171450" stAng="0" swAng="5400000"/>
                <a:lnTo>
                  <a:pt x="0" y="1390650"/>
                </a:lnTo>
                <a:lnTo>
                  <a:pt x="0" y="0"/>
                </a:lnTo>
                <a:close/>
              </a:path>
            </a:pathLst>
          </a:cu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1047750" y="8236215"/>
            <a:ext cx="93133" cy="1390650"/>
          </a:xfrm>
          <a:prstGeom prst="rect">
            <a:avLst/>
          </a:prstGeom>
          <a:solidFill>
            <a:srgbClr val="F5B9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1483783" y="8502915"/>
            <a:ext cx="927347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we use today is Narrow AI — evolving fast toward AGI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10687282" y="8502915"/>
            <a:ext cx="6210069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ما نستخدمه اليوم هو Narrow AI — ويتطور بسرعة نحو AGI</a:t>
            </a:r>
            <a:endParaRPr lang="en-US" sz="2250" dirty="0"/>
          </a:p>
        </p:txBody>
      </p:sp>
      <p:sp>
        <p:nvSpPr>
          <p:cNvPr id="39" name="Shape 37"/>
          <p:cNvSpPr/>
          <p:nvPr/>
        </p:nvSpPr>
        <p:spPr>
          <a:xfrm>
            <a:off x="1047750" y="9626865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1047750" y="9910499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14343856" y="9910499"/>
            <a:ext cx="31860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FOUNDATIONS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298729"/>
            <a:ext cx="533400" cy="57150"/>
          </a:xfrm>
          <a:prstGeom prst="roundRect">
            <a:avLst>
              <a:gd name="adj" fmla="val 50000"/>
            </a:avLst>
          </a:prstGeom>
          <a:solidFill>
            <a:srgbClr val="F5B9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152393"/>
            <a:ext cx="407240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400" b="1" kern="0" spc="336" dirty="0">
                <a:solidFill>
                  <a:srgbClr val="F5B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NESTED CIRCLES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26232" y="55411"/>
            <a:ext cx="15589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400" b="1" dirty="0">
                <a:solidFill>
                  <a:srgbClr val="F5B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الدوائر المتداخلة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47750" y="749875"/>
            <a:ext cx="10830250" cy="1630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95969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vs ML vs Deep Learning vs GenAI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1392225" y="548231"/>
            <a:ext cx="5848024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12500"/>
              </a:lnSpc>
              <a:buNone/>
            </a:pPr>
            <a:r>
              <a:rPr lang="en-US" sz="320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مقابل التعلّم الآلي والعميق والتوليدي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047750" y="3171310"/>
            <a:ext cx="5905500" cy="5905500"/>
          </a:xfrm>
          <a:prstGeom prst="ellipse">
            <a:avLst/>
          </a:prstGeom>
          <a:solidFill>
            <a:srgbClr val="1229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762125" y="3885685"/>
            <a:ext cx="4476750" cy="4476750"/>
          </a:xfrm>
          <a:prstGeom prst="ellipse">
            <a:avLst/>
          </a:prstGeom>
          <a:solidFill>
            <a:srgbClr val="1A3B6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428875" y="4552435"/>
            <a:ext cx="3143250" cy="3143250"/>
          </a:xfrm>
          <a:prstGeom prst="ellipse">
            <a:avLst/>
          </a:prstGeom>
          <a:solidFill>
            <a:srgbClr val="2A56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095625" y="5219185"/>
            <a:ext cx="1809750" cy="1809750"/>
          </a:xfrm>
          <a:prstGeom prst="ellipse">
            <a:avLst/>
          </a:prstGeom>
          <a:solidFill>
            <a:srgbClr val="F5B9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057525" y="5219185"/>
            <a:ext cx="1885950" cy="184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70312"/>
              </a:lnSpc>
              <a:buNone/>
            </a:pPr>
            <a:r>
              <a:rPr lang="en-US" sz="3200" b="1" dirty="0">
                <a:solidFill>
                  <a:srgbClr val="0A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7620000" y="1919831"/>
            <a:ext cx="9620250" cy="1944952"/>
          </a:xfrm>
          <a:prstGeom prst="roundRect">
            <a:avLst>
              <a:gd name="adj" fmla="val 7836"/>
            </a:avLst>
          </a:prstGeom>
          <a:solidFill>
            <a:srgbClr val="1229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7943850" y="2167481"/>
            <a:ext cx="986980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375"/>
              </a:lnSpc>
              <a:buNone/>
            </a:pPr>
            <a:r>
              <a:rPr lang="en-US" sz="3200" b="1" dirty="0">
                <a:solidFill>
                  <a:srgbClr val="8FB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943850" y="2700881"/>
            <a:ext cx="9869805" cy="449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714"/>
              </a:lnSpc>
              <a:buNone/>
            </a:pPr>
            <a:r>
              <a:rPr lang="en-US" sz="240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system that mimics human thinking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046595" y="3188508"/>
            <a:ext cx="986980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40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 نظام يحاكي التفكير البشري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7620000" y="4074333"/>
            <a:ext cx="9620250" cy="1944952"/>
          </a:xfrm>
          <a:prstGeom prst="roundRect">
            <a:avLst>
              <a:gd name="adj" fmla="val 7836"/>
            </a:avLst>
          </a:prstGeom>
          <a:solidFill>
            <a:srgbClr val="1A3B6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7943850" y="4321983"/>
            <a:ext cx="986980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375"/>
              </a:lnSpc>
              <a:buNone/>
            </a:pPr>
            <a:r>
              <a:rPr lang="en-US" sz="3200" b="1" dirty="0">
                <a:solidFill>
                  <a:srgbClr val="A8C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943850" y="4855383"/>
            <a:ext cx="9869805" cy="449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714"/>
              </a:lnSpc>
              <a:buNone/>
            </a:pPr>
            <a:r>
              <a:rPr lang="en-US" sz="240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rules from data, not from being told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046595" y="5343010"/>
            <a:ext cx="986980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400" dirty="0">
                <a:solidFill>
                  <a:srgbClr val="B9C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يتعلّم القواعد من البيانات لا من التلقين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7620000" y="6228835"/>
            <a:ext cx="9620250" cy="1944952"/>
          </a:xfrm>
          <a:prstGeom prst="roundRect">
            <a:avLst>
              <a:gd name="adj" fmla="val 7836"/>
            </a:avLst>
          </a:prstGeom>
          <a:solidFill>
            <a:srgbClr val="2A56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7943850" y="6476485"/>
            <a:ext cx="986980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375"/>
              </a:lnSpc>
              <a:buNone/>
            </a:pPr>
            <a:r>
              <a:rPr lang="en-US" sz="3200" b="1" dirty="0">
                <a:solidFill>
                  <a:srgbClr val="CFE3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7943850" y="7009885"/>
            <a:ext cx="9869805" cy="449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714"/>
              </a:lnSpc>
              <a:buNone/>
            </a:pPr>
            <a:r>
              <a:rPr lang="en-US" sz="2400" dirty="0">
                <a:solidFill>
                  <a:srgbClr val="F0F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networks that mimic the brain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046595" y="7497512"/>
            <a:ext cx="986980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400" dirty="0">
                <a:solidFill>
                  <a:srgbClr val="D3E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شبكات عصبية تحاكي الدماغ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7620000" y="8383337"/>
            <a:ext cx="9620250" cy="1944952"/>
          </a:xfrm>
          <a:prstGeom prst="roundRect">
            <a:avLst>
              <a:gd name="adj" fmla="val 7836"/>
            </a:avLst>
          </a:prstGeom>
          <a:solidFill>
            <a:srgbClr val="F5B9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7943850" y="8630988"/>
            <a:ext cx="986980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375"/>
              </a:lnSpc>
              <a:buNone/>
            </a:pPr>
            <a:r>
              <a:rPr lang="en-US" sz="3200" b="1" dirty="0">
                <a:solidFill>
                  <a:srgbClr val="0A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7943850" y="9164388"/>
            <a:ext cx="9869805" cy="449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714"/>
              </a:lnSpc>
              <a:buNone/>
            </a:pPr>
            <a:r>
              <a:rPr lang="en-US" sz="2400" dirty="0">
                <a:solidFill>
                  <a:srgbClr val="2B2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brand-new content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046595" y="9652015"/>
            <a:ext cx="986980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400" dirty="0">
                <a:solidFill>
                  <a:srgbClr val="4A3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ينشئ محتوى جديداً بالكامل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1047750" y="10328290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1047750" y="10611923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4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4343856" y="10611923"/>
            <a:ext cx="31860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4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FOUNDATIONS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661168"/>
            <a:ext cx="533400" cy="57150"/>
          </a:xfrm>
          <a:prstGeom prst="roundRect">
            <a:avLst>
              <a:gd name="adj" fmla="val 50000"/>
            </a:avLst>
          </a:prstGeom>
          <a:solidFill>
            <a:srgbClr val="F5B9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538105"/>
            <a:ext cx="248869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F5B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DEMYSTIFIED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86502" y="501529"/>
            <a:ext cx="13300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F5B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إزالة الغموض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832999"/>
            <a:ext cx="11757775" cy="1630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969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an LLM Actually Work?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2319750" y="1385449"/>
            <a:ext cx="4920500" cy="1078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1682"/>
              </a:lnSpc>
              <a:buNone/>
            </a:pPr>
            <a:r>
              <a:rPr lang="en-US" sz="315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إزاي نموذج اللغة الكبير بيشتغل فعلياً؟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1047750" y="2901776"/>
            <a:ext cx="3876675" cy="4832879"/>
          </a:xfrm>
          <a:prstGeom prst="roundRect">
            <a:avLst>
              <a:gd name="adj" fmla="val 4423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371600" y="3225626"/>
            <a:ext cx="355187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4173"/>
              </a:lnSpc>
              <a:buNone/>
            </a:pPr>
            <a:r>
              <a:rPr lang="en-US" sz="6750" b="1" dirty="0">
                <a:solidFill>
                  <a:srgbClr val="23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750" dirty="0"/>
          </a:p>
        </p:txBody>
      </p:sp>
      <p:sp>
        <p:nvSpPr>
          <p:cNvPr id="9" name="Text 7"/>
          <p:cNvSpPr/>
          <p:nvPr/>
        </p:nvSpPr>
        <p:spPr>
          <a:xfrm>
            <a:off x="1371600" y="4149551"/>
            <a:ext cx="3325844" cy="88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011"/>
              </a:lnSpc>
              <a:buNone/>
            </a:pPr>
            <a:r>
              <a:rPr lang="en-US" sz="2550" b="1" dirty="0">
                <a:solidFill>
                  <a:srgbClr val="F5B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Massive Text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371600" y="5143855"/>
            <a:ext cx="332584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books, articles, websites; patterns of language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274731" y="6096355"/>
            <a:ext cx="332584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اتدرّب على نصوص ضخمة — كتب ومقالات ومواقع؛ أنماط اللغة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5153025" y="2901776"/>
            <a:ext cx="3876675" cy="4832879"/>
          </a:xfrm>
          <a:prstGeom prst="roundRect">
            <a:avLst>
              <a:gd name="adj" fmla="val 4423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476875" y="3225626"/>
            <a:ext cx="355187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4173"/>
              </a:lnSpc>
              <a:buNone/>
            </a:pPr>
            <a:r>
              <a:rPr lang="en-US" sz="6750" b="1" dirty="0">
                <a:solidFill>
                  <a:srgbClr val="23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750" dirty="0"/>
          </a:p>
        </p:txBody>
      </p:sp>
      <p:sp>
        <p:nvSpPr>
          <p:cNvPr id="14" name="Text 12"/>
          <p:cNvSpPr/>
          <p:nvPr/>
        </p:nvSpPr>
        <p:spPr>
          <a:xfrm>
            <a:off x="5476875" y="4149551"/>
            <a:ext cx="3325844" cy="88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011"/>
              </a:lnSpc>
              <a:buNone/>
            </a:pPr>
            <a:r>
              <a:rPr lang="en-US" sz="2550" b="1" dirty="0">
                <a:solidFill>
                  <a:srgbClr val="F5B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the Next Word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5476875" y="5143855"/>
            <a:ext cx="332584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 and again, at incredible speed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5380006" y="6096355"/>
            <a:ext cx="332584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يتنبأ بالكلمة التالية — مراراً وبسرعة فائقة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258300" y="2901776"/>
            <a:ext cx="3876675" cy="4832879"/>
          </a:xfrm>
          <a:prstGeom prst="roundRect">
            <a:avLst>
              <a:gd name="adj" fmla="val 4423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9582150" y="3225626"/>
            <a:ext cx="355187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4173"/>
              </a:lnSpc>
              <a:buNone/>
            </a:pPr>
            <a:r>
              <a:rPr lang="en-US" sz="6750" b="1" dirty="0">
                <a:solidFill>
                  <a:srgbClr val="23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750" dirty="0"/>
          </a:p>
        </p:txBody>
      </p:sp>
      <p:sp>
        <p:nvSpPr>
          <p:cNvPr id="19" name="Text 17"/>
          <p:cNvSpPr/>
          <p:nvPr/>
        </p:nvSpPr>
        <p:spPr>
          <a:xfrm>
            <a:off x="9582150" y="4149551"/>
            <a:ext cx="3325844" cy="88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011"/>
              </a:lnSpc>
              <a:buNone/>
            </a:pPr>
            <a:r>
              <a:rPr lang="en-US" sz="2550" b="1" dirty="0">
                <a:solidFill>
                  <a:srgbClr val="F5B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by Your Prompt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9582150" y="5143855"/>
            <a:ext cx="332584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instructions steer every prediction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485281" y="6096355"/>
            <a:ext cx="332584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يُوجَّه بأمرك — تعليماتك توجّه كل تنبؤ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3363575" y="2901776"/>
            <a:ext cx="3876675" cy="4832879"/>
          </a:xfrm>
          <a:prstGeom prst="roundRect">
            <a:avLst>
              <a:gd name="adj" fmla="val 4423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13687425" y="3225626"/>
            <a:ext cx="355187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4173"/>
              </a:lnSpc>
              <a:buNone/>
            </a:pPr>
            <a:r>
              <a:rPr lang="en-US" sz="6750" b="1" dirty="0">
                <a:solidFill>
                  <a:srgbClr val="233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750" dirty="0"/>
          </a:p>
        </p:txBody>
      </p:sp>
      <p:sp>
        <p:nvSpPr>
          <p:cNvPr id="24" name="Text 22"/>
          <p:cNvSpPr/>
          <p:nvPr/>
        </p:nvSpPr>
        <p:spPr>
          <a:xfrm>
            <a:off x="13687425" y="4149551"/>
            <a:ext cx="3325844" cy="88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11"/>
              </a:lnSpc>
              <a:buNone/>
            </a:pPr>
            <a:r>
              <a:rPr lang="en-US" sz="2550" b="1" dirty="0">
                <a:solidFill>
                  <a:srgbClr val="F5B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 Fluent Text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13687425" y="5143855"/>
            <a:ext cx="3325844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'thinking' like a human, pattern completion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3590556" y="6496405"/>
            <a:ext cx="332584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يُنتج نصاً سلساً — مش 'تفكير' زي الإنسان، ده إكمال أنماط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1047750" y="8044027"/>
            <a:ext cx="16192500" cy="2209535"/>
          </a:xfrm>
          <a:prstGeom prst="roundRect">
            <a:avLst>
              <a:gd name="adj" fmla="val 8622"/>
            </a:avLst>
          </a:prstGeom>
          <a:solidFill>
            <a:srgbClr val="F5B9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1466850" y="8477605"/>
            <a:ext cx="15814929" cy="998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638"/>
              </a:lnSpc>
              <a:buNone/>
            </a:pPr>
            <a:r>
              <a:rPr lang="en-US" sz="2700" b="1" dirty="0">
                <a:solidFill>
                  <a:srgbClr val="0A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an incredibly powerful autocomplete — not a mind. This explains almost every limitation you'll see today.</a:t>
            </a:r>
            <a:endParaRPr lang="en-US" sz="2700" dirty="0"/>
          </a:p>
        </p:txBody>
      </p:sp>
      <p:sp>
        <p:nvSpPr>
          <p:cNvPr id="29" name="Text 27"/>
          <p:cNvSpPr/>
          <p:nvPr/>
        </p:nvSpPr>
        <p:spPr>
          <a:xfrm>
            <a:off x="-68580" y="9551813"/>
            <a:ext cx="16889730" cy="525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7143"/>
              </a:lnSpc>
              <a:buNone/>
            </a:pPr>
            <a:r>
              <a:rPr lang="en-US" sz="2400" dirty="0">
                <a:solidFill>
                  <a:srgbClr val="3E2E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هو إكمال تلقائي فائق القوة — مش عقل. الفرق ده بيفسّر تقريباً كل حدوده اللي هنشوفها النهاردة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1047750" y="10363291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1047750" y="10646924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14343856" y="10646924"/>
            <a:ext cx="31860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FOUNDATIONS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8288"/>
            <a:ext cx="18288000" cy="10287000"/>
          </a:xfrm>
          <a:prstGeom prst="rect">
            <a:avLst/>
          </a:prstGeom>
          <a:gradFill rotWithShape="1">
            <a:gsLst>
              <a:gs pos="0">
                <a:srgbClr val="132D24">
                  <a:alpha val="100000"/>
                </a:srgbClr>
              </a:gs>
              <a:gs pos="60000">
                <a:srgbClr val="0A1526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47750" y="22669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2FCC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752600" y="121920"/>
            <a:ext cx="372882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2FCC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DISCUSSION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313892" y="121920"/>
            <a:ext cx="12226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2FCC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نقاش جماعي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47750" y="636270"/>
            <a:ext cx="10726692" cy="1630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969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You Already Use AI?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11288667" y="1139243"/>
            <a:ext cx="5951583" cy="1127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2895"/>
              </a:lnSpc>
              <a:buNone/>
            </a:pPr>
            <a:r>
              <a:rPr lang="en-US" sz="330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فين إنت بتستخدم الذكاء الاصطناعي بالفعل؟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1047750" y="2800297"/>
            <a:ext cx="16192500" cy="1238250"/>
          </a:xfrm>
          <a:prstGeom prst="roundRect">
            <a:avLst>
              <a:gd name="adj" fmla="val 13846"/>
            </a:avLst>
          </a:prstGeom>
          <a:solidFill>
            <a:srgbClr val="122E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428750" y="3086047"/>
            <a:ext cx="666750" cy="666750"/>
          </a:xfrm>
          <a:prstGeom prst="roundRect">
            <a:avLst>
              <a:gd name="adj" fmla="val 25714"/>
            </a:avLst>
          </a:prstGeom>
          <a:solidFill>
            <a:srgbClr val="2FCC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390650" y="3086047"/>
            <a:ext cx="74295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776"/>
              </a:lnSpc>
              <a:buNone/>
            </a:pPr>
            <a:r>
              <a:rPr lang="en-US" sz="2700" b="1" dirty="0">
                <a:solidFill>
                  <a:srgbClr val="062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2419350" y="3184208"/>
            <a:ext cx="7012940" cy="508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418"/>
              </a:lnSpc>
              <a:buNone/>
            </a:pPr>
            <a:r>
              <a:rPr lang="en-US" sz="285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or YouTube recommendations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3871999" y="3206036"/>
            <a:ext cx="2987252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240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توصيات نتفليكس أو يوتيوب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047750" y="4267147"/>
            <a:ext cx="16192500" cy="1238250"/>
          </a:xfrm>
          <a:prstGeom prst="roundRect">
            <a:avLst>
              <a:gd name="adj" fmla="val 13846"/>
            </a:avLst>
          </a:prstGeom>
          <a:solidFill>
            <a:srgbClr val="122E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1428750" y="4552897"/>
            <a:ext cx="666750" cy="666750"/>
          </a:xfrm>
          <a:prstGeom prst="roundRect">
            <a:avLst>
              <a:gd name="adj" fmla="val 25714"/>
            </a:avLst>
          </a:prstGeom>
          <a:solidFill>
            <a:srgbClr val="2FCC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1390650" y="4552897"/>
            <a:ext cx="74295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776"/>
              </a:lnSpc>
              <a:buNone/>
            </a:pPr>
            <a:r>
              <a:rPr lang="en-US" sz="2700" b="1" dirty="0">
                <a:solidFill>
                  <a:srgbClr val="062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2419350" y="4651058"/>
            <a:ext cx="8760500" cy="508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418"/>
              </a:lnSpc>
              <a:buNone/>
            </a:pPr>
            <a:r>
              <a:rPr lang="en-US" sz="285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Autocorrect and predictive text on your phone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12355671" y="4672886"/>
            <a:ext cx="4503579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240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التصحيح التلقائي والنص التنبؤي في هاتفك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047750" y="5733997"/>
            <a:ext cx="16192500" cy="1238250"/>
          </a:xfrm>
          <a:prstGeom prst="roundRect">
            <a:avLst>
              <a:gd name="adj" fmla="val 13846"/>
            </a:avLst>
          </a:prstGeom>
          <a:solidFill>
            <a:srgbClr val="122E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1428750" y="6019747"/>
            <a:ext cx="666750" cy="666750"/>
          </a:xfrm>
          <a:prstGeom prst="roundRect">
            <a:avLst>
              <a:gd name="adj" fmla="val 25714"/>
            </a:avLst>
          </a:prstGeom>
          <a:solidFill>
            <a:srgbClr val="2FCC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1390650" y="6019747"/>
            <a:ext cx="74295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776"/>
              </a:lnSpc>
              <a:buNone/>
            </a:pPr>
            <a:r>
              <a:rPr lang="en-US" sz="2700" b="1" dirty="0">
                <a:solidFill>
                  <a:srgbClr val="062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2419350" y="6117908"/>
            <a:ext cx="4845698" cy="508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418"/>
              </a:lnSpc>
              <a:buNone/>
            </a:pPr>
            <a:r>
              <a:rPr lang="en-US" sz="285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Spam filters in your email</a:t>
            </a:r>
            <a:endParaRPr lang="en-US" sz="2850" dirty="0"/>
          </a:p>
        </p:txBody>
      </p:sp>
      <p:sp>
        <p:nvSpPr>
          <p:cNvPr id="22" name="Text 20"/>
          <p:cNvSpPr/>
          <p:nvPr/>
        </p:nvSpPr>
        <p:spPr>
          <a:xfrm>
            <a:off x="14530917" y="6139736"/>
            <a:ext cx="2328333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240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فلاتر السبام في إيميلك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1047750" y="7200847"/>
            <a:ext cx="16192500" cy="1238250"/>
          </a:xfrm>
          <a:prstGeom prst="roundRect">
            <a:avLst>
              <a:gd name="adj" fmla="val 13846"/>
            </a:avLst>
          </a:prstGeom>
          <a:solidFill>
            <a:srgbClr val="122E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1428750" y="7486597"/>
            <a:ext cx="666750" cy="666750"/>
          </a:xfrm>
          <a:prstGeom prst="roundRect">
            <a:avLst>
              <a:gd name="adj" fmla="val 25714"/>
            </a:avLst>
          </a:prstGeom>
          <a:solidFill>
            <a:srgbClr val="2FCC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1390650" y="7486597"/>
            <a:ext cx="74295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776"/>
              </a:lnSpc>
              <a:buNone/>
            </a:pPr>
            <a:r>
              <a:rPr lang="en-US" sz="2700" b="1" dirty="0">
                <a:solidFill>
                  <a:srgbClr val="062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2419350" y="7584757"/>
            <a:ext cx="5176613" cy="508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418"/>
              </a:lnSpc>
              <a:buNone/>
            </a:pPr>
            <a:r>
              <a:rPr lang="en-US" sz="285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unlock on your phone</a:t>
            </a:r>
            <a:endParaRPr lang="en-US" sz="2850" dirty="0"/>
          </a:p>
        </p:txBody>
      </p:sp>
      <p:sp>
        <p:nvSpPr>
          <p:cNvPr id="27" name="Text 25"/>
          <p:cNvSpPr/>
          <p:nvPr/>
        </p:nvSpPr>
        <p:spPr>
          <a:xfrm>
            <a:off x="14954382" y="7606586"/>
            <a:ext cx="1904868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240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فتح الهاتف بالوجه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1047750" y="8667697"/>
            <a:ext cx="16192500" cy="1238250"/>
          </a:xfrm>
          <a:prstGeom prst="roundRect">
            <a:avLst>
              <a:gd name="adj" fmla="val 13846"/>
            </a:avLst>
          </a:prstGeom>
          <a:solidFill>
            <a:srgbClr val="122E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1428750" y="8953447"/>
            <a:ext cx="666750" cy="666750"/>
          </a:xfrm>
          <a:prstGeom prst="roundRect">
            <a:avLst>
              <a:gd name="adj" fmla="val 25714"/>
            </a:avLst>
          </a:prstGeom>
          <a:solidFill>
            <a:srgbClr val="2FCC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1390650" y="8953447"/>
            <a:ext cx="74295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776"/>
              </a:lnSpc>
              <a:buNone/>
            </a:pPr>
            <a:r>
              <a:rPr lang="en-US" sz="2700" b="1" dirty="0">
                <a:solidFill>
                  <a:srgbClr val="062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700" dirty="0"/>
          </a:p>
        </p:txBody>
      </p:sp>
      <p:sp>
        <p:nvSpPr>
          <p:cNvPr id="31" name="Text 29"/>
          <p:cNvSpPr/>
          <p:nvPr/>
        </p:nvSpPr>
        <p:spPr>
          <a:xfrm>
            <a:off x="2419350" y="9051608"/>
            <a:ext cx="6459816" cy="508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418"/>
              </a:lnSpc>
              <a:buNone/>
            </a:pPr>
            <a:r>
              <a:rPr lang="en-US" sz="285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suggesting the fastest route</a:t>
            </a:r>
            <a:endParaRPr lang="en-US" sz="2850" dirty="0"/>
          </a:p>
        </p:txBody>
      </p:sp>
      <p:sp>
        <p:nvSpPr>
          <p:cNvPr id="32" name="Text 30"/>
          <p:cNvSpPr/>
          <p:nvPr/>
        </p:nvSpPr>
        <p:spPr>
          <a:xfrm>
            <a:off x="13333135" y="9073436"/>
            <a:ext cx="3526115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240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الخرائط وهي تقترح أسرع طريق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1047750" y="9905947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1047750" y="10189581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14343856" y="10189581"/>
            <a:ext cx="31860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FOUNDATIONS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F5B9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298463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F5B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REALITY CHECK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637352" y="762000"/>
            <a:ext cx="253366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F5B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خرافات وحقائق (١ من ٢)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0220364" cy="834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969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Myths — Busted (Part 1)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1682372" y="1527837"/>
            <a:ext cx="5557877" cy="582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2895"/>
              </a:lnSpc>
              <a:buNone/>
            </a:pPr>
            <a:r>
              <a:rPr lang="en-US" sz="330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خرافات الذكاء الاصطناعي (الجزء ١)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1047750" y="2491714"/>
            <a:ext cx="7953375" cy="845741"/>
          </a:xfrm>
          <a:prstGeom prst="roundRect">
            <a:avLst>
              <a:gd name="adj" fmla="val 18020"/>
            </a:avLst>
          </a:prstGeom>
          <a:solidFill>
            <a:srgbClr val="3A162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371600" y="2720314"/>
            <a:ext cx="1399328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318"/>
              </a:lnSpc>
              <a:buNone/>
            </a:pPr>
            <a:r>
              <a:rPr lang="en-US" sz="2550" b="1" dirty="0">
                <a:solidFill>
                  <a:srgbClr val="FF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MYTH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8064236" y="2720314"/>
            <a:ext cx="689240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318"/>
              </a:lnSpc>
              <a:buNone/>
            </a:pPr>
            <a:r>
              <a:rPr lang="en-US" sz="2550" b="1" dirty="0">
                <a:solidFill>
                  <a:srgbClr val="FF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خرافة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286875" y="2491714"/>
            <a:ext cx="7953375" cy="845741"/>
          </a:xfrm>
          <a:prstGeom prst="roundRect">
            <a:avLst>
              <a:gd name="adj" fmla="val 18020"/>
            </a:avLst>
          </a:prstGeom>
          <a:solidFill>
            <a:srgbClr val="0F332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9610725" y="2720314"/>
            <a:ext cx="1889734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318"/>
              </a:lnSpc>
              <a:buNone/>
            </a:pPr>
            <a:r>
              <a:rPr lang="en-US" sz="2550" b="1" dirty="0">
                <a:solidFill>
                  <a:srgbClr val="4FE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REALITY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6168424" y="2720314"/>
            <a:ext cx="824177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318"/>
              </a:lnSpc>
              <a:buNone/>
            </a:pPr>
            <a:r>
              <a:rPr lang="en-US" sz="2550" b="1" dirty="0">
                <a:solidFill>
                  <a:srgbClr val="4FE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الحقيقة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047750" y="3623204"/>
            <a:ext cx="7953375" cy="1986756"/>
          </a:xfrm>
          <a:custGeom>
            <a:avLst/>
            <a:gdLst/>
            <a:ahLst/>
            <a:cxnLst/>
            <a:rect l="l" t="t" r="r" b="b"/>
            <a:pathLst>
              <a:path w="7953375" h="1986756">
                <a:moveTo>
                  <a:pt x="0" y="0"/>
                </a:moveTo>
                <a:lnTo>
                  <a:pt x="7800975" y="0"/>
                </a:lnTo>
                <a:arcTo wR="152400" hR="152400" stAng="16200000" swAng="5400000"/>
                <a:lnTo>
                  <a:pt x="7953375" y="1834356"/>
                </a:lnTo>
                <a:arcTo wR="152400" hR="152400" stAng="0" swAng="5400000"/>
                <a:lnTo>
                  <a:pt x="0" y="1986756"/>
                </a:lnTo>
                <a:lnTo>
                  <a:pt x="0" y="0"/>
                </a:lnTo>
                <a:close/>
              </a:path>
            </a:pathLst>
          </a:cu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1047750" y="3623204"/>
            <a:ext cx="93133" cy="1986756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1464733" y="3908954"/>
            <a:ext cx="7933796" cy="483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21"/>
              </a:lnSpc>
              <a:buNone/>
            </a:pPr>
            <a:r>
              <a:rPr lang="en-US" sz="27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will replace all jobs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743479" y="4449895"/>
            <a:ext cx="793379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هيمحي كل الوظائف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286875" y="3623204"/>
            <a:ext cx="7953375" cy="1986756"/>
          </a:xfrm>
          <a:custGeom>
            <a:avLst/>
            <a:gdLst/>
            <a:ahLst/>
            <a:cxnLst/>
            <a:rect l="l" t="t" r="r" b="b"/>
            <a:pathLst>
              <a:path w="7953375" h="1986756">
                <a:moveTo>
                  <a:pt x="0" y="0"/>
                </a:moveTo>
                <a:lnTo>
                  <a:pt x="7800975" y="0"/>
                </a:lnTo>
                <a:arcTo wR="152400" hR="152400" stAng="16200000" swAng="5400000"/>
                <a:lnTo>
                  <a:pt x="7953375" y="1834356"/>
                </a:lnTo>
                <a:arcTo wR="152400" hR="152400" stAng="0" swAng="5400000"/>
                <a:lnTo>
                  <a:pt x="0" y="1986756"/>
                </a:lnTo>
                <a:lnTo>
                  <a:pt x="0" y="0"/>
                </a:lnTo>
                <a:close/>
              </a:path>
            </a:pathLst>
          </a:cu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9286875" y="3623204"/>
            <a:ext cx="93133" cy="1986756"/>
          </a:xfrm>
          <a:prstGeom prst="rect">
            <a:avLst/>
          </a:prstGeom>
          <a:solidFill>
            <a:srgbClr val="2FCC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9703858" y="3908954"/>
            <a:ext cx="7428918" cy="9294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21"/>
              </a:lnSpc>
              <a:buNone/>
            </a:pPr>
            <a:r>
              <a:rPr lang="en-US" sz="27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replaces tasks, not entire roles — most jobs adapt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8982604" y="4895585"/>
            <a:ext cx="793379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بيغيّر المهام، مش الوظيفة كلها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1047750" y="5895710"/>
            <a:ext cx="7953375" cy="1986756"/>
          </a:xfrm>
          <a:custGeom>
            <a:avLst/>
            <a:gdLst/>
            <a:ahLst/>
            <a:cxnLst/>
            <a:rect l="l" t="t" r="r" b="b"/>
            <a:pathLst>
              <a:path w="7953375" h="1986756">
                <a:moveTo>
                  <a:pt x="0" y="0"/>
                </a:moveTo>
                <a:lnTo>
                  <a:pt x="7800975" y="0"/>
                </a:lnTo>
                <a:arcTo wR="152400" hR="152400" stAng="16200000" swAng="5400000"/>
                <a:lnTo>
                  <a:pt x="7953375" y="1834356"/>
                </a:lnTo>
                <a:arcTo wR="152400" hR="152400" stAng="0" swAng="5400000"/>
                <a:lnTo>
                  <a:pt x="0" y="1986756"/>
                </a:lnTo>
                <a:lnTo>
                  <a:pt x="0" y="0"/>
                </a:lnTo>
                <a:close/>
              </a:path>
            </a:pathLst>
          </a:cu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1047750" y="5895710"/>
            <a:ext cx="93133" cy="1986756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1464733" y="6181460"/>
            <a:ext cx="7933796" cy="483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21"/>
              </a:lnSpc>
              <a:buNone/>
            </a:pPr>
            <a:r>
              <a:rPr lang="en-US" sz="27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always accurate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743479" y="6722401"/>
            <a:ext cx="793379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دايماً دقيق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9286875" y="5895710"/>
            <a:ext cx="7953375" cy="1986756"/>
          </a:xfrm>
          <a:custGeom>
            <a:avLst/>
            <a:gdLst/>
            <a:ahLst/>
            <a:cxnLst/>
            <a:rect l="l" t="t" r="r" b="b"/>
            <a:pathLst>
              <a:path w="7953375" h="1986756">
                <a:moveTo>
                  <a:pt x="0" y="0"/>
                </a:moveTo>
                <a:lnTo>
                  <a:pt x="7800975" y="0"/>
                </a:lnTo>
                <a:arcTo wR="152400" hR="152400" stAng="16200000" swAng="5400000"/>
                <a:lnTo>
                  <a:pt x="7953375" y="1834356"/>
                </a:lnTo>
                <a:arcTo wR="152400" hR="152400" stAng="0" swAng="5400000"/>
                <a:lnTo>
                  <a:pt x="0" y="1986756"/>
                </a:lnTo>
                <a:lnTo>
                  <a:pt x="0" y="0"/>
                </a:lnTo>
                <a:close/>
              </a:path>
            </a:pathLst>
          </a:cu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9286875" y="5895710"/>
            <a:ext cx="93133" cy="1986756"/>
          </a:xfrm>
          <a:prstGeom prst="rect">
            <a:avLst/>
          </a:prstGeom>
          <a:solidFill>
            <a:srgbClr val="2FCC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9703858" y="6181460"/>
            <a:ext cx="7428918" cy="9294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21"/>
              </a:lnSpc>
              <a:buNone/>
            </a:pPr>
            <a:r>
              <a:rPr lang="en-US" sz="27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 be confidently wrong — always verify facts</a:t>
            </a:r>
            <a:endParaRPr lang="en-US" sz="2700" dirty="0"/>
          </a:p>
        </p:txBody>
      </p:sp>
      <p:sp>
        <p:nvSpPr>
          <p:cNvPr id="28" name="Text 26"/>
          <p:cNvSpPr/>
          <p:nvPr/>
        </p:nvSpPr>
        <p:spPr>
          <a:xfrm>
            <a:off x="8982604" y="7168092"/>
            <a:ext cx="793379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ممكن يكون واثق وغلطان في نفس الوقت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1047750" y="8168217"/>
            <a:ext cx="7953375" cy="1986756"/>
          </a:xfrm>
          <a:custGeom>
            <a:avLst/>
            <a:gdLst/>
            <a:ahLst/>
            <a:cxnLst/>
            <a:rect l="l" t="t" r="r" b="b"/>
            <a:pathLst>
              <a:path w="7953375" h="1986756">
                <a:moveTo>
                  <a:pt x="0" y="0"/>
                </a:moveTo>
                <a:lnTo>
                  <a:pt x="7800975" y="0"/>
                </a:lnTo>
                <a:arcTo wR="152400" hR="152400" stAng="16200000" swAng="5400000"/>
                <a:lnTo>
                  <a:pt x="7953375" y="1834356"/>
                </a:lnTo>
                <a:arcTo wR="152400" hR="152400" stAng="0" swAng="5400000"/>
                <a:lnTo>
                  <a:pt x="0" y="1986756"/>
                </a:lnTo>
                <a:lnTo>
                  <a:pt x="0" y="0"/>
                </a:lnTo>
                <a:close/>
              </a:path>
            </a:pathLst>
          </a:cu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1047750" y="8168217"/>
            <a:ext cx="93133" cy="1986756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1464733" y="8453967"/>
            <a:ext cx="7933796" cy="483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21"/>
              </a:lnSpc>
              <a:buNone/>
            </a:pPr>
            <a:r>
              <a:rPr lang="en-US" sz="27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truly 'understands' you</a:t>
            </a:r>
            <a:endParaRPr lang="en-US" sz="2700" dirty="0"/>
          </a:p>
        </p:txBody>
      </p:sp>
      <p:sp>
        <p:nvSpPr>
          <p:cNvPr id="32" name="Text 30"/>
          <p:cNvSpPr/>
          <p:nvPr/>
        </p:nvSpPr>
        <p:spPr>
          <a:xfrm>
            <a:off x="743479" y="8994907"/>
            <a:ext cx="793379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'بيفهمك' فعلاً</a:t>
            </a:r>
            <a:endParaRPr lang="en-US" sz="2250" dirty="0"/>
          </a:p>
        </p:txBody>
      </p:sp>
      <p:sp>
        <p:nvSpPr>
          <p:cNvPr id="33" name="Shape 31"/>
          <p:cNvSpPr/>
          <p:nvPr/>
        </p:nvSpPr>
        <p:spPr>
          <a:xfrm>
            <a:off x="9286875" y="8168217"/>
            <a:ext cx="7953375" cy="1986756"/>
          </a:xfrm>
          <a:custGeom>
            <a:avLst/>
            <a:gdLst/>
            <a:ahLst/>
            <a:cxnLst/>
            <a:rect l="l" t="t" r="r" b="b"/>
            <a:pathLst>
              <a:path w="7953375" h="1986756">
                <a:moveTo>
                  <a:pt x="0" y="0"/>
                </a:moveTo>
                <a:lnTo>
                  <a:pt x="7800975" y="0"/>
                </a:lnTo>
                <a:arcTo wR="152400" hR="152400" stAng="16200000" swAng="5400000"/>
                <a:lnTo>
                  <a:pt x="7953375" y="1834356"/>
                </a:lnTo>
                <a:arcTo wR="152400" hR="152400" stAng="0" swAng="5400000"/>
                <a:lnTo>
                  <a:pt x="0" y="1986756"/>
                </a:lnTo>
                <a:lnTo>
                  <a:pt x="0" y="0"/>
                </a:lnTo>
                <a:close/>
              </a:path>
            </a:pathLst>
          </a:cu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9286875" y="8168217"/>
            <a:ext cx="93133" cy="1986756"/>
          </a:xfrm>
          <a:prstGeom prst="rect">
            <a:avLst/>
          </a:prstGeom>
          <a:solidFill>
            <a:srgbClr val="2FCC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9703858" y="8453967"/>
            <a:ext cx="7428918" cy="9294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21"/>
              </a:lnSpc>
              <a:buNone/>
            </a:pPr>
            <a:r>
              <a:rPr lang="en-US" sz="27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recognizes patterns in language — no real understanding</a:t>
            </a:r>
            <a:endParaRPr lang="en-US" sz="2700" dirty="0"/>
          </a:p>
        </p:txBody>
      </p:sp>
      <p:sp>
        <p:nvSpPr>
          <p:cNvPr id="36" name="Text 34"/>
          <p:cNvSpPr/>
          <p:nvPr/>
        </p:nvSpPr>
        <p:spPr>
          <a:xfrm>
            <a:off x="8982604" y="9440598"/>
            <a:ext cx="793379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بيتعرف على أنماط اللغة — مش فهم حقيقي</a:t>
            </a:r>
            <a:endParaRPr lang="en-US" sz="2250" dirty="0"/>
          </a:p>
        </p:txBody>
      </p:sp>
      <p:sp>
        <p:nvSpPr>
          <p:cNvPr id="37" name="Shape 35"/>
          <p:cNvSpPr/>
          <p:nvPr/>
        </p:nvSpPr>
        <p:spPr>
          <a:xfrm>
            <a:off x="1047750" y="10154973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1047750" y="10438606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14343856" y="10438606"/>
            <a:ext cx="31860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FOUNDATIONS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F5B9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298463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F5B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REALITY CHECK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637352" y="762000"/>
            <a:ext cx="253366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F5B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خرافات وحقائق (٢ من ٢)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0220364" cy="834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969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Myths — Busted (Part 2)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1682372" y="1527837"/>
            <a:ext cx="5557877" cy="582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2895"/>
              </a:lnSpc>
              <a:buNone/>
            </a:pPr>
            <a:r>
              <a:rPr lang="en-US" sz="330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خرافات الذكاء الاصطناعي (الجزء ٢)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1047750" y="2491714"/>
            <a:ext cx="7953375" cy="845741"/>
          </a:xfrm>
          <a:prstGeom prst="roundRect">
            <a:avLst>
              <a:gd name="adj" fmla="val 18020"/>
            </a:avLst>
          </a:prstGeom>
          <a:solidFill>
            <a:srgbClr val="3A162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371600" y="2720314"/>
            <a:ext cx="1399328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318"/>
              </a:lnSpc>
              <a:buNone/>
            </a:pPr>
            <a:r>
              <a:rPr lang="en-US" sz="2550" b="1" dirty="0">
                <a:solidFill>
                  <a:srgbClr val="FF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MYTH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8064236" y="2720314"/>
            <a:ext cx="689240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318"/>
              </a:lnSpc>
              <a:buNone/>
            </a:pPr>
            <a:r>
              <a:rPr lang="en-US" sz="2550" b="1" dirty="0">
                <a:solidFill>
                  <a:srgbClr val="FF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خرافة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286875" y="2491714"/>
            <a:ext cx="7953375" cy="845741"/>
          </a:xfrm>
          <a:prstGeom prst="roundRect">
            <a:avLst>
              <a:gd name="adj" fmla="val 18020"/>
            </a:avLst>
          </a:prstGeom>
          <a:solidFill>
            <a:srgbClr val="0F332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9610725" y="2720314"/>
            <a:ext cx="1889734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318"/>
              </a:lnSpc>
              <a:buNone/>
            </a:pPr>
            <a:r>
              <a:rPr lang="en-US" sz="2550" b="1" dirty="0">
                <a:solidFill>
                  <a:srgbClr val="4FE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REALITY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6168424" y="2720314"/>
            <a:ext cx="824177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318"/>
              </a:lnSpc>
              <a:buNone/>
            </a:pPr>
            <a:r>
              <a:rPr lang="en-US" sz="2550" b="1" dirty="0">
                <a:solidFill>
                  <a:srgbClr val="4FE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الحقيقة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047750" y="3623204"/>
            <a:ext cx="7953375" cy="1986756"/>
          </a:xfrm>
          <a:custGeom>
            <a:avLst/>
            <a:gdLst/>
            <a:ahLst/>
            <a:cxnLst/>
            <a:rect l="l" t="t" r="r" b="b"/>
            <a:pathLst>
              <a:path w="7953375" h="1986756">
                <a:moveTo>
                  <a:pt x="0" y="0"/>
                </a:moveTo>
                <a:lnTo>
                  <a:pt x="7800975" y="0"/>
                </a:lnTo>
                <a:arcTo wR="152400" hR="152400" stAng="16200000" swAng="5400000"/>
                <a:lnTo>
                  <a:pt x="7953375" y="1834356"/>
                </a:lnTo>
                <a:arcTo wR="152400" hR="152400" stAng="0" swAng="5400000"/>
                <a:lnTo>
                  <a:pt x="0" y="1986756"/>
                </a:lnTo>
                <a:lnTo>
                  <a:pt x="0" y="0"/>
                </a:lnTo>
                <a:close/>
              </a:path>
            </a:pathLst>
          </a:cu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1047750" y="3623204"/>
            <a:ext cx="93133" cy="1986756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1464733" y="3908954"/>
            <a:ext cx="7933796" cy="483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21"/>
              </a:lnSpc>
              <a:buNone/>
            </a:pPr>
            <a:r>
              <a:rPr lang="en-US" sz="27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need to code to use AI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743479" y="4449895"/>
            <a:ext cx="793379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لازم تعرف تبرمج عشان تستخدمه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286875" y="3623204"/>
            <a:ext cx="7953375" cy="1986756"/>
          </a:xfrm>
          <a:custGeom>
            <a:avLst/>
            <a:gdLst/>
            <a:ahLst/>
            <a:cxnLst/>
            <a:rect l="l" t="t" r="r" b="b"/>
            <a:pathLst>
              <a:path w="7953375" h="1986756">
                <a:moveTo>
                  <a:pt x="0" y="0"/>
                </a:moveTo>
                <a:lnTo>
                  <a:pt x="7800975" y="0"/>
                </a:lnTo>
                <a:arcTo wR="152400" hR="152400" stAng="16200000" swAng="5400000"/>
                <a:lnTo>
                  <a:pt x="7953375" y="1834356"/>
                </a:lnTo>
                <a:arcTo wR="152400" hR="152400" stAng="0" swAng="5400000"/>
                <a:lnTo>
                  <a:pt x="0" y="1986756"/>
                </a:lnTo>
                <a:lnTo>
                  <a:pt x="0" y="0"/>
                </a:lnTo>
                <a:close/>
              </a:path>
            </a:pathLst>
          </a:cu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9286875" y="3623204"/>
            <a:ext cx="93133" cy="1986756"/>
          </a:xfrm>
          <a:prstGeom prst="rect">
            <a:avLst/>
          </a:prstGeom>
          <a:solidFill>
            <a:srgbClr val="2FCC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9703858" y="3908954"/>
            <a:ext cx="7428918" cy="9294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21"/>
              </a:lnSpc>
              <a:buNone/>
            </a:pPr>
            <a:r>
              <a:rPr lang="en-US" sz="27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language is the only skill required today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8982604" y="4895585"/>
            <a:ext cx="793379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اللغة العادية هي المهارة المطلوبة فقط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1047750" y="5895710"/>
            <a:ext cx="7953375" cy="1986756"/>
          </a:xfrm>
          <a:custGeom>
            <a:avLst/>
            <a:gdLst/>
            <a:ahLst/>
            <a:cxnLst/>
            <a:rect l="l" t="t" r="r" b="b"/>
            <a:pathLst>
              <a:path w="7953375" h="1986756">
                <a:moveTo>
                  <a:pt x="0" y="0"/>
                </a:moveTo>
                <a:lnTo>
                  <a:pt x="7800975" y="0"/>
                </a:lnTo>
                <a:arcTo wR="152400" hR="152400" stAng="16200000" swAng="5400000"/>
                <a:lnTo>
                  <a:pt x="7953375" y="1834356"/>
                </a:lnTo>
                <a:arcTo wR="152400" hR="152400" stAng="0" swAng="5400000"/>
                <a:lnTo>
                  <a:pt x="0" y="1986756"/>
                </a:lnTo>
                <a:lnTo>
                  <a:pt x="0" y="0"/>
                </a:lnTo>
                <a:close/>
              </a:path>
            </a:pathLst>
          </a:cu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1047750" y="5895710"/>
            <a:ext cx="93133" cy="1986756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1464733" y="6181460"/>
            <a:ext cx="7933796" cy="483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21"/>
              </a:lnSpc>
              <a:buNone/>
            </a:pPr>
            <a:r>
              <a:rPr lang="en-US" sz="27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only for tech people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743479" y="6722401"/>
            <a:ext cx="793379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للتقنيين بس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9286875" y="5895710"/>
            <a:ext cx="7953375" cy="1986756"/>
          </a:xfrm>
          <a:custGeom>
            <a:avLst/>
            <a:gdLst/>
            <a:ahLst/>
            <a:cxnLst/>
            <a:rect l="l" t="t" r="r" b="b"/>
            <a:pathLst>
              <a:path w="7953375" h="1986756">
                <a:moveTo>
                  <a:pt x="0" y="0"/>
                </a:moveTo>
                <a:lnTo>
                  <a:pt x="7800975" y="0"/>
                </a:lnTo>
                <a:arcTo wR="152400" hR="152400" stAng="16200000" swAng="5400000"/>
                <a:lnTo>
                  <a:pt x="7953375" y="1834356"/>
                </a:lnTo>
                <a:arcTo wR="152400" hR="152400" stAng="0" swAng="5400000"/>
                <a:lnTo>
                  <a:pt x="0" y="1986756"/>
                </a:lnTo>
                <a:lnTo>
                  <a:pt x="0" y="0"/>
                </a:lnTo>
                <a:close/>
              </a:path>
            </a:pathLst>
          </a:cu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9286875" y="5895710"/>
            <a:ext cx="93133" cy="1986756"/>
          </a:xfrm>
          <a:prstGeom prst="rect">
            <a:avLst/>
          </a:prstGeom>
          <a:solidFill>
            <a:srgbClr val="2FCC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9703858" y="6181460"/>
            <a:ext cx="7428918" cy="9294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21"/>
              </a:lnSpc>
              <a:buNone/>
            </a:pPr>
            <a:r>
              <a:rPr lang="en-US" sz="27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department benefits — HR, sales, finance, ops</a:t>
            </a:r>
            <a:endParaRPr lang="en-US" sz="2700" dirty="0"/>
          </a:p>
        </p:txBody>
      </p:sp>
      <p:sp>
        <p:nvSpPr>
          <p:cNvPr id="28" name="Text 26"/>
          <p:cNvSpPr/>
          <p:nvPr/>
        </p:nvSpPr>
        <p:spPr>
          <a:xfrm>
            <a:off x="8982604" y="7168092"/>
            <a:ext cx="793379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قسم بيستفيد — موارد بشرية، مبيعات، مالية، عمليات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1047750" y="8168217"/>
            <a:ext cx="7953375" cy="1986756"/>
          </a:xfrm>
          <a:custGeom>
            <a:avLst/>
            <a:gdLst/>
            <a:ahLst/>
            <a:cxnLst/>
            <a:rect l="l" t="t" r="r" b="b"/>
            <a:pathLst>
              <a:path w="7953375" h="1986756">
                <a:moveTo>
                  <a:pt x="0" y="0"/>
                </a:moveTo>
                <a:lnTo>
                  <a:pt x="7800975" y="0"/>
                </a:lnTo>
                <a:arcTo wR="152400" hR="152400" stAng="16200000" swAng="5400000"/>
                <a:lnTo>
                  <a:pt x="7953375" y="1834356"/>
                </a:lnTo>
                <a:arcTo wR="152400" hR="152400" stAng="0" swAng="5400000"/>
                <a:lnTo>
                  <a:pt x="0" y="1986756"/>
                </a:lnTo>
                <a:lnTo>
                  <a:pt x="0" y="0"/>
                </a:lnTo>
                <a:close/>
              </a:path>
            </a:pathLst>
          </a:cu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1047750" y="8168217"/>
            <a:ext cx="93133" cy="1986756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1464733" y="8453967"/>
            <a:ext cx="7933796" cy="483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21"/>
              </a:lnSpc>
              <a:buNone/>
            </a:pPr>
            <a:r>
              <a:rPr lang="en-US" sz="27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expensive AI = always better</a:t>
            </a:r>
            <a:endParaRPr lang="en-US" sz="2700" dirty="0"/>
          </a:p>
        </p:txBody>
      </p:sp>
      <p:sp>
        <p:nvSpPr>
          <p:cNvPr id="32" name="Text 30"/>
          <p:cNvSpPr/>
          <p:nvPr/>
        </p:nvSpPr>
        <p:spPr>
          <a:xfrm>
            <a:off x="743479" y="8994907"/>
            <a:ext cx="793379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الأداة الأغلى دايماً أحسن</a:t>
            </a:r>
            <a:endParaRPr lang="en-US" sz="2250" dirty="0"/>
          </a:p>
        </p:txBody>
      </p:sp>
      <p:sp>
        <p:nvSpPr>
          <p:cNvPr id="33" name="Shape 31"/>
          <p:cNvSpPr/>
          <p:nvPr/>
        </p:nvSpPr>
        <p:spPr>
          <a:xfrm>
            <a:off x="9286875" y="8168217"/>
            <a:ext cx="7953375" cy="1986756"/>
          </a:xfrm>
          <a:custGeom>
            <a:avLst/>
            <a:gdLst/>
            <a:ahLst/>
            <a:cxnLst/>
            <a:rect l="l" t="t" r="r" b="b"/>
            <a:pathLst>
              <a:path w="7953375" h="1986756">
                <a:moveTo>
                  <a:pt x="0" y="0"/>
                </a:moveTo>
                <a:lnTo>
                  <a:pt x="7800975" y="0"/>
                </a:lnTo>
                <a:arcTo wR="152400" hR="152400" stAng="16200000" swAng="5400000"/>
                <a:lnTo>
                  <a:pt x="7953375" y="1834356"/>
                </a:lnTo>
                <a:arcTo wR="152400" hR="152400" stAng="0" swAng="5400000"/>
                <a:lnTo>
                  <a:pt x="0" y="1986756"/>
                </a:lnTo>
                <a:lnTo>
                  <a:pt x="0" y="0"/>
                </a:lnTo>
                <a:close/>
              </a:path>
            </a:pathLst>
          </a:cu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9286875" y="8168217"/>
            <a:ext cx="93133" cy="1986756"/>
          </a:xfrm>
          <a:prstGeom prst="rect">
            <a:avLst/>
          </a:prstGeom>
          <a:solidFill>
            <a:srgbClr val="2FCC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9703858" y="8453967"/>
            <a:ext cx="7428918" cy="9294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21"/>
              </a:lnSpc>
              <a:buNone/>
            </a:pPr>
            <a:r>
              <a:rPr lang="en-US" sz="27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tool for the task matters more than price</a:t>
            </a:r>
            <a:endParaRPr lang="en-US" sz="2700" dirty="0"/>
          </a:p>
        </p:txBody>
      </p:sp>
      <p:sp>
        <p:nvSpPr>
          <p:cNvPr id="36" name="Text 34"/>
          <p:cNvSpPr/>
          <p:nvPr/>
        </p:nvSpPr>
        <p:spPr>
          <a:xfrm>
            <a:off x="8982604" y="9440598"/>
            <a:ext cx="793379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الأداة المناسبة للمهمة أهم من السعر</a:t>
            </a:r>
            <a:endParaRPr lang="en-US" sz="2250" dirty="0"/>
          </a:p>
        </p:txBody>
      </p:sp>
      <p:sp>
        <p:nvSpPr>
          <p:cNvPr id="37" name="Shape 35"/>
          <p:cNvSpPr/>
          <p:nvPr/>
        </p:nvSpPr>
        <p:spPr>
          <a:xfrm>
            <a:off x="1047750" y="10154973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1047750" y="10438606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14343856" y="10438606"/>
            <a:ext cx="31860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FOUNDATIONS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F5B9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334421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F5B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THE LIMITS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964245" y="762000"/>
            <a:ext cx="123309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F5B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اعرف الحدود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9921756" cy="834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969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AI Still Can't Do Well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0487355" y="1577314"/>
            <a:ext cx="675289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2500"/>
              </a:lnSpc>
              <a:buNone/>
            </a:pPr>
            <a:r>
              <a:rPr lang="en-US" sz="300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إيه اللي الذكاء الاصطناعي لسه مش بيعمله كويس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047750" y="2529814"/>
            <a:ext cx="16192500" cy="822854"/>
          </a:xfrm>
          <a:prstGeom prst="rect">
            <a:avLst/>
          </a:prstGeom>
          <a:solidFill>
            <a:srgbClr val="2338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352550" y="2758414"/>
            <a:ext cx="5728145" cy="403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 / المحدودية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505700" y="2758414"/>
            <a:ext cx="9730931" cy="403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Practice / في الواقع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047750" y="3352668"/>
            <a:ext cx="16192500" cy="1439466"/>
          </a:xfrm>
          <a:prstGeom prst="rect">
            <a:avLst/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047750" y="4766733"/>
            <a:ext cx="6153150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352550" y="3666596"/>
            <a:ext cx="2554155" cy="40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11"/>
              </a:lnSpc>
              <a:buNone/>
            </a:pPr>
            <a:r>
              <a:rPr lang="en-US" sz="2550" b="1" dirty="0">
                <a:solidFill>
                  <a:srgbClr val="F5B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Facts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798195" y="4062148"/>
            <a:ext cx="609790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الحقائق اللحظية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7200900" y="4766733"/>
            <a:ext cx="10039350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7505700" y="3672284"/>
            <a:ext cx="7259002" cy="385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not know very recent events without live search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562725" y="4065058"/>
            <a:ext cx="1037272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قد لا يعرف أحدث الأحداث بدون بحث حي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047750" y="4792133"/>
            <a:ext cx="16192500" cy="1452166"/>
          </a:xfrm>
          <a:prstGeom prst="rect">
            <a:avLst/>
          </a:prstGeom>
          <a:solidFill>
            <a:srgbClr val="0F1E3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1047750" y="6218899"/>
            <a:ext cx="6153150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352550" y="5118761"/>
            <a:ext cx="3317941" cy="402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11"/>
              </a:lnSpc>
              <a:buNone/>
            </a:pPr>
            <a:r>
              <a:rPr lang="en-US" sz="2550" b="1" dirty="0">
                <a:solidFill>
                  <a:srgbClr val="F5B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Common Sense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798195" y="5514313"/>
            <a:ext cx="609790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الحس السليم الحقيقي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7200900" y="6218899"/>
            <a:ext cx="10039350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7505700" y="5124450"/>
            <a:ext cx="8759637" cy="385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miss obvious real-world context a person catches instantly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562725" y="5517224"/>
            <a:ext cx="1037272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قد يفوّت سياقاً واقعياً واضحاً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1047750" y="6244299"/>
            <a:ext cx="16192500" cy="1452166"/>
          </a:xfrm>
          <a:prstGeom prst="rect">
            <a:avLst/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1047750" y="7671065"/>
            <a:ext cx="6153150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1352550" y="6570927"/>
            <a:ext cx="3436079" cy="40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11"/>
              </a:lnSpc>
              <a:buNone/>
            </a:pPr>
            <a:r>
              <a:rPr lang="en-US" sz="2550" b="1" dirty="0">
                <a:solidFill>
                  <a:srgbClr val="F5B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Guaranteed Accuracy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798195" y="6966479"/>
            <a:ext cx="609790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الدقة المضمونة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7200900" y="7671065"/>
            <a:ext cx="10039350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7505700" y="6576615"/>
            <a:ext cx="7068100" cy="385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sound confident while being completely wrong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562725" y="6969390"/>
            <a:ext cx="1037272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قد يبدو واثقاً وهو مخطئ تماماً</a:t>
            </a:r>
            <a:endParaRPr lang="en-US" sz="2250" dirty="0"/>
          </a:p>
        </p:txBody>
      </p:sp>
      <p:sp>
        <p:nvSpPr>
          <p:cNvPr id="31" name="Shape 29"/>
          <p:cNvSpPr/>
          <p:nvPr/>
        </p:nvSpPr>
        <p:spPr>
          <a:xfrm>
            <a:off x="1047750" y="7696465"/>
            <a:ext cx="16192500" cy="1439466"/>
          </a:xfrm>
          <a:prstGeom prst="rect">
            <a:avLst/>
          </a:prstGeom>
          <a:solidFill>
            <a:srgbClr val="0F1E3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1352550" y="8023093"/>
            <a:ext cx="3206344" cy="402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11"/>
              </a:lnSpc>
              <a:buNone/>
            </a:pPr>
            <a:r>
              <a:rPr lang="en-US" sz="2550" b="1" dirty="0">
                <a:solidFill>
                  <a:srgbClr val="F5B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Genuine Judgement</a:t>
            </a:r>
            <a:endParaRPr lang="en-US" sz="2550" dirty="0"/>
          </a:p>
        </p:txBody>
      </p:sp>
      <p:sp>
        <p:nvSpPr>
          <p:cNvPr id="33" name="Text 31"/>
          <p:cNvSpPr/>
          <p:nvPr/>
        </p:nvSpPr>
        <p:spPr>
          <a:xfrm>
            <a:off x="798195" y="8418645"/>
            <a:ext cx="609790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الحكم الحقيقي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7505700" y="8028781"/>
            <a:ext cx="7573899" cy="385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take accountability for a real business decision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6562725" y="8421555"/>
            <a:ext cx="1037272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يتحمّل مسؤولية قرار عمل حقيقي</a:t>
            </a:r>
            <a:endParaRPr lang="en-US" sz="2250" dirty="0"/>
          </a:p>
        </p:txBody>
      </p:sp>
      <p:sp>
        <p:nvSpPr>
          <p:cNvPr id="36" name="Shape 34"/>
          <p:cNvSpPr/>
          <p:nvPr/>
        </p:nvSpPr>
        <p:spPr>
          <a:xfrm>
            <a:off x="1047750" y="9478830"/>
            <a:ext cx="16192500" cy="1390650"/>
          </a:xfrm>
          <a:prstGeom prst="roundRect">
            <a:avLst>
              <a:gd name="adj" fmla="val 12329"/>
            </a:avLst>
          </a:prstGeom>
          <a:solidFill>
            <a:srgbClr val="F5B9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1390650" y="9745530"/>
            <a:ext cx="10190508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0A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gives you a first draft, at speed. You always remain the final, accountable decision-maker.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11508387" y="9745530"/>
            <a:ext cx="5388963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3E2E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يقدّم مسودة أولى بسرعة، وأنت دائماً صاحب القرار النهائي</a:t>
            </a:r>
            <a:endParaRPr lang="en-US" sz="2250" dirty="0"/>
          </a:p>
        </p:txBody>
      </p:sp>
      <p:sp>
        <p:nvSpPr>
          <p:cNvPr id="39" name="Shape 37"/>
          <p:cNvSpPr/>
          <p:nvPr/>
        </p:nvSpPr>
        <p:spPr>
          <a:xfrm>
            <a:off x="1047750" y="10869481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1047750" y="11153113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14343856" y="11153113"/>
            <a:ext cx="31860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FOUNDATIONS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E1220">
                  <a:alpha val="100000"/>
                </a:srgbClr>
              </a:gs>
              <a:gs pos="55000">
                <a:srgbClr val="0A1526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752600" y="762000"/>
            <a:ext cx="416276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#1 RISK TO KNOW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708385" y="762000"/>
            <a:ext cx="18842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أهم خطر لازم تعرفه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47750" y="1276350"/>
            <a:ext cx="17811750" cy="792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806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Hallucinations: When AI Is Confidently Wrong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-571500" y="2164027"/>
            <a:ext cx="17811750" cy="5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0273"/>
              </a:lnSpc>
              <a:buNone/>
            </a:pPr>
            <a:r>
              <a:rPr lang="en-US" sz="315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الهلوسة: عندما يكون الذكاء الاصطناعي واثقاً وغلطاناً</a:t>
            </a:r>
            <a:endParaRPr lang="en-US" sz="3150" dirty="0"/>
          </a:p>
        </p:txBody>
      </p:sp>
      <p:sp>
        <p:nvSpPr>
          <p:cNvPr id="8" name="Shape 6"/>
          <p:cNvSpPr/>
          <p:nvPr/>
        </p:nvSpPr>
        <p:spPr>
          <a:xfrm>
            <a:off x="1047750" y="3047868"/>
            <a:ext cx="16192500" cy="1565804"/>
          </a:xfrm>
          <a:prstGeom prst="roundRect">
            <a:avLst>
              <a:gd name="adj" fmla="val 10950"/>
            </a:avLst>
          </a:prstGeom>
          <a:solidFill>
            <a:srgbClr val="3A162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428750" y="3333618"/>
            <a:ext cx="15916275" cy="1032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947"/>
              </a:lnSpc>
              <a:buNone/>
            </a:pPr>
            <a:r>
              <a:rPr lang="en-US" sz="2700" dirty="0">
                <a:solidFill>
                  <a:srgbClr val="FFD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hallucination is when AI states something false, invented, or outdated — with total confidence and perfect grammar.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047750" y="4994672"/>
            <a:ext cx="16192500" cy="822854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352550" y="5223272"/>
            <a:ext cx="7729538" cy="403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2400" b="1" dirty="0">
                <a:solidFill>
                  <a:srgbClr val="2E0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Happens Most / أين تحدث غالباً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448800" y="5223272"/>
            <a:ext cx="7729538" cy="403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2400" b="1" dirty="0">
                <a:solidFill>
                  <a:srgbClr val="2E0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Catch It / إزاي تكتشفها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047750" y="5817526"/>
            <a:ext cx="16192500" cy="1319477"/>
          </a:xfrm>
          <a:prstGeom prst="rect">
            <a:avLst/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1047750" y="7111603"/>
            <a:ext cx="8096250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1352550" y="6090576"/>
            <a:ext cx="4658744" cy="385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714"/>
              </a:lnSpc>
              <a:buNone/>
            </a:pPr>
            <a:r>
              <a:rPr lang="en-US" sz="240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dates, statistics, citations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03885" y="6476603"/>
            <a:ext cx="823531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7703"/>
              </a:lnSpc>
              <a:buNone/>
            </a:pPr>
            <a:r>
              <a:rPr lang="en-US" sz="210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تواريخ وإحصائيات ومراجع محددة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144000" y="7111603"/>
            <a:ext cx="8096250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9448800" y="6090576"/>
            <a:ext cx="6439259" cy="385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714"/>
              </a:lnSpc>
              <a:buNone/>
            </a:pPr>
            <a:r>
              <a:rPr lang="en-US" sz="240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AI for its source, then verify independently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700135" y="6476603"/>
            <a:ext cx="823531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7703"/>
              </a:lnSpc>
              <a:buNone/>
            </a:pPr>
            <a:r>
              <a:rPr lang="en-US" sz="210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اطلب المصدر وتحقق بنفسك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047750" y="7137003"/>
            <a:ext cx="16192500" cy="1332177"/>
          </a:xfrm>
          <a:prstGeom prst="rect">
            <a:avLst/>
          </a:prstGeom>
          <a:solidFill>
            <a:srgbClr val="0F1E3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1047750" y="8443780"/>
            <a:ext cx="8096250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1352550" y="7422753"/>
            <a:ext cx="6561212" cy="385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714"/>
              </a:lnSpc>
              <a:buNone/>
            </a:pPr>
            <a:r>
              <a:rPr lang="en-US" sz="240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of real people, laws, or case references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03885" y="7808780"/>
            <a:ext cx="823531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7703"/>
              </a:lnSpc>
              <a:buNone/>
            </a:pPr>
            <a:r>
              <a:rPr lang="en-US" sz="210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أسماء أشخاص أو قوانين حقيقية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144000" y="8443780"/>
            <a:ext cx="8096250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9448800" y="7422753"/>
            <a:ext cx="5827994" cy="385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714"/>
              </a:lnSpc>
              <a:buNone/>
            </a:pPr>
            <a:r>
              <a:rPr lang="en-US" sz="240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Cross-check with a trusted second source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700135" y="7808780"/>
            <a:ext cx="823531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7703"/>
              </a:lnSpc>
              <a:buNone/>
            </a:pPr>
            <a:r>
              <a:rPr lang="en-US" sz="210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راجع مصدراً موثوقاً ثانياً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1047750" y="8469180"/>
            <a:ext cx="16192500" cy="1332177"/>
          </a:xfrm>
          <a:prstGeom prst="rect">
            <a:avLst/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1047750" y="9775957"/>
            <a:ext cx="8096250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1352550" y="8754930"/>
            <a:ext cx="4746904" cy="385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714"/>
              </a:lnSpc>
              <a:buNone/>
            </a:pPr>
            <a:r>
              <a:rPr lang="en-US" sz="240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about very recent events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03885" y="9140957"/>
            <a:ext cx="823531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7703"/>
              </a:lnSpc>
              <a:buNone/>
            </a:pPr>
            <a:r>
              <a:rPr lang="en-US" sz="210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 حدث حديث جداً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9144000" y="9775957"/>
            <a:ext cx="8096250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9448800" y="8754930"/>
            <a:ext cx="6386526" cy="385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714"/>
              </a:lnSpc>
              <a:buNone/>
            </a:pPr>
            <a:r>
              <a:rPr lang="en-US" sz="240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tool with live web search e.g. Perplexity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8700135" y="9140957"/>
            <a:ext cx="823531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7703"/>
              </a:lnSpc>
              <a:buNone/>
            </a:pPr>
            <a:r>
              <a:rPr lang="en-US" sz="210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استخدم أداة بحث حي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1047750" y="9801358"/>
            <a:ext cx="16192500" cy="1319477"/>
          </a:xfrm>
          <a:prstGeom prst="rect">
            <a:avLst/>
          </a:prstGeom>
          <a:solidFill>
            <a:srgbClr val="0F1E3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1352550" y="10087108"/>
            <a:ext cx="4484739" cy="385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714"/>
              </a:lnSpc>
              <a:buNone/>
            </a:pPr>
            <a:r>
              <a:rPr lang="en-US" sz="240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 inside long documents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603885" y="10473134"/>
            <a:ext cx="823531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7703"/>
              </a:lnSpc>
              <a:buNone/>
            </a:pPr>
            <a:r>
              <a:rPr lang="en-US" sz="210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أرقام داخل مستندات طويلة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448800" y="10087108"/>
            <a:ext cx="5479577" cy="385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714"/>
              </a:lnSpc>
              <a:buNone/>
            </a:pPr>
            <a:r>
              <a:rPr lang="en-US" sz="240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trust a total or percentage blindly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8700135" y="10473134"/>
            <a:ext cx="823531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7703"/>
              </a:lnSpc>
              <a:buNone/>
            </a:pPr>
            <a:r>
              <a:rPr lang="en-US" sz="210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تثق بأي إجمالي أو نسبة دون تحقق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1047750" y="11120834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1047750" y="11404468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14343856" y="11404468"/>
            <a:ext cx="31860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FOUNDATIONS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F5B9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376826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F5B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349743" y="762000"/>
            <a:ext cx="114551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F5B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اختبار سريع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314450"/>
            <a:ext cx="14716125" cy="1546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824"/>
              </a:lnSpc>
              <a:buNone/>
            </a:pPr>
            <a:r>
              <a:rPr lang="en-US" sz="4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is the SAFEST way to use an AI-generated statistic?</a:t>
            </a:r>
            <a:endParaRPr lang="en-US" sz="4950" dirty="0"/>
          </a:p>
        </p:txBody>
      </p:sp>
      <p:sp>
        <p:nvSpPr>
          <p:cNvPr id="6" name="Text 4"/>
          <p:cNvSpPr/>
          <p:nvPr/>
        </p:nvSpPr>
        <p:spPr>
          <a:xfrm>
            <a:off x="-571500" y="2975504"/>
            <a:ext cx="178117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154"/>
              </a:lnSpc>
              <a:buNone/>
            </a:pPr>
            <a:r>
              <a:rPr lang="en-US" sz="300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 مما يلي أكثر أماناً عند استخدام إحصائية أنشأها الذكاء الاصطناعي؟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047750" y="3966104"/>
            <a:ext cx="7972425" cy="1509977"/>
          </a:xfrm>
          <a:prstGeom prst="roundRect">
            <a:avLst>
              <a:gd name="adj" fmla="val 11354"/>
            </a:avLst>
          </a:prstGeom>
          <a:solidFill>
            <a:srgbClr val="122340"/>
          </a:solidFill>
          <a:ln w="25400">
            <a:solidFill>
              <a:srgbClr val="2338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416050" y="4406768"/>
            <a:ext cx="628650" cy="628650"/>
          </a:xfrm>
          <a:prstGeom prst="roundRect">
            <a:avLst>
              <a:gd name="adj" fmla="val 24242"/>
            </a:avLst>
          </a:prstGeom>
          <a:solidFill>
            <a:srgbClr val="2338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377950" y="4406768"/>
            <a:ext cx="7048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7500"/>
              </a:lnSpc>
              <a:buNone/>
            </a:pPr>
            <a:r>
              <a:rPr lang="en-US" sz="2550" b="1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2292350" y="4296304"/>
            <a:ext cx="5206590" cy="4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11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it directly in a client report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819024" y="4717256"/>
            <a:ext cx="520659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استخدمها مباشرة في تقرير للعميل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267825" y="3966104"/>
            <a:ext cx="7972425" cy="1509977"/>
          </a:xfrm>
          <a:prstGeom prst="roundRect">
            <a:avLst>
              <a:gd name="adj" fmla="val 11354"/>
            </a:avLst>
          </a:prstGeom>
          <a:solidFill>
            <a:srgbClr val="0F3328"/>
          </a:solidFill>
          <a:ln w="25400">
            <a:solidFill>
              <a:srgbClr val="2FCC9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9636125" y="4406768"/>
            <a:ext cx="628650" cy="628650"/>
          </a:xfrm>
          <a:prstGeom prst="roundRect">
            <a:avLst>
              <a:gd name="adj" fmla="val 24242"/>
            </a:avLst>
          </a:prstGeom>
          <a:solidFill>
            <a:srgbClr val="2FCC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9598025" y="4406768"/>
            <a:ext cx="7048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7500"/>
              </a:lnSpc>
              <a:buNone/>
            </a:pPr>
            <a:r>
              <a:rPr lang="en-US" sz="2550" b="1" dirty="0">
                <a:solidFill>
                  <a:srgbClr val="062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0512425" y="4296304"/>
            <a:ext cx="6275732" cy="4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11"/>
              </a:lnSpc>
              <a:buNone/>
            </a:pPr>
            <a:r>
              <a:rPr lang="en-US" sz="2550" b="1" dirty="0">
                <a:solidFill>
                  <a:srgbClr val="8CF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it against a trusted source first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941904" y="4717256"/>
            <a:ext cx="6275732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5FC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تحقق منها من مصدر موثوق أولاً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047750" y="5723731"/>
            <a:ext cx="7972425" cy="1509977"/>
          </a:xfrm>
          <a:prstGeom prst="roundRect">
            <a:avLst>
              <a:gd name="adj" fmla="val 11354"/>
            </a:avLst>
          </a:prstGeom>
          <a:solidFill>
            <a:srgbClr val="122340"/>
          </a:solidFill>
          <a:ln w="25400">
            <a:solidFill>
              <a:srgbClr val="2338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1416050" y="6164395"/>
            <a:ext cx="628650" cy="628650"/>
          </a:xfrm>
          <a:prstGeom prst="roundRect">
            <a:avLst>
              <a:gd name="adj" fmla="val 24242"/>
            </a:avLst>
          </a:prstGeom>
          <a:solidFill>
            <a:srgbClr val="2338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377950" y="6164395"/>
            <a:ext cx="7048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7500"/>
              </a:lnSpc>
              <a:buNone/>
            </a:pPr>
            <a:r>
              <a:rPr lang="en-US" sz="2550" b="1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2292350" y="6053931"/>
            <a:ext cx="6716659" cy="4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11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 it's correct if it sounds specific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681745" y="6474883"/>
            <a:ext cx="6716659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افترض إنها صحيحة لو شكلها دقيق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9267825" y="5723731"/>
            <a:ext cx="7972425" cy="1509977"/>
          </a:xfrm>
          <a:prstGeom prst="roundRect">
            <a:avLst>
              <a:gd name="adj" fmla="val 11354"/>
            </a:avLst>
          </a:prstGeom>
          <a:solidFill>
            <a:srgbClr val="122340"/>
          </a:solidFill>
          <a:ln w="25400">
            <a:solidFill>
              <a:srgbClr val="2338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9636125" y="6164395"/>
            <a:ext cx="628650" cy="628650"/>
          </a:xfrm>
          <a:prstGeom prst="roundRect">
            <a:avLst>
              <a:gd name="adj" fmla="val 24242"/>
            </a:avLst>
          </a:prstGeom>
          <a:solidFill>
            <a:srgbClr val="2338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9598025" y="6164395"/>
            <a:ext cx="7048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7500"/>
              </a:lnSpc>
              <a:buNone/>
            </a:pPr>
            <a:r>
              <a:rPr lang="en-US" sz="2550" b="1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10512425" y="6053931"/>
            <a:ext cx="5588728" cy="4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11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AI to confirm its own answer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10004358" y="6474883"/>
            <a:ext cx="558872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اطلب من الذكاء الاصطناعي يأكد إجابته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1047750" y="7614708"/>
            <a:ext cx="16192500" cy="923925"/>
          </a:xfrm>
          <a:custGeom>
            <a:avLst/>
            <a:gdLst/>
            <a:ahLst/>
            <a:cxnLst/>
            <a:rect l="l" t="t" r="r" b="b"/>
            <a:pathLst>
              <a:path w="16192500" h="923925">
                <a:moveTo>
                  <a:pt x="0" y="0"/>
                </a:moveTo>
                <a:lnTo>
                  <a:pt x="16021050" y="0"/>
                </a:lnTo>
                <a:arcTo wR="171450" hR="171450" stAng="16200000" swAng="5400000"/>
                <a:lnTo>
                  <a:pt x="16192500" y="752475"/>
                </a:lnTo>
                <a:arcTo wR="171450" hR="171450" stAng="0" swAng="5400000"/>
                <a:lnTo>
                  <a:pt x="0" y="923925"/>
                </a:lnTo>
                <a:lnTo>
                  <a:pt x="0" y="0"/>
                </a:lnTo>
                <a:close/>
              </a:path>
            </a:pathLst>
          </a:cu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1047750" y="7614708"/>
            <a:ext cx="93133" cy="923925"/>
          </a:xfrm>
          <a:prstGeom prst="rect">
            <a:avLst/>
          </a:prstGeom>
          <a:solidFill>
            <a:srgbClr val="2FCC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1483783" y="7862358"/>
            <a:ext cx="8287993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Correct answer highlighted — reveal after discussion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12095017" y="7862358"/>
            <a:ext cx="4802333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الإجابة الصحيحة موضّحة — اكشفها بعد النقاش</a:t>
            </a:r>
            <a:endParaRPr lang="en-US" sz="2250" dirty="0"/>
          </a:p>
        </p:txBody>
      </p:sp>
      <p:sp>
        <p:nvSpPr>
          <p:cNvPr id="31" name="Shape 29"/>
          <p:cNvSpPr/>
          <p:nvPr/>
        </p:nvSpPr>
        <p:spPr>
          <a:xfrm>
            <a:off x="1047750" y="9069917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1047750" y="9353550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4343856" y="9353550"/>
            <a:ext cx="31860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FOUNDATIONS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60841" cy="10287000"/>
          </a:xfrm>
          <a:prstGeom prst="rect">
            <a:avLst/>
          </a:prstGeom>
          <a:gradFill rotWithShape="1">
            <a:gsLst>
              <a:gs pos="0">
                <a:srgbClr val="3DA9F5">
                  <a:alpha val="100000"/>
                </a:srgbClr>
              </a:gs>
              <a:gs pos="100000">
                <a:srgbClr val="1C6BB0">
                  <a:alpha val="100000"/>
                </a:srgbClr>
              </a:gs>
            </a:gsLst>
            <a:lin ang="420000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71500" y="762000"/>
            <a:ext cx="2974843" cy="869950"/>
          </a:xfrm>
          <a:prstGeom prst="roundRect">
            <a:avLst>
              <a:gd name="adj" fmla="val 19708"/>
            </a:avLst>
          </a:prstGeom>
          <a:ln w="25400">
            <a:solidFill>
              <a:srgbClr val="0A3A60">
                <a:alpha val="60000"/>
              </a:srgbClr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825500" y="939800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87400" y="93980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9255"/>
              </a:lnSpc>
              <a:buNone/>
            </a:pPr>
            <a:r>
              <a:rPr lang="en-US" sz="2250" b="1" dirty="0">
                <a:solidFill>
                  <a:srgbClr val="3D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511300" y="1048411"/>
            <a:ext cx="1959147" cy="335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364"/>
              </a:lnSpc>
              <a:buNone/>
            </a:pPr>
            <a:r>
              <a:rPr lang="en-US" sz="1950" b="1" kern="0" spc="234" dirty="0">
                <a:solidFill>
                  <a:srgbClr val="04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LOGO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571500" y="4302125"/>
            <a:ext cx="6839625" cy="2305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0169"/>
              </a:lnSpc>
              <a:buNone/>
            </a:pPr>
            <a:r>
              <a:rPr lang="en-US" sz="21000" b="1" dirty="0">
                <a:solidFill>
                  <a:srgbClr val="0A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1000" dirty="0"/>
          </a:p>
        </p:txBody>
      </p:sp>
      <p:sp>
        <p:nvSpPr>
          <p:cNvPr id="8" name="Text 6"/>
          <p:cNvSpPr/>
          <p:nvPr/>
        </p:nvSpPr>
        <p:spPr>
          <a:xfrm>
            <a:off x="571500" y="9239250"/>
            <a:ext cx="683962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kern="0" spc="450" dirty="0">
                <a:solidFill>
                  <a:srgbClr val="04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 / 7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8313341" y="2710921"/>
            <a:ext cx="99243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2400" b="1" kern="0" spc="576" dirty="0">
                <a:solidFill>
                  <a:srgbClr val="3D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VOCABULARY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313341" y="3301471"/>
            <a:ext cx="9924375" cy="960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526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AI Terms</a:t>
            </a:r>
            <a:endParaRPr lang="en-US" sz="6600" dirty="0"/>
          </a:p>
        </p:txBody>
      </p:sp>
      <p:sp>
        <p:nvSpPr>
          <p:cNvPr id="11" name="Text 9"/>
          <p:cNvSpPr/>
          <p:nvPr/>
        </p:nvSpPr>
        <p:spPr>
          <a:xfrm>
            <a:off x="7411125" y="4509161"/>
            <a:ext cx="9924375" cy="731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2239"/>
              </a:lnSpc>
              <a:buNone/>
            </a:pPr>
            <a:r>
              <a:rPr lang="en-US" sz="3900" b="1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أهم المصطلحات في الذكاء الاصطناعي</a:t>
            </a:r>
            <a:endParaRPr lang="en-US" sz="3900" dirty="0"/>
          </a:p>
        </p:txBody>
      </p:sp>
      <p:sp>
        <p:nvSpPr>
          <p:cNvPr id="12" name="Shape 10"/>
          <p:cNvSpPr/>
          <p:nvPr/>
        </p:nvSpPr>
        <p:spPr>
          <a:xfrm>
            <a:off x="8313341" y="5488252"/>
            <a:ext cx="2095500" cy="57150"/>
          </a:xfrm>
          <a:prstGeom prst="roundRect">
            <a:avLst>
              <a:gd name="adj" fmla="val 50000"/>
            </a:avLst>
          </a:prstGeom>
          <a:solidFill>
            <a:srgbClr val="3DA9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8313341" y="5831152"/>
            <a:ext cx="8829675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398"/>
              </a:lnSpc>
              <a:buNone/>
            </a:pPr>
            <a:r>
              <a:rPr lang="en-US" sz="25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quick-reference glossary of the concepts you'll hear every day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7456091" y="7088452"/>
            <a:ext cx="9429750" cy="525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7143"/>
              </a:lnSpc>
              <a:buNone/>
            </a:pPr>
            <a:r>
              <a:rPr lang="en-US" sz="24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مسرد مرجعي سريع للمفاهيم اللي هتسمعها كل يوم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3DA9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26444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3D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KEY TERMS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328054" y="762000"/>
            <a:ext cx="7791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3D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 من ٤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6651466" cy="834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969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AI Concepts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4638192" y="1527837"/>
            <a:ext cx="2602058" cy="582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2895"/>
              </a:lnSpc>
              <a:buNone/>
            </a:pPr>
            <a:r>
              <a:rPr lang="en-US" sz="330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المفاهيم الأساسية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1047750" y="2548864"/>
            <a:ext cx="5219700" cy="7218627"/>
          </a:xfrm>
          <a:prstGeom prst="roundRect">
            <a:avLst>
              <a:gd name="adj" fmla="val 3285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047750" y="2548864"/>
            <a:ext cx="5219700" cy="76200"/>
          </a:xfrm>
          <a:prstGeom prst="rect">
            <a:avLst/>
          </a:prstGeom>
          <a:solidFill>
            <a:srgbClr val="3DA9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371600" y="2948914"/>
            <a:ext cx="50292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1053"/>
              </a:lnSpc>
              <a:buNone/>
            </a:pPr>
            <a:r>
              <a:rPr lang="en-US" sz="5400" b="1" dirty="0">
                <a:solidFill>
                  <a:srgbClr val="3D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1371600" y="3768064"/>
            <a:ext cx="5029200" cy="434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24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Language Model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" y="4297627"/>
            <a:ext cx="5029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b="1" dirty="0">
                <a:solidFill>
                  <a:srgbClr val="B9C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لغوي كبير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371600" y="4859602"/>
            <a:ext cx="4709160" cy="2109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481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system trained on massive text data. It learns patterns in language and can generate human-like text, answer questions, summarize, and translate.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234440" y="7064640"/>
            <a:ext cx="470916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ذكاء اصطناعي تم تدريبه على كميات ضخمة من النصوص — يفهم اللغة ويولّدها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371600" y="8508603"/>
            <a:ext cx="4572000" cy="16933"/>
          </a:xfrm>
          <a:prstGeom prst="rect">
            <a:avLst/>
          </a:prstGeom>
          <a:solidFill>
            <a:srgbClr val="2338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1371600" y="8696987"/>
            <a:ext cx="4709160" cy="784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89"/>
              </a:lnSpc>
              <a:buNone/>
            </a:pPr>
            <a:r>
              <a:rPr lang="en-US" sz="2100" b="1" dirty="0">
                <a:solidFill>
                  <a:srgbClr val="3D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ChatGPT, Claude, Gemini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6534150" y="2548864"/>
            <a:ext cx="5219700" cy="7218627"/>
          </a:xfrm>
          <a:prstGeom prst="roundRect">
            <a:avLst>
              <a:gd name="adj" fmla="val 3285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6534150" y="2548864"/>
            <a:ext cx="5219700" cy="76200"/>
          </a:xfrm>
          <a:prstGeom prst="rect">
            <a:avLst/>
          </a:prstGeom>
          <a:solidFill>
            <a:srgbClr val="3DA9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858000" y="2948914"/>
            <a:ext cx="50292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1053"/>
              </a:lnSpc>
              <a:buNone/>
            </a:pPr>
            <a:r>
              <a:rPr lang="en-US" sz="5400" b="1" dirty="0">
                <a:solidFill>
                  <a:srgbClr val="3D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6858000" y="3768064"/>
            <a:ext cx="4709160" cy="830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24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Programming Interface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00800" y="4693841"/>
            <a:ext cx="5029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b="1" dirty="0">
                <a:solidFill>
                  <a:srgbClr val="B9C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واجهة برمجة التطبيقات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6858000" y="5255816"/>
            <a:ext cx="4709160" cy="16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481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set of rules that lets two software applications talk to each other, without one seeing the underlying code of the other.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6720840" y="7046516"/>
            <a:ext cx="470916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طريقة تتيح لبرنامجَين التواصل مع بعض — زي كوبري بين تطبيقَين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6858000" y="8508603"/>
            <a:ext cx="4572000" cy="16933"/>
          </a:xfrm>
          <a:prstGeom prst="rect">
            <a:avLst/>
          </a:prstGeom>
          <a:solidFill>
            <a:srgbClr val="2338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858000" y="8696987"/>
            <a:ext cx="4709160" cy="784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89"/>
              </a:lnSpc>
              <a:buNone/>
            </a:pPr>
            <a:r>
              <a:rPr lang="en-US" sz="2100" b="1" dirty="0">
                <a:solidFill>
                  <a:srgbClr val="3D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your weather app fetches data via a weather API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12020550" y="2548864"/>
            <a:ext cx="5219700" cy="7218627"/>
          </a:xfrm>
          <a:prstGeom prst="roundRect">
            <a:avLst>
              <a:gd name="adj" fmla="val 3285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12020550" y="2548864"/>
            <a:ext cx="5219700" cy="76200"/>
          </a:xfrm>
          <a:prstGeom prst="rect">
            <a:avLst/>
          </a:prstGeom>
          <a:solidFill>
            <a:srgbClr val="3DA9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12344400" y="2948914"/>
            <a:ext cx="50292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1053"/>
              </a:lnSpc>
              <a:buNone/>
            </a:pPr>
            <a:r>
              <a:rPr lang="en-US" sz="5400" b="1" dirty="0">
                <a:solidFill>
                  <a:srgbClr val="3D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5400" dirty="0"/>
          </a:p>
        </p:txBody>
      </p:sp>
      <p:sp>
        <p:nvSpPr>
          <p:cNvPr id="28" name="Text 26"/>
          <p:cNvSpPr/>
          <p:nvPr/>
        </p:nvSpPr>
        <p:spPr>
          <a:xfrm>
            <a:off x="12344400" y="3768064"/>
            <a:ext cx="4709160" cy="830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24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1887200" y="4693841"/>
            <a:ext cx="5029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b="1" dirty="0">
                <a:solidFill>
                  <a:srgbClr val="B9C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التوليد المعزّز بالاسترجاع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12344400" y="5255816"/>
            <a:ext cx="4709160" cy="2109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481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an AI model with a search system: the AI retrieves relevant documents first, then generates a more accurate, grounded answer.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12207240" y="7460853"/>
            <a:ext cx="470916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بدل ما الـ AI يعتمد بس على تدريبه — بيدور أول على معلومات محددة ثم يجاوب بدقة أكبر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12344400" y="8508603"/>
            <a:ext cx="4572000" cy="16933"/>
          </a:xfrm>
          <a:prstGeom prst="rect">
            <a:avLst/>
          </a:prstGeom>
          <a:solidFill>
            <a:srgbClr val="2338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12344400" y="8696987"/>
            <a:ext cx="4709160" cy="784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89"/>
              </a:lnSpc>
              <a:buNone/>
            </a:pPr>
            <a:r>
              <a:rPr lang="en-US" sz="2100" b="1" dirty="0">
                <a:solidFill>
                  <a:srgbClr val="3D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a chatbot that searches company files before answering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1047750" y="9767491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1047750" y="10051124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14434608" y="10051124"/>
            <a:ext cx="30862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VOCABULARY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3DA9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26444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3D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KEY TERMS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328054" y="762000"/>
            <a:ext cx="7791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3D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 من ٤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0218037" cy="834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969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AI to the World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2874334" y="1527837"/>
            <a:ext cx="4365916" cy="582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2895"/>
              </a:lnSpc>
              <a:buNone/>
            </a:pPr>
            <a:r>
              <a:rPr lang="en-US" sz="330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ربط الذكاء الاصطناعي بالعالم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1047750" y="2548864"/>
            <a:ext cx="5219700" cy="7195740"/>
          </a:xfrm>
          <a:prstGeom prst="roundRect">
            <a:avLst>
              <a:gd name="adj" fmla="val 3285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047750" y="2548864"/>
            <a:ext cx="5219700" cy="76200"/>
          </a:xfrm>
          <a:prstGeom prst="rect">
            <a:avLst/>
          </a:prstGeom>
          <a:solidFill>
            <a:srgbClr val="3DA9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371600" y="2948914"/>
            <a:ext cx="50292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1053"/>
              </a:lnSpc>
              <a:buNone/>
            </a:pPr>
            <a:r>
              <a:rPr lang="en-US" sz="5400" b="1" dirty="0">
                <a:solidFill>
                  <a:srgbClr val="3D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1371600" y="3768064"/>
            <a:ext cx="5029200" cy="434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24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Context Protocol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" y="4297627"/>
            <a:ext cx="5029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b="1" dirty="0">
                <a:solidFill>
                  <a:srgbClr val="B9C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بروتوكول سياق النموذج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371600" y="4859602"/>
            <a:ext cx="4709160" cy="2109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481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open standard that lets AI assistants connect to external tools, data sources, and services in a standardized way — like a universal plug for AI integrations.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234440" y="7064640"/>
            <a:ext cx="470916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معيار مفتوح يسمح للـ AI يتوصل بأدوات وخدمات خارجية بطريقة موحّدة وآمنة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371600" y="8112390"/>
            <a:ext cx="4572000" cy="16933"/>
          </a:xfrm>
          <a:prstGeom prst="rect">
            <a:avLst/>
          </a:prstGeom>
          <a:solidFill>
            <a:srgbClr val="2338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1371600" y="8300773"/>
            <a:ext cx="4709160" cy="1158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89"/>
              </a:lnSpc>
              <a:buNone/>
            </a:pPr>
            <a:r>
              <a:rPr lang="en-US" sz="2100" b="1" dirty="0">
                <a:solidFill>
                  <a:srgbClr val="3D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Claude connects to Google Drive, Jira, or Slack via MCP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6534150" y="2548864"/>
            <a:ext cx="5219700" cy="7195740"/>
          </a:xfrm>
          <a:prstGeom prst="roundRect">
            <a:avLst>
              <a:gd name="adj" fmla="val 3285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6534150" y="2548864"/>
            <a:ext cx="5219700" cy="76200"/>
          </a:xfrm>
          <a:prstGeom prst="rect">
            <a:avLst/>
          </a:prstGeom>
          <a:solidFill>
            <a:srgbClr val="3DA9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858000" y="2948914"/>
            <a:ext cx="5029200" cy="708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416"/>
              </a:lnSpc>
              <a:buNone/>
            </a:pPr>
            <a:r>
              <a:rPr lang="en-US" sz="4800" b="1" dirty="0">
                <a:solidFill>
                  <a:srgbClr val="3D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6858000" y="3752718"/>
            <a:ext cx="5029200" cy="434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24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00800" y="4282281"/>
            <a:ext cx="5029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b="1" dirty="0">
                <a:solidFill>
                  <a:srgbClr val="B9C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العامل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6858000" y="4844256"/>
            <a:ext cx="4709160" cy="2109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481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that acts autonomously — it can plan, take actions, use tools, and complete multi-step tasks on its own without a human guiding every step.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6720840" y="7049294"/>
            <a:ext cx="470916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الـ AI اللي بيشتغل لوحده — بيخطط وينفذ خطوات متعددة من غير ما تقوله كل حاجة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6858000" y="8112390"/>
            <a:ext cx="4572000" cy="16933"/>
          </a:xfrm>
          <a:prstGeom prst="rect">
            <a:avLst/>
          </a:prstGeom>
          <a:solidFill>
            <a:srgbClr val="2338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858000" y="8300773"/>
            <a:ext cx="4709160" cy="1158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89"/>
              </a:lnSpc>
              <a:buNone/>
            </a:pPr>
            <a:r>
              <a:rPr lang="en-US" sz="2100" b="1" dirty="0">
                <a:solidFill>
                  <a:srgbClr val="3D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an agent that researches a topic, writes a report, and emails it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12020550" y="2548864"/>
            <a:ext cx="5219700" cy="7195740"/>
          </a:xfrm>
          <a:prstGeom prst="roundRect">
            <a:avLst>
              <a:gd name="adj" fmla="val 3285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12020550" y="2548864"/>
            <a:ext cx="5219700" cy="76200"/>
          </a:xfrm>
          <a:prstGeom prst="rect">
            <a:avLst/>
          </a:prstGeom>
          <a:solidFill>
            <a:srgbClr val="3DA9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12344400" y="2948914"/>
            <a:ext cx="50292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1053"/>
              </a:lnSpc>
              <a:buNone/>
            </a:pPr>
            <a:r>
              <a:rPr lang="en-US" sz="5400" b="1" dirty="0">
                <a:solidFill>
                  <a:srgbClr val="3D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</a:t>
            </a:r>
            <a:endParaRPr lang="en-US" sz="5400" dirty="0"/>
          </a:p>
        </p:txBody>
      </p:sp>
      <p:sp>
        <p:nvSpPr>
          <p:cNvPr id="28" name="Text 26"/>
          <p:cNvSpPr/>
          <p:nvPr/>
        </p:nvSpPr>
        <p:spPr>
          <a:xfrm>
            <a:off x="12344400" y="3768064"/>
            <a:ext cx="5029200" cy="434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24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1887200" y="4297627"/>
            <a:ext cx="50292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b="1" dirty="0">
                <a:solidFill>
                  <a:srgbClr val="B9C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مستودع الكود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12344400" y="4859602"/>
            <a:ext cx="4709160" cy="2109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481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storage location — usually on GitHub — where code, files, and the entire history of a project are saved and managed. Teams collaborate via repos.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12207240" y="7064640"/>
            <a:ext cx="470916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مكان تخزين الكود وملفات المشروع — بيسجّل كل التغييرات ويسهّل التعاون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12344400" y="8485717"/>
            <a:ext cx="4572000" cy="16933"/>
          </a:xfrm>
          <a:prstGeom prst="rect">
            <a:avLst/>
          </a:prstGeom>
          <a:solidFill>
            <a:srgbClr val="2338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12344400" y="8674100"/>
            <a:ext cx="4709160" cy="784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89"/>
              </a:lnSpc>
              <a:buNone/>
            </a:pPr>
            <a:r>
              <a:rPr lang="en-US" sz="2100" b="1" dirty="0">
                <a:solidFill>
                  <a:srgbClr val="3D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GitHub repositories host millions of open-source projects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1047750" y="9744604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1047750" y="10028238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14434608" y="10028238"/>
            <a:ext cx="30862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VOCABULARY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3DA9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26444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3D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KEY TERMS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328054" y="762000"/>
            <a:ext cx="7791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3D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 من ٤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9924084" cy="834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969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&amp; The Road to AGI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3247595" y="1527837"/>
            <a:ext cx="3992655" cy="582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2895"/>
              </a:lnSpc>
              <a:buNone/>
            </a:pPr>
            <a:r>
              <a:rPr lang="en-US" sz="330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الوكلاء وطريق الذكاء العام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1047750" y="2606014"/>
            <a:ext cx="7934325" cy="6778228"/>
          </a:xfrm>
          <a:prstGeom prst="roundRect">
            <a:avLst>
              <a:gd name="adj" fmla="val 2810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047750" y="2606014"/>
            <a:ext cx="7934325" cy="76200"/>
          </a:xfrm>
          <a:prstGeom prst="rect">
            <a:avLst/>
          </a:prstGeom>
          <a:solidFill>
            <a:srgbClr val="3DA9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466850" y="3101314"/>
            <a:ext cx="7805738" cy="750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7917"/>
              </a:lnSpc>
              <a:buNone/>
            </a:pPr>
            <a:r>
              <a:rPr lang="en-US" sz="5100" b="1" dirty="0">
                <a:solidFill>
                  <a:srgbClr val="3D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</a:t>
            </a:r>
            <a:endParaRPr lang="en-US" sz="5100" dirty="0"/>
          </a:p>
        </p:txBody>
      </p:sp>
      <p:sp>
        <p:nvSpPr>
          <p:cNvPr id="10" name="Text 8"/>
          <p:cNvSpPr/>
          <p:nvPr/>
        </p:nvSpPr>
        <p:spPr>
          <a:xfrm>
            <a:off x="1466850" y="3985154"/>
            <a:ext cx="7805738" cy="483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21"/>
              </a:lnSpc>
              <a:buNone/>
            </a:pPr>
            <a:r>
              <a:rPr lang="en-US" sz="27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 Agent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757238" y="4602295"/>
            <a:ext cx="780573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8571"/>
              </a:lnSpc>
              <a:buNone/>
            </a:pPr>
            <a:r>
              <a:rPr lang="en-US" sz="2400" b="1" dirty="0">
                <a:solidFill>
                  <a:srgbClr val="B9C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وكيل الذكاء الاصطناعي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466850" y="5230945"/>
            <a:ext cx="7309009" cy="1916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51"/>
              </a:lnSpc>
              <a:buNone/>
            </a:pPr>
            <a:r>
              <a:rPr lang="en-US" sz="25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software entity that perceives its environment, makes decisions, and takes actions to achieve a goal — often using tools like web search, code execution, or file access.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757238" y="7280407"/>
            <a:ext cx="7805738" cy="525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7143"/>
              </a:lnSpc>
              <a:buNone/>
            </a:pPr>
            <a:r>
              <a:rPr lang="en-US" sz="24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برنامج ذكي بيشوف محيطه ويتخذ قرارات وينفّذ مهام لتحقيق هدف معيّن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466850" y="7957608"/>
            <a:ext cx="7096125" cy="16933"/>
          </a:xfrm>
          <a:prstGeom prst="rect">
            <a:avLst/>
          </a:prstGeom>
          <a:solidFill>
            <a:srgbClr val="2338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1466850" y="8165042"/>
            <a:ext cx="7309009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b="1" dirty="0">
                <a:solidFill>
                  <a:srgbClr val="3D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Types: research agents, coding agents, customer service agents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305925" y="2606014"/>
            <a:ext cx="7934325" cy="6778228"/>
          </a:xfrm>
          <a:prstGeom prst="roundRect">
            <a:avLst>
              <a:gd name="adj" fmla="val 2810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9305925" y="2606014"/>
            <a:ext cx="7934325" cy="76200"/>
          </a:xfrm>
          <a:prstGeom prst="rect">
            <a:avLst/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9725025" y="3101314"/>
            <a:ext cx="7805738" cy="750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7917"/>
              </a:lnSpc>
              <a:buNone/>
            </a:pPr>
            <a:r>
              <a:rPr lang="en-US" sz="5100" b="1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</a:t>
            </a:r>
            <a:endParaRPr lang="en-US" sz="5100" dirty="0"/>
          </a:p>
        </p:txBody>
      </p:sp>
      <p:sp>
        <p:nvSpPr>
          <p:cNvPr id="19" name="Text 17"/>
          <p:cNvSpPr/>
          <p:nvPr/>
        </p:nvSpPr>
        <p:spPr>
          <a:xfrm>
            <a:off x="9725025" y="3985154"/>
            <a:ext cx="7805738" cy="483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21"/>
              </a:lnSpc>
              <a:buNone/>
            </a:pPr>
            <a:r>
              <a:rPr lang="en-US" sz="27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General Intelligence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9015413" y="4602295"/>
            <a:ext cx="780573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8571"/>
              </a:lnSpc>
              <a:buNone/>
            </a:pPr>
            <a:r>
              <a:rPr lang="en-US" sz="2400" b="1" dirty="0">
                <a:solidFill>
                  <a:srgbClr val="B9C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العام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725025" y="5230945"/>
            <a:ext cx="7309009" cy="14466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51"/>
              </a:lnSpc>
              <a:buNone/>
            </a:pPr>
            <a:r>
              <a:rPr lang="en-US" sz="25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hypothetical AI that can perform any intellectual task a human can do — with full understanding, learning, and adaptability across all domains.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9512141" y="6810904"/>
            <a:ext cx="7309009" cy="10133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7143"/>
              </a:lnSpc>
              <a:buNone/>
            </a:pPr>
            <a:r>
              <a:rPr lang="en-US" sz="24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ذكاء اصطناعي افتراضي قادر على أي مهمة فكرية يقدر يعملها الإنسان — لسه في مرحلة البحث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725025" y="7957608"/>
            <a:ext cx="7096125" cy="16933"/>
          </a:xfrm>
          <a:prstGeom prst="rect">
            <a:avLst/>
          </a:prstGeom>
          <a:solidFill>
            <a:srgbClr val="2338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9725025" y="8165042"/>
            <a:ext cx="7309009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b="1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not yet achieved — current AI is 'narrow', not general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1047750" y="9384242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1047750" y="9667875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4434608" y="9667875"/>
            <a:ext cx="30862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VOCABULARY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3DA9F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26444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3D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KEY TERMS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328054" y="762000"/>
            <a:ext cx="7791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3D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 من ٤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1563468" cy="150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192"/>
              </a:lnSpc>
              <a:buNone/>
            </a:pPr>
            <a:r>
              <a:rPr lang="en-US" sz="5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Claude: Connectors vs Skills vs Plugins</a:t>
            </a:r>
            <a:endParaRPr lang="en-US" sz="5250" dirty="0"/>
          </a:p>
        </p:txBody>
      </p:sp>
      <p:sp>
        <p:nvSpPr>
          <p:cNvPr id="6" name="Text 4"/>
          <p:cNvSpPr/>
          <p:nvPr/>
        </p:nvSpPr>
        <p:spPr>
          <a:xfrm>
            <a:off x="12125443" y="1802342"/>
            <a:ext cx="5114807" cy="978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3418"/>
              </a:lnSpc>
              <a:buNone/>
            </a:pPr>
            <a:r>
              <a:rPr lang="en-US" sz="285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كلود: الموصّلات مقابل المهارات مقابل الإضافات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3638550" y="3162300"/>
            <a:ext cx="4625446" cy="1180968"/>
          </a:xfrm>
          <a:custGeom>
            <a:avLst/>
            <a:gdLst/>
            <a:ahLst/>
            <a:cxnLst/>
            <a:rect l="l" t="t" r="r" b="b"/>
            <a:pathLst>
              <a:path w="4625446" h="1180968">
                <a:moveTo>
                  <a:pt x="133350" y="0"/>
                </a:moveTo>
                <a:lnTo>
                  <a:pt x="4625446" y="0"/>
                </a:lnTo>
                <a:lnTo>
                  <a:pt x="4625446" y="1180968"/>
                </a:lnTo>
                <a:lnTo>
                  <a:pt x="0" y="1180968"/>
                </a:lnTo>
                <a:lnTo>
                  <a:pt x="0" y="133350"/>
                </a:lnTo>
                <a:arcTo wR="133350" hR="133350" stAng="10800000" swAng="5400000"/>
                <a:close/>
              </a:path>
            </a:pathLst>
          </a:custGeom>
          <a:solidFill>
            <a:srgbClr val="1D4F7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905250" y="3380317"/>
            <a:ext cx="1875631" cy="402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318"/>
              </a:lnSpc>
              <a:buNone/>
            </a:pPr>
            <a:r>
              <a:rPr lang="en-US" sz="2550" b="1" dirty="0">
                <a:solidFill>
                  <a:srgbClr val="BF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Connectors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3496045" y="3760391"/>
            <a:ext cx="4501250" cy="411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9189"/>
              </a:lnSpc>
              <a:buNone/>
            </a:pPr>
            <a:r>
              <a:rPr lang="en-US" sz="2100" dirty="0">
                <a:solidFill>
                  <a:srgbClr val="BF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الموصّلات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263996" y="3162300"/>
            <a:ext cx="5236501" cy="1180968"/>
          </a:xfrm>
          <a:prstGeom prst="rect">
            <a:avLst/>
          </a:prstGeom>
          <a:solidFill>
            <a:srgbClr val="1D4F7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8530696" y="3380317"/>
            <a:ext cx="922469" cy="402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318"/>
              </a:lnSpc>
              <a:buNone/>
            </a:pPr>
            <a:r>
              <a:rPr lang="en-US" sz="2550" b="1" dirty="0">
                <a:solidFill>
                  <a:srgbClr val="BF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8060386" y="3760391"/>
            <a:ext cx="5173411" cy="411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9189"/>
              </a:lnSpc>
              <a:buNone/>
            </a:pPr>
            <a:r>
              <a:rPr lang="en-US" sz="2100" dirty="0">
                <a:solidFill>
                  <a:srgbClr val="BF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المهارات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3500497" y="3162300"/>
            <a:ext cx="3739753" cy="1180968"/>
          </a:xfrm>
          <a:custGeom>
            <a:avLst/>
            <a:gdLst/>
            <a:ahLst/>
            <a:cxnLst/>
            <a:rect l="l" t="t" r="r" b="b"/>
            <a:pathLst>
              <a:path w="3739753" h="1180968">
                <a:moveTo>
                  <a:pt x="0" y="0"/>
                </a:moveTo>
                <a:lnTo>
                  <a:pt x="3606403" y="0"/>
                </a:lnTo>
                <a:arcTo wR="133350" hR="133350" stAng="16200000" swAng="5400000"/>
                <a:lnTo>
                  <a:pt x="3739753" y="1180968"/>
                </a:lnTo>
                <a:lnTo>
                  <a:pt x="0" y="1180968"/>
                </a:lnTo>
                <a:lnTo>
                  <a:pt x="0" y="0"/>
                </a:lnTo>
                <a:close/>
              </a:path>
            </a:pathLst>
          </a:custGeom>
          <a:solidFill>
            <a:srgbClr val="1D4F7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3767197" y="3380317"/>
            <a:ext cx="1245790" cy="402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318"/>
              </a:lnSpc>
              <a:buNone/>
            </a:pPr>
            <a:r>
              <a:rPr lang="en-US" sz="2550" b="1" dirty="0">
                <a:solidFill>
                  <a:srgbClr val="BF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3446562" y="3760391"/>
            <a:ext cx="3526988" cy="411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9189"/>
              </a:lnSpc>
              <a:buNone/>
            </a:pPr>
            <a:r>
              <a:rPr lang="en-US" sz="2100" dirty="0">
                <a:solidFill>
                  <a:srgbClr val="BF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الإضافات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047750" y="4343268"/>
            <a:ext cx="16192500" cy="2054754"/>
          </a:xfrm>
          <a:prstGeom prst="rect">
            <a:avLst/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1047750" y="6372622"/>
            <a:ext cx="2590800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314450" y="4590918"/>
            <a:ext cx="2135124" cy="1572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3D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3638550" y="6372622"/>
            <a:ext cx="4625446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3905250" y="4590918"/>
            <a:ext cx="4230809" cy="1572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0197"/>
              </a:lnSpc>
              <a:buNone/>
            </a:pPr>
            <a:r>
              <a:rPr lang="en-US" sz="2175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Pre-built integrations connecting Claude to external apps via MCP — Google Drive, Gmail, Jira, Slack</a:t>
            </a:r>
            <a:endParaRPr lang="en-US" sz="2175" dirty="0"/>
          </a:p>
        </p:txBody>
      </p:sp>
      <p:sp>
        <p:nvSpPr>
          <p:cNvPr id="21" name="Shape 19"/>
          <p:cNvSpPr/>
          <p:nvPr/>
        </p:nvSpPr>
        <p:spPr>
          <a:xfrm>
            <a:off x="8263996" y="6372622"/>
            <a:ext cx="5236501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8530696" y="4590918"/>
            <a:ext cx="4860196" cy="1572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0197"/>
              </a:lnSpc>
              <a:buNone/>
            </a:pPr>
            <a:r>
              <a:rPr lang="en-US" sz="2175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instructions/workflows embedded in a Project that shape Claude's behavior for a use case</a:t>
            </a:r>
            <a:endParaRPr lang="en-US" sz="2175" dirty="0"/>
          </a:p>
        </p:txBody>
      </p:sp>
      <p:sp>
        <p:nvSpPr>
          <p:cNvPr id="23" name="Shape 21"/>
          <p:cNvSpPr/>
          <p:nvPr/>
        </p:nvSpPr>
        <p:spPr>
          <a:xfrm>
            <a:off x="13500497" y="6372622"/>
            <a:ext cx="3739753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13767197" y="4590918"/>
            <a:ext cx="3318546" cy="1572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0197"/>
              </a:lnSpc>
              <a:buNone/>
            </a:pPr>
            <a:r>
              <a:rPr lang="en-US" sz="2175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Add-ons that extend Claude Code with new commands, agents &amp; MCP servers</a:t>
            </a:r>
            <a:endParaRPr lang="en-US" sz="2175" dirty="0"/>
          </a:p>
        </p:txBody>
      </p:sp>
      <p:sp>
        <p:nvSpPr>
          <p:cNvPr id="25" name="Shape 23"/>
          <p:cNvSpPr/>
          <p:nvPr/>
        </p:nvSpPr>
        <p:spPr>
          <a:xfrm>
            <a:off x="1047750" y="6398022"/>
            <a:ext cx="16192500" cy="1376892"/>
          </a:xfrm>
          <a:prstGeom prst="rect">
            <a:avLst/>
          </a:prstGeom>
          <a:solidFill>
            <a:srgbClr val="0F1E3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1047750" y="7749513"/>
            <a:ext cx="2590800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1314450" y="6645672"/>
            <a:ext cx="2135124" cy="894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3D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بالعربي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3638550" y="7749513"/>
            <a:ext cx="4625446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3766487" y="6645672"/>
            <a:ext cx="4230809" cy="894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lnSpc>
                <a:spcPct val="133076"/>
              </a:lnSpc>
              <a:buNone/>
            </a:pPr>
            <a:r>
              <a:rPr lang="en-US" sz="2175" dirty="0">
                <a:solidFill>
                  <a:srgbClr val="B9C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ربط كلود بتطبيقات خارجية جاهزة مثل Google Drive أو Jira أو Slack</a:t>
            </a:r>
            <a:endParaRPr lang="en-US" sz="2175" dirty="0"/>
          </a:p>
        </p:txBody>
      </p:sp>
      <p:sp>
        <p:nvSpPr>
          <p:cNvPr id="30" name="Shape 28"/>
          <p:cNvSpPr/>
          <p:nvPr/>
        </p:nvSpPr>
        <p:spPr>
          <a:xfrm>
            <a:off x="8263996" y="7749513"/>
            <a:ext cx="5236501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8373601" y="6645672"/>
            <a:ext cx="4860196" cy="894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lnSpc>
                <a:spcPct val="133076"/>
              </a:lnSpc>
              <a:buNone/>
            </a:pPr>
            <a:r>
              <a:rPr lang="en-US" sz="2175" dirty="0">
                <a:solidFill>
                  <a:srgbClr val="B9C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تعليمات مخصصة تحدد طريقة تفكير كلود وردوده لمهمة معيّنة</a:t>
            </a:r>
            <a:endParaRPr lang="en-US" sz="2175" dirty="0"/>
          </a:p>
        </p:txBody>
      </p:sp>
      <p:sp>
        <p:nvSpPr>
          <p:cNvPr id="32" name="Shape 30"/>
          <p:cNvSpPr/>
          <p:nvPr/>
        </p:nvSpPr>
        <p:spPr>
          <a:xfrm>
            <a:off x="13500497" y="7749513"/>
            <a:ext cx="3739753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13655004" y="6645672"/>
            <a:ext cx="3318546" cy="894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lnSpc>
                <a:spcPct val="133076"/>
              </a:lnSpc>
              <a:buNone/>
            </a:pPr>
            <a:r>
              <a:rPr lang="en-US" sz="2175" dirty="0">
                <a:solidFill>
                  <a:srgbClr val="B9C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إضافات تُوسّع قدرات Claude Code بأدوات وواجهات جديدة</a:t>
            </a:r>
            <a:endParaRPr lang="en-US" sz="2175" dirty="0"/>
          </a:p>
        </p:txBody>
      </p:sp>
      <p:sp>
        <p:nvSpPr>
          <p:cNvPr id="34" name="Shape 32"/>
          <p:cNvSpPr/>
          <p:nvPr/>
        </p:nvSpPr>
        <p:spPr>
          <a:xfrm>
            <a:off x="1047750" y="7774914"/>
            <a:ext cx="16192500" cy="2054754"/>
          </a:xfrm>
          <a:prstGeom prst="rect">
            <a:avLst/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1314450" y="8022564"/>
            <a:ext cx="2135124" cy="1597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3DA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3905250" y="8022564"/>
            <a:ext cx="4230809" cy="1597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0197"/>
              </a:lnSpc>
              <a:buNone/>
            </a:pPr>
            <a:r>
              <a:rPr lang="en-US" sz="2175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need Claude to read emails, update a task, or search your files</a:t>
            </a:r>
            <a:endParaRPr lang="en-US" sz="2175" dirty="0"/>
          </a:p>
        </p:txBody>
      </p:sp>
      <p:sp>
        <p:nvSpPr>
          <p:cNvPr id="37" name="Text 35"/>
          <p:cNvSpPr/>
          <p:nvPr/>
        </p:nvSpPr>
        <p:spPr>
          <a:xfrm>
            <a:off x="8530696" y="8022564"/>
            <a:ext cx="4860196" cy="1597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0197"/>
              </a:lnSpc>
              <a:buNone/>
            </a:pPr>
            <a:r>
              <a:rPr lang="en-US" sz="2175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want Claude to always follow your standards without repeating instructions</a:t>
            </a:r>
            <a:endParaRPr lang="en-US" sz="2175" dirty="0"/>
          </a:p>
        </p:txBody>
      </p:sp>
      <p:sp>
        <p:nvSpPr>
          <p:cNvPr id="38" name="Text 36"/>
          <p:cNvSpPr/>
          <p:nvPr/>
        </p:nvSpPr>
        <p:spPr>
          <a:xfrm>
            <a:off x="13767197" y="8022564"/>
            <a:ext cx="3318546" cy="1597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0197"/>
              </a:lnSpc>
              <a:buNone/>
            </a:pPr>
            <a:r>
              <a:rPr lang="en-US" sz="2175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need a capability Claude doesn't have natively — e.g. running code</a:t>
            </a:r>
            <a:endParaRPr lang="en-US" sz="2175" dirty="0"/>
          </a:p>
        </p:txBody>
      </p:sp>
      <p:sp>
        <p:nvSpPr>
          <p:cNvPr id="39" name="Shape 37"/>
          <p:cNvSpPr/>
          <p:nvPr/>
        </p:nvSpPr>
        <p:spPr>
          <a:xfrm>
            <a:off x="1047750" y="9829667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1047750" y="10113301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14434608" y="10113301"/>
            <a:ext cx="30862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VOCABULARY</a:t>
            </a:r>
            <a:endParaRPr lang="en-US" sz="2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60841" cy="10287000"/>
          </a:xfrm>
          <a:prstGeom prst="rect">
            <a:avLst/>
          </a:prstGeom>
          <a:gradFill rotWithShape="1">
            <a:gsLst>
              <a:gs pos="0">
                <a:srgbClr val="2FCC94">
                  <a:alpha val="100000"/>
                </a:srgbClr>
              </a:gs>
              <a:gs pos="100000">
                <a:srgbClr val="158B62">
                  <a:alpha val="100000"/>
                </a:srgbClr>
              </a:gs>
            </a:gsLst>
            <a:lin ang="420000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71500" y="762000"/>
            <a:ext cx="2974843" cy="869950"/>
          </a:xfrm>
          <a:prstGeom prst="roundRect">
            <a:avLst>
              <a:gd name="adj" fmla="val 19708"/>
            </a:avLst>
          </a:prstGeom>
          <a:ln w="25400">
            <a:solidFill>
              <a:srgbClr val="0A422E">
                <a:alpha val="60000"/>
              </a:srgbClr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825500" y="939800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87400" y="93980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9255"/>
              </a:lnSpc>
              <a:buNone/>
            </a:pPr>
            <a:r>
              <a:rPr lang="en-US" sz="2250" b="1" dirty="0">
                <a:solidFill>
                  <a:srgbClr val="2FCC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511300" y="1048411"/>
            <a:ext cx="1959147" cy="335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364"/>
              </a:lnSpc>
              <a:buNone/>
            </a:pPr>
            <a:r>
              <a:rPr lang="en-US" sz="1950" b="1" kern="0" spc="234" dirty="0">
                <a:solidFill>
                  <a:srgbClr val="0533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LOGO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571500" y="4302125"/>
            <a:ext cx="6839625" cy="2305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0169"/>
              </a:lnSpc>
              <a:buNone/>
            </a:pPr>
            <a:r>
              <a:rPr lang="en-US" sz="21000" b="1" dirty="0">
                <a:solidFill>
                  <a:srgbClr val="0A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1000" dirty="0"/>
          </a:p>
        </p:txBody>
      </p:sp>
      <p:sp>
        <p:nvSpPr>
          <p:cNvPr id="8" name="Text 6"/>
          <p:cNvSpPr/>
          <p:nvPr/>
        </p:nvSpPr>
        <p:spPr>
          <a:xfrm>
            <a:off x="571500" y="9239250"/>
            <a:ext cx="683962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kern="0" spc="450" dirty="0">
                <a:solidFill>
                  <a:srgbClr val="0533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 / 7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8313341" y="2249884"/>
            <a:ext cx="99243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2400" b="1" kern="0" spc="576" dirty="0">
                <a:solidFill>
                  <a:srgbClr val="2FCC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MINDSET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313341" y="2840434"/>
            <a:ext cx="9292824" cy="1881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526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Fluency: The 4D Rule</a:t>
            </a:r>
            <a:endParaRPr lang="en-US" sz="6600" dirty="0"/>
          </a:p>
        </p:txBody>
      </p:sp>
      <p:sp>
        <p:nvSpPr>
          <p:cNvPr id="11" name="Text 9"/>
          <p:cNvSpPr/>
          <p:nvPr/>
        </p:nvSpPr>
        <p:spPr>
          <a:xfrm>
            <a:off x="7411125" y="4970066"/>
            <a:ext cx="9924375" cy="731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2239"/>
              </a:lnSpc>
              <a:buNone/>
            </a:pPr>
            <a:r>
              <a:rPr lang="en-US" sz="3900" b="1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إتقان الذكاء الاصطناعي: قاعدة 4D</a:t>
            </a:r>
            <a:endParaRPr lang="en-US" sz="3900" dirty="0"/>
          </a:p>
        </p:txBody>
      </p:sp>
      <p:sp>
        <p:nvSpPr>
          <p:cNvPr id="12" name="Shape 10"/>
          <p:cNvSpPr/>
          <p:nvPr/>
        </p:nvSpPr>
        <p:spPr>
          <a:xfrm>
            <a:off x="8313341" y="5949156"/>
            <a:ext cx="2095500" cy="57150"/>
          </a:xfrm>
          <a:prstGeom prst="roundRect">
            <a:avLst>
              <a:gd name="adj" fmla="val 50000"/>
            </a:avLst>
          </a:prstGeom>
          <a:solidFill>
            <a:srgbClr val="2FCC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8313341" y="6292056"/>
            <a:ext cx="8829675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398"/>
              </a:lnSpc>
              <a:buNone/>
            </a:pPr>
            <a:r>
              <a:rPr lang="en-US" sz="25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difference between a beginner and a professional = how they use AI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7456091" y="7549356"/>
            <a:ext cx="9429750" cy="525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7143"/>
              </a:lnSpc>
              <a:buNone/>
            </a:pPr>
            <a:r>
              <a:rPr lang="en-US" sz="24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الفرق بين مبتدئ ومحترف = طريقة استخدامه للـ AI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2FCC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239425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2FCC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00645" y="762000"/>
            <a:ext cx="90103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2FCC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إطار عمل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9114697" cy="834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969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Fluency: The 4D Rule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1161554" y="1577314"/>
            <a:ext cx="607869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2500"/>
              </a:lnSpc>
              <a:buNone/>
            </a:pPr>
            <a:r>
              <a:rPr lang="en-US" sz="300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علشان تستخدم AI باحتراف، اتبع قاعدة 4D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047750" y="2548864"/>
            <a:ext cx="3862387" cy="5962253"/>
          </a:xfrm>
          <a:prstGeom prst="roundRect">
            <a:avLst>
              <a:gd name="adj" fmla="val 4932"/>
            </a:avLst>
          </a:prstGeom>
          <a:solidFill>
            <a:srgbClr val="122E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371600" y="2910814"/>
            <a:ext cx="762000" cy="762000"/>
          </a:xfrm>
          <a:prstGeom prst="roundRect">
            <a:avLst>
              <a:gd name="adj" fmla="val 25000"/>
            </a:avLst>
          </a:prstGeom>
          <a:solidFill>
            <a:srgbClr val="2FCC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333500" y="2910814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328"/>
              </a:lnSpc>
              <a:buNone/>
            </a:pPr>
            <a:r>
              <a:rPr lang="en-US" sz="3150" b="1" dirty="0">
                <a:solidFill>
                  <a:srgbClr val="062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1371600" y="3806164"/>
            <a:ext cx="3536156" cy="563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068"/>
              </a:lnSpc>
              <a:buNone/>
            </a:pPr>
            <a:r>
              <a:rPr lang="en-US" sz="3450" b="1" dirty="0">
                <a:solidFill>
                  <a:srgbClr val="4FE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1050131" y="4465241"/>
            <a:ext cx="3536156" cy="491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705"/>
              </a:lnSpc>
              <a:buNone/>
            </a:pPr>
            <a:r>
              <a:rPr lang="en-US" sz="255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سلّم المهام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371600" y="5051954"/>
            <a:ext cx="3311128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481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the right tasks to AI based on its strengths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275159" y="6013979"/>
            <a:ext cx="331112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وزّع المهام على الذكاء الاصطناعي حسب نقاط قوته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371600" y="7214129"/>
            <a:ext cx="3214688" cy="16933"/>
          </a:xfrm>
          <a:prstGeom prst="rect">
            <a:avLst/>
          </a:prstGeom>
          <a:solidFill>
            <a:srgbClr val="1E4A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1371600" y="7402513"/>
            <a:ext cx="3311128" cy="784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89"/>
              </a:lnSpc>
              <a:buNone/>
            </a:pPr>
            <a:r>
              <a:rPr lang="en-US" sz="2100" b="1" dirty="0">
                <a:solidFill>
                  <a:srgbClr val="2FCC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· Writing · Analysis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5157788" y="2548864"/>
            <a:ext cx="3862387" cy="5962253"/>
          </a:xfrm>
          <a:prstGeom prst="roundRect">
            <a:avLst>
              <a:gd name="adj" fmla="val 4932"/>
            </a:avLst>
          </a:prstGeom>
          <a:solidFill>
            <a:srgbClr val="122E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5481638" y="2910814"/>
            <a:ext cx="762000" cy="762000"/>
          </a:xfrm>
          <a:prstGeom prst="roundRect">
            <a:avLst>
              <a:gd name="adj" fmla="val 25000"/>
            </a:avLst>
          </a:prstGeom>
          <a:solidFill>
            <a:srgbClr val="2FCC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443538" y="2910814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328"/>
              </a:lnSpc>
              <a:buNone/>
            </a:pPr>
            <a:r>
              <a:rPr lang="en-US" sz="3150" b="1" dirty="0">
                <a:solidFill>
                  <a:srgbClr val="062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150" dirty="0"/>
          </a:p>
        </p:txBody>
      </p:sp>
      <p:sp>
        <p:nvSpPr>
          <p:cNvPr id="19" name="Text 17"/>
          <p:cNvSpPr/>
          <p:nvPr/>
        </p:nvSpPr>
        <p:spPr>
          <a:xfrm>
            <a:off x="5481638" y="3806164"/>
            <a:ext cx="3536156" cy="563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068"/>
              </a:lnSpc>
              <a:buNone/>
            </a:pPr>
            <a:r>
              <a:rPr lang="en-US" sz="3450" b="1" dirty="0">
                <a:solidFill>
                  <a:srgbClr val="4FE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</a:t>
            </a:r>
            <a:endParaRPr lang="en-US" sz="3450" dirty="0"/>
          </a:p>
        </p:txBody>
      </p:sp>
      <p:sp>
        <p:nvSpPr>
          <p:cNvPr id="20" name="Text 18"/>
          <p:cNvSpPr/>
          <p:nvPr/>
        </p:nvSpPr>
        <p:spPr>
          <a:xfrm>
            <a:off x="5160169" y="4465241"/>
            <a:ext cx="3536156" cy="491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705"/>
              </a:lnSpc>
              <a:buNone/>
            </a:pPr>
            <a:r>
              <a:rPr lang="en-US" sz="255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اشرح المطلوب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5481638" y="5051954"/>
            <a:ext cx="3311128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481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requirements clearly with specific details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5385197" y="6428317"/>
            <a:ext cx="331112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اشرح المطلوب بوضوح وبتفاصيل محددة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5481638" y="7587456"/>
            <a:ext cx="3214688" cy="16933"/>
          </a:xfrm>
          <a:prstGeom prst="rect">
            <a:avLst/>
          </a:prstGeom>
          <a:solidFill>
            <a:srgbClr val="1E4A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481638" y="7775839"/>
            <a:ext cx="3311128" cy="411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89"/>
              </a:lnSpc>
              <a:buNone/>
            </a:pPr>
            <a:r>
              <a:rPr lang="en-US" sz="2100" b="1" dirty="0">
                <a:solidFill>
                  <a:srgbClr val="2FCC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vague prompts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9267825" y="2548864"/>
            <a:ext cx="3862387" cy="5962253"/>
          </a:xfrm>
          <a:prstGeom prst="roundRect">
            <a:avLst>
              <a:gd name="adj" fmla="val 4932"/>
            </a:avLst>
          </a:prstGeom>
          <a:solidFill>
            <a:srgbClr val="122E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9591675" y="2910814"/>
            <a:ext cx="762000" cy="762000"/>
          </a:xfrm>
          <a:prstGeom prst="roundRect">
            <a:avLst>
              <a:gd name="adj" fmla="val 25000"/>
            </a:avLst>
          </a:prstGeom>
          <a:solidFill>
            <a:srgbClr val="2FCC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9553575" y="2910814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328"/>
              </a:lnSpc>
              <a:buNone/>
            </a:pPr>
            <a:r>
              <a:rPr lang="en-US" sz="3150" b="1" dirty="0">
                <a:solidFill>
                  <a:srgbClr val="062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150" dirty="0"/>
          </a:p>
        </p:txBody>
      </p:sp>
      <p:sp>
        <p:nvSpPr>
          <p:cNvPr id="28" name="Text 26"/>
          <p:cNvSpPr/>
          <p:nvPr/>
        </p:nvSpPr>
        <p:spPr>
          <a:xfrm>
            <a:off x="9591675" y="3806164"/>
            <a:ext cx="3536156" cy="563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068"/>
              </a:lnSpc>
              <a:buNone/>
            </a:pPr>
            <a:r>
              <a:rPr lang="en-US" sz="3450" b="1" dirty="0">
                <a:solidFill>
                  <a:srgbClr val="4FE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</a:t>
            </a:r>
            <a:endParaRPr lang="en-US" sz="3450" dirty="0"/>
          </a:p>
        </p:txBody>
      </p:sp>
      <p:sp>
        <p:nvSpPr>
          <p:cNvPr id="29" name="Text 27"/>
          <p:cNvSpPr/>
          <p:nvPr/>
        </p:nvSpPr>
        <p:spPr>
          <a:xfrm>
            <a:off x="9270206" y="4465241"/>
            <a:ext cx="3536156" cy="491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705"/>
              </a:lnSpc>
              <a:buNone/>
            </a:pPr>
            <a:r>
              <a:rPr lang="en-US" sz="255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وجّه التنفيذ</a:t>
            </a:r>
            <a:endParaRPr lang="en-US" sz="2550" dirty="0"/>
          </a:p>
        </p:txBody>
      </p:sp>
      <p:sp>
        <p:nvSpPr>
          <p:cNvPr id="30" name="Text 28"/>
          <p:cNvSpPr/>
          <p:nvPr/>
        </p:nvSpPr>
        <p:spPr>
          <a:xfrm>
            <a:off x="9591675" y="5051954"/>
            <a:ext cx="3311128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481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 execution with clear structure and format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9495234" y="6428317"/>
            <a:ext cx="331112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وجّه التنفيذ بهيكل وشكل واضح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9591675" y="7214129"/>
            <a:ext cx="3214688" cy="16933"/>
          </a:xfrm>
          <a:prstGeom prst="rect">
            <a:avLst/>
          </a:prstGeom>
          <a:solidFill>
            <a:srgbClr val="1E4A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9591675" y="7402513"/>
            <a:ext cx="3311128" cy="784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89"/>
              </a:lnSpc>
              <a:buNone/>
            </a:pPr>
            <a:r>
              <a:rPr lang="en-US" sz="2100" b="1" dirty="0">
                <a:solidFill>
                  <a:srgbClr val="2FCC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· Format · Structure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13377863" y="2548864"/>
            <a:ext cx="3862387" cy="5962253"/>
          </a:xfrm>
          <a:prstGeom prst="roundRect">
            <a:avLst>
              <a:gd name="adj" fmla="val 4932"/>
            </a:avLst>
          </a:prstGeom>
          <a:solidFill>
            <a:srgbClr val="122E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13701713" y="2910814"/>
            <a:ext cx="762000" cy="762000"/>
          </a:xfrm>
          <a:prstGeom prst="roundRect">
            <a:avLst>
              <a:gd name="adj" fmla="val 25000"/>
            </a:avLst>
          </a:prstGeom>
          <a:solidFill>
            <a:srgbClr val="2FCC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13663613" y="2910814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328"/>
              </a:lnSpc>
              <a:buNone/>
            </a:pPr>
            <a:r>
              <a:rPr lang="en-US" sz="3150" b="1" dirty="0">
                <a:solidFill>
                  <a:srgbClr val="062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150" dirty="0"/>
          </a:p>
        </p:txBody>
      </p:sp>
      <p:sp>
        <p:nvSpPr>
          <p:cNvPr id="37" name="Text 35"/>
          <p:cNvSpPr/>
          <p:nvPr/>
        </p:nvSpPr>
        <p:spPr>
          <a:xfrm>
            <a:off x="13701713" y="3806164"/>
            <a:ext cx="3311128" cy="1089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068"/>
              </a:lnSpc>
              <a:buNone/>
            </a:pPr>
            <a:r>
              <a:rPr lang="en-US" sz="3450" b="1" dirty="0">
                <a:solidFill>
                  <a:srgbClr val="4FE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Double-Check</a:t>
            </a:r>
            <a:endParaRPr lang="en-US" sz="3450" dirty="0"/>
          </a:p>
        </p:txBody>
      </p:sp>
      <p:sp>
        <p:nvSpPr>
          <p:cNvPr id="38" name="Text 36"/>
          <p:cNvSpPr/>
          <p:nvPr/>
        </p:nvSpPr>
        <p:spPr>
          <a:xfrm>
            <a:off x="13380244" y="4990968"/>
            <a:ext cx="3536156" cy="491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705"/>
              </a:lnSpc>
              <a:buNone/>
            </a:pPr>
            <a:r>
              <a:rPr lang="en-US" sz="255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راجع وطوّر</a:t>
            </a:r>
            <a:endParaRPr lang="en-US" sz="2550" dirty="0"/>
          </a:p>
        </p:txBody>
      </p:sp>
      <p:sp>
        <p:nvSpPr>
          <p:cNvPr id="39" name="Text 37"/>
          <p:cNvSpPr/>
          <p:nvPr/>
        </p:nvSpPr>
        <p:spPr>
          <a:xfrm>
            <a:off x="13701713" y="5577681"/>
            <a:ext cx="3311128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481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refine the output for quality</a:t>
            </a:r>
            <a:endParaRPr lang="en-US" sz="2250" dirty="0"/>
          </a:p>
        </p:txBody>
      </p:sp>
      <p:sp>
        <p:nvSpPr>
          <p:cNvPr id="40" name="Text 38"/>
          <p:cNvSpPr/>
          <p:nvPr/>
        </p:nvSpPr>
        <p:spPr>
          <a:xfrm>
            <a:off x="13605272" y="6539706"/>
            <a:ext cx="331112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راجع المخرجات وحسّنها لضمان الجودة</a:t>
            </a:r>
            <a:endParaRPr lang="en-US" sz="2250" dirty="0"/>
          </a:p>
        </p:txBody>
      </p:sp>
      <p:sp>
        <p:nvSpPr>
          <p:cNvPr id="41" name="Shape 39"/>
          <p:cNvSpPr/>
          <p:nvPr/>
        </p:nvSpPr>
        <p:spPr>
          <a:xfrm>
            <a:off x="13701713" y="7587456"/>
            <a:ext cx="3214688" cy="16933"/>
          </a:xfrm>
          <a:prstGeom prst="rect">
            <a:avLst/>
          </a:prstGeom>
          <a:solidFill>
            <a:srgbClr val="1E4A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13701713" y="7775839"/>
            <a:ext cx="3311128" cy="411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89"/>
              </a:lnSpc>
              <a:buNone/>
            </a:pPr>
            <a:r>
              <a:rPr lang="en-US" sz="2100" b="1" dirty="0">
                <a:solidFill>
                  <a:srgbClr val="2FCC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· Improve · Optimize</a:t>
            </a:r>
            <a:endParaRPr lang="en-US" sz="2100" dirty="0"/>
          </a:p>
        </p:txBody>
      </p:sp>
      <p:sp>
        <p:nvSpPr>
          <p:cNvPr id="43" name="Shape 41"/>
          <p:cNvSpPr/>
          <p:nvPr/>
        </p:nvSpPr>
        <p:spPr>
          <a:xfrm>
            <a:off x="1047750" y="8892117"/>
            <a:ext cx="16192500" cy="1447800"/>
          </a:xfrm>
          <a:prstGeom prst="roundRect">
            <a:avLst>
              <a:gd name="adj" fmla="val 11842"/>
            </a:avLst>
          </a:prstGeom>
          <a:solidFill>
            <a:srgbClr val="2FCC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1428750" y="9158817"/>
            <a:ext cx="10549009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705"/>
              </a:lnSpc>
              <a:buNone/>
            </a:pPr>
            <a:r>
              <a:rPr lang="en-US" sz="2550" b="1" dirty="0">
                <a:solidFill>
                  <a:srgbClr val="042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difference between a beginner and a professional = How they use AI</a:t>
            </a:r>
            <a:endParaRPr lang="en-US" sz="2550" dirty="0"/>
          </a:p>
        </p:txBody>
      </p:sp>
      <p:sp>
        <p:nvSpPr>
          <p:cNvPr id="45" name="Text 43"/>
          <p:cNvSpPr/>
          <p:nvPr/>
        </p:nvSpPr>
        <p:spPr>
          <a:xfrm>
            <a:off x="11907274" y="9158817"/>
            <a:ext cx="495197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8571"/>
              </a:lnSpc>
              <a:buNone/>
            </a:pPr>
            <a:r>
              <a:rPr lang="en-US" sz="2400" b="1" dirty="0">
                <a:solidFill>
                  <a:srgbClr val="0A3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الفرق بين مبتدئ ومحترف = طريقة استخدامه للـ AI</a:t>
            </a:r>
            <a:endParaRPr lang="en-US" sz="2400" dirty="0"/>
          </a:p>
        </p:txBody>
      </p:sp>
      <p:sp>
        <p:nvSpPr>
          <p:cNvPr id="46" name="Shape 44"/>
          <p:cNvSpPr/>
          <p:nvPr/>
        </p:nvSpPr>
        <p:spPr>
          <a:xfrm>
            <a:off x="1047750" y="10339917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1047750" y="10623550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48" name="Text 46"/>
          <p:cNvSpPr/>
          <p:nvPr/>
        </p:nvSpPr>
        <p:spPr>
          <a:xfrm>
            <a:off x="15186289" y="10623550"/>
            <a:ext cx="225935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MINDSET</a:t>
            </a:r>
            <a:endParaRPr lang="en-US" sz="2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2FCC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34222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2FCC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35153" y="762000"/>
            <a:ext cx="64928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2FCC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التحول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1979062" cy="1630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969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Weak to Strong: Prompt Quality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2541037" y="1928019"/>
            <a:ext cx="4699213" cy="978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3418"/>
              </a:lnSpc>
              <a:buNone/>
            </a:pPr>
            <a:r>
              <a:rPr lang="en-US" sz="285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الفرق بين مبتدئ ومحترف في كتابة الأوامر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1047750" y="3345127"/>
            <a:ext cx="7934325" cy="4734587"/>
          </a:xfrm>
          <a:prstGeom prst="roundRect">
            <a:avLst>
              <a:gd name="adj" fmla="val 4024"/>
            </a:avLst>
          </a:prstGeom>
          <a:solidFill>
            <a:srgbClr val="122340"/>
          </a:solidFill>
          <a:ln w="25400">
            <a:solidFill>
              <a:srgbClr val="6B2A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454150" y="3751527"/>
            <a:ext cx="2711344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318"/>
              </a:lnSpc>
              <a:buNone/>
            </a:pPr>
            <a:r>
              <a:rPr lang="en-US" sz="2550" b="1" dirty="0">
                <a:solidFill>
                  <a:srgbClr val="FF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PROMPT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7441009" y="3751527"/>
            <a:ext cx="1210866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318"/>
              </a:lnSpc>
              <a:buNone/>
            </a:pPr>
            <a:r>
              <a:rPr lang="en-US" sz="2550" b="1" dirty="0">
                <a:solidFill>
                  <a:srgbClr val="FF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أمر ضعيف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454150" y="4330568"/>
            <a:ext cx="7121525" cy="1068652"/>
          </a:xfrm>
          <a:prstGeom prst="roundRect">
            <a:avLst>
              <a:gd name="adj" fmla="val 12478"/>
            </a:avLst>
          </a:prstGeom>
          <a:solidFill>
            <a:srgbClr val="1B0F1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739900" y="4616318"/>
            <a:ext cx="6763671" cy="535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947"/>
              </a:lnSpc>
              <a:buNone/>
            </a:pPr>
            <a:r>
              <a:rPr lang="en-US" sz="2700" dirty="0">
                <a:solidFill>
                  <a:srgbClr val="FFD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"Write a marketing plan"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454150" y="5589720"/>
            <a:ext cx="7833678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too general, no details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40504" y="6206861"/>
            <a:ext cx="733517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عام جدًا ومفيش تفاصيل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454150" y="7065830"/>
            <a:ext cx="7121525" cy="16933"/>
          </a:xfrm>
          <a:prstGeom prst="rect">
            <a:avLst/>
          </a:prstGeom>
          <a:solidFill>
            <a:srgbClr val="3A162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1454150" y="7273264"/>
            <a:ext cx="427904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b="1" dirty="0">
                <a:solidFill>
                  <a:srgbClr val="FF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weak, generic output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7254214" y="7273264"/>
            <a:ext cx="145360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b="1" dirty="0">
                <a:solidFill>
                  <a:srgbClr val="FF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النتيجة ضعيفة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305925" y="3345127"/>
            <a:ext cx="7934325" cy="4734587"/>
          </a:xfrm>
          <a:prstGeom prst="roundRect">
            <a:avLst>
              <a:gd name="adj" fmla="val 4024"/>
            </a:avLst>
          </a:prstGeom>
          <a:solidFill>
            <a:srgbClr val="122340"/>
          </a:solidFill>
          <a:ln w="25400">
            <a:solidFill>
              <a:srgbClr val="1E6B4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9712325" y="3751527"/>
            <a:ext cx="3146888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318"/>
              </a:lnSpc>
              <a:buNone/>
            </a:pPr>
            <a:r>
              <a:rPr lang="en-US" sz="2550" b="1" dirty="0">
                <a:solidFill>
                  <a:srgbClr val="4FE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PROMPT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5945512" y="3751527"/>
            <a:ext cx="964539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318"/>
              </a:lnSpc>
              <a:buNone/>
            </a:pPr>
            <a:r>
              <a:rPr lang="en-US" sz="2550" b="1" dirty="0">
                <a:solidFill>
                  <a:srgbClr val="4FE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أمر قوي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712325" y="4330568"/>
            <a:ext cx="7121525" cy="1897063"/>
          </a:xfrm>
          <a:prstGeom prst="roundRect">
            <a:avLst>
              <a:gd name="adj" fmla="val 7029"/>
            </a:avLst>
          </a:prstGeom>
          <a:solidFill>
            <a:srgbClr val="0820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9998075" y="4616318"/>
            <a:ext cx="6763671" cy="1363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286"/>
              </a:lnSpc>
              <a:buNone/>
            </a:pPr>
            <a:r>
              <a:rPr lang="en-US" sz="2400" dirty="0">
                <a:solidFill>
                  <a:srgbClr val="C8F5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"Act as a senior marketing strategist. Create a marketing plan for a skincare brand. Target: females 18-35. Use bullet points. Max 10 steps."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498679" y="6418130"/>
            <a:ext cx="733517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سياق واضح، تفاصيل محددة، وقيود محددة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9712325" y="7065830"/>
            <a:ext cx="7121525" cy="16933"/>
          </a:xfrm>
          <a:prstGeom prst="rect">
            <a:avLst/>
          </a:prstGeom>
          <a:solidFill>
            <a:srgbClr val="0F332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9712325" y="7273264"/>
            <a:ext cx="514547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b="1" dirty="0">
                <a:solidFill>
                  <a:srgbClr val="4FE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high-quality, usable output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5086013" y="7273264"/>
            <a:ext cx="192262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b="1" dirty="0">
                <a:solidFill>
                  <a:srgbClr val="4FE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نتيجة عالية الجودة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1047750" y="8403564"/>
            <a:ext cx="16192500" cy="1440127"/>
          </a:xfrm>
          <a:custGeom>
            <a:avLst/>
            <a:gdLst/>
            <a:ahLst/>
            <a:cxnLst/>
            <a:rect l="l" t="t" r="r" b="b"/>
            <a:pathLst>
              <a:path w="16192500" h="1440127">
                <a:moveTo>
                  <a:pt x="0" y="0"/>
                </a:moveTo>
                <a:lnTo>
                  <a:pt x="16021050" y="0"/>
                </a:lnTo>
                <a:arcTo wR="171450" hR="171450" stAng="16200000" swAng="5400000"/>
                <a:lnTo>
                  <a:pt x="16192500" y="1268677"/>
                </a:lnTo>
                <a:arcTo wR="171450" hR="171450" stAng="0" swAng="5400000"/>
                <a:lnTo>
                  <a:pt x="0" y="1440127"/>
                </a:lnTo>
                <a:lnTo>
                  <a:pt x="0" y="0"/>
                </a:lnTo>
                <a:close/>
              </a:path>
            </a:pathLst>
          </a:cu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1047750" y="8403564"/>
            <a:ext cx="93133" cy="1440127"/>
          </a:xfrm>
          <a:prstGeom prst="rect">
            <a:avLst/>
          </a:prstGeom>
          <a:solidFill>
            <a:srgbClr val="2FCC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1483783" y="8670264"/>
            <a:ext cx="10416292" cy="944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705"/>
              </a:lnSpc>
              <a:buNone/>
            </a:pPr>
            <a:r>
              <a:rPr lang="en-US" sz="255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More Context + Details + Constraints = Better Results</a:t>
            </a:r>
            <a:endParaRPr lang="en-US" sz="2550" dirty="0"/>
          </a:p>
        </p:txBody>
      </p:sp>
      <p:sp>
        <p:nvSpPr>
          <p:cNvPr id="29" name="Text 27"/>
          <p:cNvSpPr/>
          <p:nvPr/>
        </p:nvSpPr>
        <p:spPr>
          <a:xfrm>
            <a:off x="11830098" y="8670264"/>
            <a:ext cx="5067252" cy="944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ما تزود تفاصيل وتحديد، النتيجة بتتحسن بشكل واضح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1047750" y="9843691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1047750" y="10127324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15186289" y="10127324"/>
            <a:ext cx="225935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MINDSET</a:t>
            </a:r>
            <a:endParaRPr lang="en-US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2FCC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321630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2FCC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847960" y="762000"/>
            <a:ext cx="16026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2FCC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أفضل الممارسات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0810306" cy="834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969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Get Better AI Results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1897453" y="1577314"/>
            <a:ext cx="5342798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2500"/>
              </a:lnSpc>
              <a:buNone/>
            </a:pPr>
            <a:r>
              <a:rPr lang="en-US" sz="300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نصايح عملية لتحسين نتائجك مع الـ AI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047750" y="2491714"/>
            <a:ext cx="7953375" cy="807641"/>
          </a:xfrm>
          <a:prstGeom prst="roundRect">
            <a:avLst>
              <a:gd name="adj" fmla="val 18870"/>
            </a:avLst>
          </a:prstGeom>
          <a:solidFill>
            <a:srgbClr val="3A162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371600" y="2701264"/>
            <a:ext cx="1077912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318"/>
              </a:lnSpc>
              <a:buNone/>
            </a:pPr>
            <a:r>
              <a:rPr lang="en-US" sz="2550" b="1" dirty="0">
                <a:solidFill>
                  <a:srgbClr val="FF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8121518" y="2701264"/>
            <a:ext cx="631957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318"/>
              </a:lnSpc>
              <a:buNone/>
            </a:pPr>
            <a:r>
              <a:rPr lang="en-US" sz="2550" b="1" dirty="0">
                <a:solidFill>
                  <a:srgbClr val="FF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تجنّب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286875" y="2491714"/>
            <a:ext cx="7953375" cy="807641"/>
          </a:xfrm>
          <a:prstGeom prst="roundRect">
            <a:avLst>
              <a:gd name="adj" fmla="val 18870"/>
            </a:avLst>
          </a:prstGeom>
          <a:solidFill>
            <a:srgbClr val="0F332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9610725" y="2701264"/>
            <a:ext cx="561975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318"/>
              </a:lnSpc>
              <a:buNone/>
            </a:pPr>
            <a:r>
              <a:rPr lang="en-US" sz="2550" b="1" dirty="0">
                <a:solidFill>
                  <a:srgbClr val="4FE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6484600" y="2701264"/>
            <a:ext cx="508000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318"/>
              </a:lnSpc>
              <a:buNone/>
            </a:pPr>
            <a:r>
              <a:rPr lang="en-US" sz="2550" b="1" dirty="0">
                <a:solidFill>
                  <a:srgbClr val="4FE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افعل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047750" y="3585104"/>
            <a:ext cx="7953375" cy="954352"/>
          </a:xfrm>
          <a:custGeom>
            <a:avLst/>
            <a:gdLst/>
            <a:ahLst/>
            <a:cxnLst/>
            <a:rect l="l" t="t" r="r" b="b"/>
            <a:pathLst>
              <a:path w="7953375" h="954352">
                <a:moveTo>
                  <a:pt x="0" y="0"/>
                </a:moveTo>
                <a:lnTo>
                  <a:pt x="7800975" y="0"/>
                </a:lnTo>
                <a:arcTo wR="152400" hR="152400" stAng="16200000" swAng="5400000"/>
                <a:lnTo>
                  <a:pt x="7953375" y="801952"/>
                </a:lnTo>
                <a:arcTo wR="152400" hR="152400" stAng="0" swAng="5400000"/>
                <a:lnTo>
                  <a:pt x="0" y="954352"/>
                </a:lnTo>
                <a:lnTo>
                  <a:pt x="0" y="0"/>
                </a:lnTo>
                <a:close/>
              </a:path>
            </a:pathLst>
          </a:cu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1047750" y="3585104"/>
            <a:ext cx="93133" cy="954352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1464733" y="3851804"/>
            <a:ext cx="4138176" cy="4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11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General, vague requests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6880093" y="3862255"/>
            <a:ext cx="197690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طلبات عامة ومبهمة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286875" y="3585104"/>
            <a:ext cx="7953375" cy="954352"/>
          </a:xfrm>
          <a:custGeom>
            <a:avLst/>
            <a:gdLst/>
            <a:ahLst/>
            <a:cxnLst/>
            <a:rect l="l" t="t" r="r" b="b"/>
            <a:pathLst>
              <a:path w="7953375" h="954352">
                <a:moveTo>
                  <a:pt x="0" y="0"/>
                </a:moveTo>
                <a:lnTo>
                  <a:pt x="7800975" y="0"/>
                </a:lnTo>
                <a:arcTo wR="152400" hR="152400" stAng="16200000" swAng="5400000"/>
                <a:lnTo>
                  <a:pt x="7953375" y="801952"/>
                </a:lnTo>
                <a:arcTo wR="152400" hR="152400" stAng="0" swAng="5400000"/>
                <a:lnTo>
                  <a:pt x="0" y="954352"/>
                </a:lnTo>
                <a:lnTo>
                  <a:pt x="0" y="0"/>
                </a:lnTo>
                <a:close/>
              </a:path>
            </a:pathLst>
          </a:cu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9286875" y="3585104"/>
            <a:ext cx="93133" cy="954352"/>
          </a:xfrm>
          <a:prstGeom prst="rect">
            <a:avLst/>
          </a:prstGeom>
          <a:solidFill>
            <a:srgbClr val="2FCC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9703858" y="3851804"/>
            <a:ext cx="3681386" cy="4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11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prompts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4445986" y="3862255"/>
            <a:ext cx="271745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استخدم أوامر خطوة بخطوة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1047750" y="4825206"/>
            <a:ext cx="7953375" cy="954352"/>
          </a:xfrm>
          <a:custGeom>
            <a:avLst/>
            <a:gdLst/>
            <a:ahLst/>
            <a:cxnLst/>
            <a:rect l="l" t="t" r="r" b="b"/>
            <a:pathLst>
              <a:path w="7953375" h="954352">
                <a:moveTo>
                  <a:pt x="0" y="0"/>
                </a:moveTo>
                <a:lnTo>
                  <a:pt x="7800975" y="0"/>
                </a:lnTo>
                <a:arcTo wR="152400" hR="152400" stAng="16200000" swAng="5400000"/>
                <a:lnTo>
                  <a:pt x="7953375" y="801952"/>
                </a:lnTo>
                <a:arcTo wR="152400" hR="152400" stAng="0" swAng="5400000"/>
                <a:lnTo>
                  <a:pt x="0" y="954352"/>
                </a:lnTo>
                <a:lnTo>
                  <a:pt x="0" y="0"/>
                </a:lnTo>
                <a:close/>
              </a:path>
            </a:pathLst>
          </a:cu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1047750" y="4825206"/>
            <a:ext cx="93133" cy="954352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1464733" y="5091906"/>
            <a:ext cx="2771008" cy="4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11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Undefined goals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7138856" y="5102357"/>
            <a:ext cx="169226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عدم تحديد الهدف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9286875" y="4825206"/>
            <a:ext cx="7953375" cy="954352"/>
          </a:xfrm>
          <a:custGeom>
            <a:avLst/>
            <a:gdLst/>
            <a:ahLst/>
            <a:cxnLst/>
            <a:rect l="l" t="t" r="r" b="b"/>
            <a:pathLst>
              <a:path w="7953375" h="954352">
                <a:moveTo>
                  <a:pt x="0" y="0"/>
                </a:moveTo>
                <a:lnTo>
                  <a:pt x="7800975" y="0"/>
                </a:lnTo>
                <a:arcTo wR="152400" hR="152400" stAng="16200000" swAng="5400000"/>
                <a:lnTo>
                  <a:pt x="7953375" y="801952"/>
                </a:lnTo>
                <a:arcTo wR="152400" hR="152400" stAng="0" swAng="5400000"/>
                <a:lnTo>
                  <a:pt x="0" y="954352"/>
                </a:lnTo>
                <a:lnTo>
                  <a:pt x="0" y="0"/>
                </a:lnTo>
                <a:close/>
              </a:path>
            </a:pathLst>
          </a:cu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9286875" y="4825206"/>
            <a:ext cx="93133" cy="954352"/>
          </a:xfrm>
          <a:prstGeom prst="rect">
            <a:avLst/>
          </a:prstGeom>
          <a:solidFill>
            <a:srgbClr val="2FCC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9703858" y="5091906"/>
            <a:ext cx="5147363" cy="4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11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examples to illustrate</a:t>
            </a:r>
            <a:endParaRPr lang="en-US" sz="2550" dirty="0"/>
          </a:p>
        </p:txBody>
      </p:sp>
      <p:sp>
        <p:nvSpPr>
          <p:cNvPr id="28" name="Text 26"/>
          <p:cNvSpPr/>
          <p:nvPr/>
        </p:nvSpPr>
        <p:spPr>
          <a:xfrm>
            <a:off x="15028201" y="5102357"/>
            <a:ext cx="207701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اطلب أمثلة توضيحية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1047750" y="6065308"/>
            <a:ext cx="7953375" cy="954352"/>
          </a:xfrm>
          <a:custGeom>
            <a:avLst/>
            <a:gdLst/>
            <a:ahLst/>
            <a:cxnLst/>
            <a:rect l="l" t="t" r="r" b="b"/>
            <a:pathLst>
              <a:path w="7953375" h="954352">
                <a:moveTo>
                  <a:pt x="0" y="0"/>
                </a:moveTo>
                <a:lnTo>
                  <a:pt x="7800975" y="0"/>
                </a:lnTo>
                <a:arcTo wR="152400" hR="152400" stAng="16200000" swAng="5400000"/>
                <a:lnTo>
                  <a:pt x="7953375" y="801952"/>
                </a:lnTo>
                <a:arcTo wR="152400" hR="152400" stAng="0" swAng="5400000"/>
                <a:lnTo>
                  <a:pt x="0" y="954352"/>
                </a:lnTo>
                <a:lnTo>
                  <a:pt x="0" y="0"/>
                </a:lnTo>
                <a:close/>
              </a:path>
            </a:pathLst>
          </a:cu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1047750" y="6065308"/>
            <a:ext cx="93133" cy="954352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1464733" y="6332008"/>
            <a:ext cx="5126553" cy="4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11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Relying on the first result only</a:t>
            </a:r>
            <a:endParaRPr lang="en-US" sz="2550" dirty="0"/>
          </a:p>
        </p:txBody>
      </p:sp>
      <p:sp>
        <p:nvSpPr>
          <p:cNvPr id="32" name="Text 30"/>
          <p:cNvSpPr/>
          <p:nvPr/>
        </p:nvSpPr>
        <p:spPr>
          <a:xfrm>
            <a:off x="6557169" y="6342459"/>
            <a:ext cx="233211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الاعتماد على أول نتيجة</a:t>
            </a:r>
            <a:endParaRPr lang="en-US" sz="2250" dirty="0"/>
          </a:p>
        </p:txBody>
      </p:sp>
      <p:sp>
        <p:nvSpPr>
          <p:cNvPr id="33" name="Shape 31"/>
          <p:cNvSpPr/>
          <p:nvPr/>
        </p:nvSpPr>
        <p:spPr>
          <a:xfrm>
            <a:off x="9286875" y="6065308"/>
            <a:ext cx="7953375" cy="954352"/>
          </a:xfrm>
          <a:custGeom>
            <a:avLst/>
            <a:gdLst/>
            <a:ahLst/>
            <a:cxnLst/>
            <a:rect l="l" t="t" r="r" b="b"/>
            <a:pathLst>
              <a:path w="7953375" h="954352">
                <a:moveTo>
                  <a:pt x="0" y="0"/>
                </a:moveTo>
                <a:lnTo>
                  <a:pt x="7800975" y="0"/>
                </a:lnTo>
                <a:arcTo wR="152400" hR="152400" stAng="16200000" swAng="5400000"/>
                <a:lnTo>
                  <a:pt x="7953375" y="801952"/>
                </a:lnTo>
                <a:arcTo wR="152400" hR="152400" stAng="0" swAng="5400000"/>
                <a:lnTo>
                  <a:pt x="0" y="954352"/>
                </a:lnTo>
                <a:lnTo>
                  <a:pt x="0" y="0"/>
                </a:lnTo>
                <a:close/>
              </a:path>
            </a:pathLst>
          </a:cu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9286875" y="6065308"/>
            <a:ext cx="93133" cy="954352"/>
          </a:xfrm>
          <a:prstGeom prst="rect">
            <a:avLst/>
          </a:prstGeom>
          <a:solidFill>
            <a:srgbClr val="2FCC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9703858" y="6332008"/>
            <a:ext cx="3563660" cy="4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11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multiple versions</a:t>
            </a:r>
            <a:endParaRPr lang="en-US" sz="2550" dirty="0"/>
          </a:p>
        </p:txBody>
      </p:sp>
      <p:sp>
        <p:nvSpPr>
          <p:cNvPr id="36" name="Text 34"/>
          <p:cNvSpPr/>
          <p:nvPr/>
        </p:nvSpPr>
        <p:spPr>
          <a:xfrm>
            <a:off x="15059290" y="6342459"/>
            <a:ext cx="204282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جرّب أكتر من نسخة</a:t>
            </a:r>
            <a:endParaRPr lang="en-US" sz="2250" dirty="0"/>
          </a:p>
        </p:txBody>
      </p:sp>
      <p:sp>
        <p:nvSpPr>
          <p:cNvPr id="37" name="Shape 35"/>
          <p:cNvSpPr/>
          <p:nvPr/>
        </p:nvSpPr>
        <p:spPr>
          <a:xfrm>
            <a:off x="1047750" y="7305410"/>
            <a:ext cx="7953375" cy="954352"/>
          </a:xfrm>
          <a:custGeom>
            <a:avLst/>
            <a:gdLst/>
            <a:ahLst/>
            <a:cxnLst/>
            <a:rect l="l" t="t" r="r" b="b"/>
            <a:pathLst>
              <a:path w="7953375" h="954352">
                <a:moveTo>
                  <a:pt x="0" y="0"/>
                </a:moveTo>
                <a:lnTo>
                  <a:pt x="7800975" y="0"/>
                </a:lnTo>
                <a:arcTo wR="152400" hR="152400" stAng="16200000" swAng="5400000"/>
                <a:lnTo>
                  <a:pt x="7953375" y="801952"/>
                </a:lnTo>
                <a:arcTo wR="152400" hR="152400" stAng="0" swAng="5400000"/>
                <a:lnTo>
                  <a:pt x="0" y="954352"/>
                </a:lnTo>
                <a:lnTo>
                  <a:pt x="0" y="0"/>
                </a:lnTo>
                <a:close/>
              </a:path>
            </a:pathLst>
          </a:cu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1047750" y="7305410"/>
            <a:ext cx="93133" cy="954352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1464733" y="7572110"/>
            <a:ext cx="2870108" cy="4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11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context given</a:t>
            </a:r>
            <a:endParaRPr lang="en-US" sz="2550" dirty="0"/>
          </a:p>
        </p:txBody>
      </p:sp>
      <p:sp>
        <p:nvSpPr>
          <p:cNvPr id="40" name="Text 38"/>
          <p:cNvSpPr/>
          <p:nvPr/>
        </p:nvSpPr>
        <p:spPr>
          <a:xfrm>
            <a:off x="7536921" y="7582562"/>
            <a:ext cx="121655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غياب السياق</a:t>
            </a:r>
            <a:endParaRPr lang="en-US" sz="2250" dirty="0"/>
          </a:p>
        </p:txBody>
      </p:sp>
      <p:sp>
        <p:nvSpPr>
          <p:cNvPr id="41" name="Shape 39"/>
          <p:cNvSpPr/>
          <p:nvPr/>
        </p:nvSpPr>
        <p:spPr>
          <a:xfrm>
            <a:off x="9286875" y="7305410"/>
            <a:ext cx="7953375" cy="954352"/>
          </a:xfrm>
          <a:custGeom>
            <a:avLst/>
            <a:gdLst/>
            <a:ahLst/>
            <a:cxnLst/>
            <a:rect l="l" t="t" r="r" b="b"/>
            <a:pathLst>
              <a:path w="7953375" h="954352">
                <a:moveTo>
                  <a:pt x="0" y="0"/>
                </a:moveTo>
                <a:lnTo>
                  <a:pt x="7800975" y="0"/>
                </a:lnTo>
                <a:arcTo wR="152400" hR="152400" stAng="16200000" swAng="5400000"/>
                <a:lnTo>
                  <a:pt x="7953375" y="801952"/>
                </a:lnTo>
                <a:arcTo wR="152400" hR="152400" stAng="0" swAng="5400000"/>
                <a:lnTo>
                  <a:pt x="0" y="954352"/>
                </a:lnTo>
                <a:lnTo>
                  <a:pt x="0" y="0"/>
                </a:lnTo>
                <a:close/>
              </a:path>
            </a:pathLst>
          </a:cu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9286875" y="7305410"/>
            <a:ext cx="93133" cy="954352"/>
          </a:xfrm>
          <a:prstGeom prst="rect">
            <a:avLst/>
          </a:prstGeom>
          <a:solidFill>
            <a:srgbClr val="2FCC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9703858" y="7572110"/>
            <a:ext cx="4969100" cy="4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11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and improve gradually</a:t>
            </a:r>
            <a:endParaRPr lang="en-US" sz="2550" dirty="0"/>
          </a:p>
        </p:txBody>
      </p:sp>
      <p:sp>
        <p:nvSpPr>
          <p:cNvPr id="44" name="Text 42"/>
          <p:cNvSpPr/>
          <p:nvPr/>
        </p:nvSpPr>
        <p:spPr>
          <a:xfrm>
            <a:off x="15002933" y="7582562"/>
            <a:ext cx="210481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اعمل تحسين تدريجي</a:t>
            </a:r>
            <a:endParaRPr lang="en-US" sz="2250" dirty="0"/>
          </a:p>
        </p:txBody>
      </p:sp>
      <p:sp>
        <p:nvSpPr>
          <p:cNvPr id="45" name="Shape 43"/>
          <p:cNvSpPr/>
          <p:nvPr/>
        </p:nvSpPr>
        <p:spPr>
          <a:xfrm>
            <a:off x="1047750" y="8602663"/>
            <a:ext cx="16192500" cy="990600"/>
          </a:xfrm>
          <a:prstGeom prst="roundRect">
            <a:avLst>
              <a:gd name="adj" fmla="val 17308"/>
            </a:avLst>
          </a:prstGeom>
          <a:solidFill>
            <a:srgbClr val="2FCC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1428750" y="8869363"/>
            <a:ext cx="838243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21"/>
              </a:lnSpc>
              <a:buNone/>
            </a:pPr>
            <a:r>
              <a:rPr lang="en-US" sz="2700" b="1" dirty="0">
                <a:solidFill>
                  <a:srgbClr val="042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not just a Tool... It's a Skill you must learn</a:t>
            </a:r>
            <a:endParaRPr lang="en-US" sz="2700" dirty="0"/>
          </a:p>
        </p:txBody>
      </p:sp>
      <p:sp>
        <p:nvSpPr>
          <p:cNvPr id="47" name="Text 45"/>
          <p:cNvSpPr/>
          <p:nvPr/>
        </p:nvSpPr>
        <p:spPr>
          <a:xfrm>
            <a:off x="11882583" y="8869363"/>
            <a:ext cx="497666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8571"/>
              </a:lnSpc>
              <a:buNone/>
            </a:pPr>
            <a:r>
              <a:rPr lang="en-US" sz="2400" b="1" dirty="0">
                <a:solidFill>
                  <a:srgbClr val="0A3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الـ AI مش مجرد أداة... ده Skill لازم تتعلمه</a:t>
            </a:r>
            <a:endParaRPr lang="en-US" sz="2400" dirty="0"/>
          </a:p>
        </p:txBody>
      </p:sp>
      <p:sp>
        <p:nvSpPr>
          <p:cNvPr id="48" name="Shape 46"/>
          <p:cNvSpPr/>
          <p:nvPr/>
        </p:nvSpPr>
        <p:spPr>
          <a:xfrm>
            <a:off x="1047750" y="9593263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1047750" y="9876896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50" name="Text 48"/>
          <p:cNvSpPr/>
          <p:nvPr/>
        </p:nvSpPr>
        <p:spPr>
          <a:xfrm>
            <a:off x="15186289" y="9876896"/>
            <a:ext cx="225935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MINDSET</a:t>
            </a:r>
            <a:endParaRPr lang="en-US" sz="2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60841" cy="10287000"/>
          </a:xfrm>
          <a:prstGeom prst="rect">
            <a:avLst/>
          </a:prstGeom>
          <a:gradFill rotWithShape="1">
            <a:gsLst>
              <a:gs pos="0">
                <a:srgbClr val="A98BF7">
                  <a:alpha val="100000"/>
                </a:srgbClr>
              </a:gs>
              <a:gs pos="100000">
                <a:srgbClr val="6B45C4">
                  <a:alpha val="100000"/>
                </a:srgbClr>
              </a:gs>
            </a:gsLst>
            <a:lin ang="420000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71500" y="762000"/>
            <a:ext cx="2974843" cy="869950"/>
          </a:xfrm>
          <a:prstGeom prst="roundRect">
            <a:avLst>
              <a:gd name="adj" fmla="val 19708"/>
            </a:avLst>
          </a:prstGeom>
          <a:ln w="25400">
            <a:solidFill>
              <a:srgbClr val="2E1A5A">
                <a:alpha val="60000"/>
              </a:srgbClr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825500" y="939800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87400" y="93980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9255"/>
              </a:lnSpc>
              <a:buNone/>
            </a:pPr>
            <a:r>
              <a:rPr lang="en-US" sz="2250" b="1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511300" y="1048411"/>
            <a:ext cx="1959147" cy="335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364"/>
              </a:lnSpc>
              <a:buNone/>
            </a:pPr>
            <a:r>
              <a:rPr lang="en-US" sz="1950" b="1" kern="0" spc="234" dirty="0">
                <a:solidFill>
                  <a:srgbClr val="2A1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LOGO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571500" y="4302125"/>
            <a:ext cx="6839625" cy="2305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0169"/>
              </a:lnSpc>
              <a:buNone/>
            </a:pPr>
            <a:r>
              <a:rPr lang="en-US" sz="21000" b="1" dirty="0">
                <a:solidFill>
                  <a:srgbClr val="0A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1000" dirty="0"/>
          </a:p>
        </p:txBody>
      </p:sp>
      <p:sp>
        <p:nvSpPr>
          <p:cNvPr id="8" name="Text 6"/>
          <p:cNvSpPr/>
          <p:nvPr/>
        </p:nvSpPr>
        <p:spPr>
          <a:xfrm>
            <a:off x="571500" y="9239250"/>
            <a:ext cx="683962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kern="0" spc="450" dirty="0">
                <a:solidFill>
                  <a:srgbClr val="2A1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 / 7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8313341" y="2710921"/>
            <a:ext cx="99243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2400" b="1" kern="0" spc="576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CRAFT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313341" y="3301471"/>
            <a:ext cx="9924375" cy="960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526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</a:t>
            </a:r>
            <a:endParaRPr lang="en-US" sz="6600" dirty="0"/>
          </a:p>
        </p:txBody>
      </p:sp>
      <p:sp>
        <p:nvSpPr>
          <p:cNvPr id="11" name="Text 9"/>
          <p:cNvSpPr/>
          <p:nvPr/>
        </p:nvSpPr>
        <p:spPr>
          <a:xfrm>
            <a:off x="7411125" y="4509161"/>
            <a:ext cx="9924375" cy="731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2239"/>
              </a:lnSpc>
              <a:buNone/>
            </a:pPr>
            <a:r>
              <a:rPr lang="en-US" sz="3900" b="1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هندسة الأوامر</a:t>
            </a:r>
            <a:endParaRPr lang="en-US" sz="3900" dirty="0"/>
          </a:p>
        </p:txBody>
      </p:sp>
      <p:sp>
        <p:nvSpPr>
          <p:cNvPr id="12" name="Shape 10"/>
          <p:cNvSpPr/>
          <p:nvPr/>
        </p:nvSpPr>
        <p:spPr>
          <a:xfrm>
            <a:off x="8313341" y="5488252"/>
            <a:ext cx="2095500" cy="57150"/>
          </a:xfrm>
          <a:prstGeom prst="roundRect">
            <a:avLst>
              <a:gd name="adj" fmla="val 50000"/>
            </a:avLst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8313341" y="5831152"/>
            <a:ext cx="8829675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398"/>
              </a:lnSpc>
              <a:buNone/>
            </a:pPr>
            <a:r>
              <a:rPr lang="en-US" sz="25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anatomy of a good prompt to 8 professional frameworks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7456091" y="7088452"/>
            <a:ext cx="9429750" cy="525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7143"/>
              </a:lnSpc>
              <a:buNone/>
            </a:pPr>
            <a:r>
              <a:rPr lang="en-US" sz="24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تشريح الأمر الجيد إلى ٨ أطر عمل احترافية</a:t>
            </a:r>
            <a:endParaRPr 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575389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BASICS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154863" y="762000"/>
            <a:ext cx="226023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أساسيات هندسة الأوامر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1959193" cy="834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969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Anatomy of a Good Prompt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4548842" y="1527837"/>
            <a:ext cx="2691408" cy="582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2895"/>
              </a:lnSpc>
              <a:buNone/>
            </a:pPr>
            <a:r>
              <a:rPr lang="en-US" sz="330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تشريح الأمر الجيد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1047750" y="2567914"/>
            <a:ext cx="3862387" cy="5352653"/>
          </a:xfrm>
          <a:prstGeom prst="roundRect">
            <a:avLst>
              <a:gd name="adj" fmla="val 4932"/>
            </a:avLst>
          </a:prstGeom>
          <a:solidFill>
            <a:srgbClr val="1B16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371600" y="2929864"/>
            <a:ext cx="762000" cy="762000"/>
          </a:xfrm>
          <a:prstGeom prst="roundRect">
            <a:avLst>
              <a:gd name="adj" fmla="val 25000"/>
            </a:avLst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333500" y="2929864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328"/>
              </a:lnSpc>
              <a:buNone/>
            </a:pPr>
            <a:r>
              <a:rPr lang="en-US" sz="3150" b="1" dirty="0">
                <a:solidFill>
                  <a:srgbClr val="1B1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1371600" y="3825214"/>
            <a:ext cx="3536156" cy="563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068"/>
              </a:lnSpc>
              <a:buNone/>
            </a:pPr>
            <a:r>
              <a:rPr lang="en-US" sz="3450" b="1" dirty="0">
                <a:solidFill>
                  <a:srgbClr val="C4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1050131" y="4484291"/>
            <a:ext cx="3536156" cy="491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705"/>
              </a:lnSpc>
              <a:buNone/>
            </a:pPr>
            <a:r>
              <a:rPr lang="en-US" sz="255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الدور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371600" y="5071004"/>
            <a:ext cx="3311128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481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Defines who it's talking as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275159" y="6033029"/>
            <a:ext cx="331112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9B8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تحدد هو بيتكلم كـ مين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371600" y="6623579"/>
            <a:ext cx="3214688" cy="16933"/>
          </a:xfrm>
          <a:prstGeom prst="rect">
            <a:avLst/>
          </a:prstGeom>
          <a:solidFill>
            <a:srgbClr val="362B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1371600" y="6811963"/>
            <a:ext cx="3311128" cy="784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89"/>
              </a:lnSpc>
              <a:buNone/>
            </a:pPr>
            <a:r>
              <a:rPr lang="en-US" sz="2100" b="1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· Consultant · Analyst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5157788" y="2567914"/>
            <a:ext cx="3862387" cy="5352653"/>
          </a:xfrm>
          <a:prstGeom prst="roundRect">
            <a:avLst>
              <a:gd name="adj" fmla="val 4932"/>
            </a:avLst>
          </a:prstGeom>
          <a:solidFill>
            <a:srgbClr val="1B16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5481638" y="2929864"/>
            <a:ext cx="762000" cy="762000"/>
          </a:xfrm>
          <a:prstGeom prst="roundRect">
            <a:avLst>
              <a:gd name="adj" fmla="val 25000"/>
            </a:avLst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443538" y="2929864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328"/>
              </a:lnSpc>
              <a:buNone/>
            </a:pPr>
            <a:r>
              <a:rPr lang="en-US" sz="3150" b="1" dirty="0">
                <a:solidFill>
                  <a:srgbClr val="1B1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150" dirty="0"/>
          </a:p>
        </p:txBody>
      </p:sp>
      <p:sp>
        <p:nvSpPr>
          <p:cNvPr id="19" name="Text 17"/>
          <p:cNvSpPr/>
          <p:nvPr/>
        </p:nvSpPr>
        <p:spPr>
          <a:xfrm>
            <a:off x="5481638" y="3825214"/>
            <a:ext cx="3536156" cy="563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068"/>
              </a:lnSpc>
              <a:buNone/>
            </a:pPr>
            <a:r>
              <a:rPr lang="en-US" sz="3450" b="1" dirty="0">
                <a:solidFill>
                  <a:srgbClr val="C4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3450" dirty="0"/>
          </a:p>
        </p:txBody>
      </p:sp>
      <p:sp>
        <p:nvSpPr>
          <p:cNvPr id="20" name="Text 18"/>
          <p:cNvSpPr/>
          <p:nvPr/>
        </p:nvSpPr>
        <p:spPr>
          <a:xfrm>
            <a:off x="5160169" y="4484291"/>
            <a:ext cx="3536156" cy="491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705"/>
              </a:lnSpc>
              <a:buNone/>
            </a:pPr>
            <a:r>
              <a:rPr lang="en-US" sz="255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المهمة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5481638" y="5071004"/>
            <a:ext cx="3536156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481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Defines what's required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5385197" y="5618692"/>
            <a:ext cx="331112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9B8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تحدد المطلوب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5481638" y="6623579"/>
            <a:ext cx="3214688" cy="16933"/>
          </a:xfrm>
          <a:prstGeom prst="rect">
            <a:avLst/>
          </a:prstGeom>
          <a:solidFill>
            <a:srgbClr val="362B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481638" y="6811963"/>
            <a:ext cx="3311128" cy="784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89"/>
              </a:lnSpc>
              <a:buNone/>
            </a:pPr>
            <a:r>
              <a:rPr lang="en-US" sz="2100" b="1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· Analyze · Generate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9267825" y="2567914"/>
            <a:ext cx="3862387" cy="5352653"/>
          </a:xfrm>
          <a:prstGeom prst="roundRect">
            <a:avLst>
              <a:gd name="adj" fmla="val 4932"/>
            </a:avLst>
          </a:prstGeom>
          <a:solidFill>
            <a:srgbClr val="1B16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9591675" y="2929864"/>
            <a:ext cx="762000" cy="762000"/>
          </a:xfrm>
          <a:prstGeom prst="roundRect">
            <a:avLst>
              <a:gd name="adj" fmla="val 25000"/>
            </a:avLst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9553575" y="2929864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328"/>
              </a:lnSpc>
              <a:buNone/>
            </a:pPr>
            <a:r>
              <a:rPr lang="en-US" sz="3150" b="1" dirty="0">
                <a:solidFill>
                  <a:srgbClr val="1B1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150" dirty="0"/>
          </a:p>
        </p:txBody>
      </p:sp>
      <p:sp>
        <p:nvSpPr>
          <p:cNvPr id="28" name="Text 26"/>
          <p:cNvSpPr/>
          <p:nvPr/>
        </p:nvSpPr>
        <p:spPr>
          <a:xfrm>
            <a:off x="9591675" y="3825214"/>
            <a:ext cx="3536156" cy="563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068"/>
              </a:lnSpc>
              <a:buNone/>
            </a:pPr>
            <a:r>
              <a:rPr lang="en-US" sz="3450" b="1" dirty="0">
                <a:solidFill>
                  <a:srgbClr val="C4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3450" dirty="0"/>
          </a:p>
        </p:txBody>
      </p:sp>
      <p:sp>
        <p:nvSpPr>
          <p:cNvPr id="29" name="Text 27"/>
          <p:cNvSpPr/>
          <p:nvPr/>
        </p:nvSpPr>
        <p:spPr>
          <a:xfrm>
            <a:off x="9270206" y="4484291"/>
            <a:ext cx="3536156" cy="491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705"/>
              </a:lnSpc>
              <a:buNone/>
            </a:pPr>
            <a:r>
              <a:rPr lang="en-US" sz="255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السياق</a:t>
            </a:r>
            <a:endParaRPr lang="en-US" sz="2550" dirty="0"/>
          </a:p>
        </p:txBody>
      </p:sp>
      <p:sp>
        <p:nvSpPr>
          <p:cNvPr id="30" name="Text 28"/>
          <p:cNvSpPr/>
          <p:nvPr/>
        </p:nvSpPr>
        <p:spPr>
          <a:xfrm>
            <a:off x="9591675" y="5071004"/>
            <a:ext cx="3536156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481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background it needs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9495234" y="5618692"/>
            <a:ext cx="331112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9B8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الخلفية اللي محتاجها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9591675" y="6623579"/>
            <a:ext cx="3214688" cy="16933"/>
          </a:xfrm>
          <a:prstGeom prst="rect">
            <a:avLst/>
          </a:prstGeom>
          <a:solidFill>
            <a:srgbClr val="362B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9591675" y="6811963"/>
            <a:ext cx="3311128" cy="784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89"/>
              </a:lnSpc>
              <a:buNone/>
            </a:pPr>
            <a:r>
              <a:rPr lang="en-US" sz="2100" b="1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· Audience · Goal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13377863" y="2567914"/>
            <a:ext cx="3862387" cy="5352653"/>
          </a:xfrm>
          <a:prstGeom prst="roundRect">
            <a:avLst>
              <a:gd name="adj" fmla="val 4932"/>
            </a:avLst>
          </a:prstGeom>
          <a:solidFill>
            <a:srgbClr val="1B16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13701713" y="2929864"/>
            <a:ext cx="762000" cy="762000"/>
          </a:xfrm>
          <a:prstGeom prst="roundRect">
            <a:avLst>
              <a:gd name="adj" fmla="val 25000"/>
            </a:avLst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13663613" y="2929864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328"/>
              </a:lnSpc>
              <a:buNone/>
            </a:pPr>
            <a:r>
              <a:rPr lang="en-US" sz="3150" b="1" dirty="0">
                <a:solidFill>
                  <a:srgbClr val="1B1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150" dirty="0"/>
          </a:p>
        </p:txBody>
      </p:sp>
      <p:sp>
        <p:nvSpPr>
          <p:cNvPr id="37" name="Text 35"/>
          <p:cNvSpPr/>
          <p:nvPr/>
        </p:nvSpPr>
        <p:spPr>
          <a:xfrm>
            <a:off x="13701713" y="3825214"/>
            <a:ext cx="3536156" cy="563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068"/>
              </a:lnSpc>
              <a:buNone/>
            </a:pPr>
            <a:r>
              <a:rPr lang="en-US" sz="3450" b="1" dirty="0">
                <a:solidFill>
                  <a:srgbClr val="C4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</a:t>
            </a:r>
            <a:endParaRPr lang="en-US" sz="3450" dirty="0"/>
          </a:p>
        </p:txBody>
      </p:sp>
      <p:sp>
        <p:nvSpPr>
          <p:cNvPr id="38" name="Text 36"/>
          <p:cNvSpPr/>
          <p:nvPr/>
        </p:nvSpPr>
        <p:spPr>
          <a:xfrm>
            <a:off x="13380244" y="4484291"/>
            <a:ext cx="3536156" cy="491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705"/>
              </a:lnSpc>
              <a:buNone/>
            </a:pPr>
            <a:r>
              <a:rPr lang="en-US" sz="255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القيود</a:t>
            </a:r>
            <a:endParaRPr lang="en-US" sz="2550" dirty="0"/>
          </a:p>
        </p:txBody>
      </p:sp>
      <p:sp>
        <p:nvSpPr>
          <p:cNvPr id="39" name="Text 37"/>
          <p:cNvSpPr/>
          <p:nvPr/>
        </p:nvSpPr>
        <p:spPr>
          <a:xfrm>
            <a:off x="13701713" y="5071004"/>
            <a:ext cx="3536156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481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Defines how to execute</a:t>
            </a:r>
            <a:endParaRPr lang="en-US" sz="2250" dirty="0"/>
          </a:p>
        </p:txBody>
      </p:sp>
      <p:sp>
        <p:nvSpPr>
          <p:cNvPr id="40" name="Text 38"/>
          <p:cNvSpPr/>
          <p:nvPr/>
        </p:nvSpPr>
        <p:spPr>
          <a:xfrm>
            <a:off x="13605272" y="5618692"/>
            <a:ext cx="331112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9B8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تحدد إزاي ينفذ</a:t>
            </a:r>
            <a:endParaRPr lang="en-US" sz="2250" dirty="0"/>
          </a:p>
        </p:txBody>
      </p:sp>
      <p:sp>
        <p:nvSpPr>
          <p:cNvPr id="41" name="Shape 39"/>
          <p:cNvSpPr/>
          <p:nvPr/>
        </p:nvSpPr>
        <p:spPr>
          <a:xfrm>
            <a:off x="13701713" y="6996906"/>
            <a:ext cx="3214688" cy="16933"/>
          </a:xfrm>
          <a:prstGeom prst="rect">
            <a:avLst/>
          </a:prstGeom>
          <a:solidFill>
            <a:srgbClr val="362B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13701713" y="7185289"/>
            <a:ext cx="3311128" cy="411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89"/>
              </a:lnSpc>
              <a:buNone/>
            </a:pPr>
            <a:r>
              <a:rPr lang="en-US" sz="2100" b="1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· Length · Style</a:t>
            </a:r>
            <a:endParaRPr lang="en-US" sz="2100" dirty="0"/>
          </a:p>
        </p:txBody>
      </p:sp>
      <p:sp>
        <p:nvSpPr>
          <p:cNvPr id="43" name="Shape 41"/>
          <p:cNvSpPr/>
          <p:nvPr/>
        </p:nvSpPr>
        <p:spPr>
          <a:xfrm>
            <a:off x="1047750" y="8301567"/>
            <a:ext cx="16192500" cy="990600"/>
          </a:xfrm>
          <a:prstGeom prst="roundRect">
            <a:avLst>
              <a:gd name="adj" fmla="val 17308"/>
            </a:avLst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1428750" y="8568267"/>
            <a:ext cx="648615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21"/>
              </a:lnSpc>
              <a:buNone/>
            </a:pPr>
            <a:r>
              <a:rPr lang="en-US" sz="2700" b="1" dirty="0">
                <a:solidFill>
                  <a:srgbClr val="1B1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Rule: Clarity = Better Output</a:t>
            </a:r>
            <a:endParaRPr lang="en-US" sz="2700" dirty="0"/>
          </a:p>
        </p:txBody>
      </p:sp>
      <p:sp>
        <p:nvSpPr>
          <p:cNvPr id="45" name="Text 43"/>
          <p:cNvSpPr/>
          <p:nvPr/>
        </p:nvSpPr>
        <p:spPr>
          <a:xfrm>
            <a:off x="12513125" y="8568267"/>
            <a:ext cx="434612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8571"/>
              </a:lnSpc>
              <a:buNone/>
            </a:pPr>
            <a:r>
              <a:rPr lang="en-US" sz="2400" b="1" dirty="0">
                <a:solidFill>
                  <a:srgbClr val="2E1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القاعدة الذهبية: الوضوح = نتيجة أفضل</a:t>
            </a:r>
            <a:endParaRPr lang="en-US" sz="2400" dirty="0"/>
          </a:p>
        </p:txBody>
      </p:sp>
      <p:sp>
        <p:nvSpPr>
          <p:cNvPr id="46" name="Shape 44"/>
          <p:cNvSpPr/>
          <p:nvPr/>
        </p:nvSpPr>
        <p:spPr>
          <a:xfrm>
            <a:off x="1047750" y="9292167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1047750" y="9575800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48" name="Text 46"/>
          <p:cNvSpPr/>
          <p:nvPr/>
        </p:nvSpPr>
        <p:spPr>
          <a:xfrm>
            <a:off x="15536202" y="9575800"/>
            <a:ext cx="187445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CRAFT</a:t>
            </a:r>
            <a:endParaRPr lang="en-US" sz="2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07327" cy="10287000"/>
          </a:xfrm>
          <a:prstGeom prst="rect">
            <a:avLst/>
          </a:prstGeom>
          <a:solidFill>
            <a:srgbClr val="1B16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76250" y="762000"/>
            <a:ext cx="4897472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b="1" kern="0" spc="360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1 OF 8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76250" y="4657725"/>
            <a:ext cx="5230310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0142"/>
              </a:lnSpc>
              <a:buNone/>
            </a:pPr>
            <a:r>
              <a:rPr lang="en-US" sz="15000" b="1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47625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91440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362B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135255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362B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79070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362B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22885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362B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66700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362B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10515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362B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54330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362B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564577" y="1585119"/>
            <a:ext cx="11952790" cy="897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836"/>
              </a:lnSpc>
              <a:buNone/>
            </a:pPr>
            <a:r>
              <a:rPr lang="en-US" sz="6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Prompting</a:t>
            </a:r>
            <a:endParaRPr lang="en-US" sz="6150" dirty="0"/>
          </a:p>
        </p:txBody>
      </p:sp>
      <p:sp>
        <p:nvSpPr>
          <p:cNvPr id="14" name="Text 12"/>
          <p:cNvSpPr/>
          <p:nvPr/>
        </p:nvSpPr>
        <p:spPr>
          <a:xfrm>
            <a:off x="5477960" y="2691871"/>
            <a:ext cx="11952790" cy="607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2125"/>
              </a:lnSpc>
              <a:buNone/>
            </a:pPr>
            <a:r>
              <a:rPr lang="en-US" sz="345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أوامر الدور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6564577" y="3509036"/>
            <a:ext cx="11952790" cy="544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143"/>
              </a:lnSpc>
              <a:buNone/>
            </a:pPr>
            <a:r>
              <a:rPr lang="en-US" sz="28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AI a specific professional identity before the task.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5477960" y="4263364"/>
            <a:ext cx="11952790" cy="556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9091"/>
              </a:lnSpc>
              <a:buNone/>
            </a:pPr>
            <a:r>
              <a:rPr lang="en-US" sz="25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أعطِ الذكاء الاصطناعي هوية مهنية محددة قبل المهمة.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6564577" y="5029068"/>
            <a:ext cx="10866173" cy="2072481"/>
          </a:xfrm>
          <a:custGeom>
            <a:avLst/>
            <a:gdLst/>
            <a:ahLst/>
            <a:cxnLst/>
            <a:rect l="l" t="t" r="r" b="b"/>
            <a:pathLst>
              <a:path w="10866173" h="2072481">
                <a:moveTo>
                  <a:pt x="0" y="0"/>
                </a:moveTo>
                <a:lnTo>
                  <a:pt x="10694723" y="0"/>
                </a:lnTo>
                <a:arcTo wR="171450" hR="171450" stAng="16200000" swAng="5400000"/>
                <a:lnTo>
                  <a:pt x="10866173" y="1901031"/>
                </a:lnTo>
                <a:arcTo wR="171450" hR="171450" stAng="0" swAng="5400000"/>
                <a:lnTo>
                  <a:pt x="0" y="2072481"/>
                </a:lnTo>
                <a:lnTo>
                  <a:pt x="0" y="0"/>
                </a:lnTo>
                <a:close/>
              </a:path>
            </a:pathLst>
          </a:custGeom>
          <a:solidFill>
            <a:srgbClr val="1B16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6564577" y="5029068"/>
            <a:ext cx="93133" cy="2072481"/>
          </a:xfrm>
          <a:prstGeom prst="rect">
            <a:avLst/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7000610" y="5314818"/>
            <a:ext cx="332966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94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PROMPT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5730803" y="5314818"/>
            <a:ext cx="14927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94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 على الأمر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000610" y="5714868"/>
            <a:ext cx="11095964" cy="518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38"/>
              </a:lnSpc>
              <a:buNone/>
            </a:pPr>
            <a:r>
              <a:rPr lang="en-US" sz="2700" dirty="0">
                <a:solidFill>
                  <a:srgbClr val="E9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"Act as a supply chain director with 15 years of experience..."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5991886" y="6328172"/>
            <a:ext cx="11095964" cy="525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7143"/>
              </a:lnSpc>
              <a:buNone/>
            </a:pPr>
            <a:r>
              <a:rPr lang="en-US" sz="2400" dirty="0">
                <a:solidFill>
                  <a:srgbClr val="B4A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"تصرف كمدير سلسلة إمداد بخبرة ١٥ عاماً..."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6564577" y="7349199"/>
            <a:ext cx="10866173" cy="1352550"/>
          </a:xfrm>
          <a:prstGeom prst="roundRect">
            <a:avLst>
              <a:gd name="adj" fmla="val 12676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888427" y="7596849"/>
            <a:ext cx="7108433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it when: You need domain-specific vocabulary and judgement.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3984629" y="7596849"/>
            <a:ext cx="3122271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 محتاج مفردات وحكم مخصص لمجال معين</a:t>
            </a:r>
            <a:endParaRPr lang="en-US" sz="2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07327" cy="10287000"/>
          </a:xfrm>
          <a:prstGeom prst="rect">
            <a:avLst/>
          </a:prstGeom>
          <a:solidFill>
            <a:srgbClr val="1B16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76250" y="762000"/>
            <a:ext cx="4897472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b="1" kern="0" spc="360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2 OF 8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76250" y="4657725"/>
            <a:ext cx="5230310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0142"/>
              </a:lnSpc>
              <a:buNone/>
            </a:pPr>
            <a:r>
              <a:rPr lang="en-US" sz="15000" b="1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47625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91440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135255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362B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79070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362B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22885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362B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66700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362B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10515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362B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54330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362B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564577" y="1345142"/>
            <a:ext cx="11952790" cy="897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836"/>
              </a:lnSpc>
              <a:buNone/>
            </a:pPr>
            <a:r>
              <a:rPr lang="en-US" sz="6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Engineering</a:t>
            </a:r>
            <a:endParaRPr lang="en-US" sz="6150" dirty="0"/>
          </a:p>
        </p:txBody>
      </p:sp>
      <p:sp>
        <p:nvSpPr>
          <p:cNvPr id="14" name="Text 12"/>
          <p:cNvSpPr/>
          <p:nvPr/>
        </p:nvSpPr>
        <p:spPr>
          <a:xfrm>
            <a:off x="5477960" y="2451894"/>
            <a:ext cx="11952790" cy="607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2125"/>
              </a:lnSpc>
              <a:buNone/>
            </a:pPr>
            <a:r>
              <a:rPr lang="en-US" sz="345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هندسة السياق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6564577" y="3269059"/>
            <a:ext cx="11952790" cy="544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143"/>
              </a:lnSpc>
              <a:buNone/>
            </a:pPr>
            <a:r>
              <a:rPr lang="en-US" sz="28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Front-load AI with the background it needs before asking anything.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5477960" y="4023386"/>
            <a:ext cx="11952790" cy="556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9091"/>
              </a:lnSpc>
              <a:buNone/>
            </a:pPr>
            <a:r>
              <a:rPr lang="en-US" sz="25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زوّد الذكاء الاصطناعي بالخلفية اللي محتاجها قبل ما تسأل أي حاجة.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6564577" y="4789091"/>
            <a:ext cx="10866173" cy="2552435"/>
          </a:xfrm>
          <a:custGeom>
            <a:avLst/>
            <a:gdLst/>
            <a:ahLst/>
            <a:cxnLst/>
            <a:rect l="l" t="t" r="r" b="b"/>
            <a:pathLst>
              <a:path w="10866173" h="2552435">
                <a:moveTo>
                  <a:pt x="0" y="0"/>
                </a:moveTo>
                <a:lnTo>
                  <a:pt x="10694723" y="0"/>
                </a:lnTo>
                <a:arcTo wR="171450" hR="171450" stAng="16200000" swAng="5400000"/>
                <a:lnTo>
                  <a:pt x="10866173" y="2380985"/>
                </a:lnTo>
                <a:arcTo wR="171450" hR="171450" stAng="0" swAng="5400000"/>
                <a:lnTo>
                  <a:pt x="0" y="2552435"/>
                </a:lnTo>
                <a:lnTo>
                  <a:pt x="0" y="0"/>
                </a:lnTo>
                <a:close/>
              </a:path>
            </a:pathLst>
          </a:custGeom>
          <a:solidFill>
            <a:srgbClr val="1B16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6564577" y="4789091"/>
            <a:ext cx="93133" cy="2552435"/>
          </a:xfrm>
          <a:prstGeom prst="rect">
            <a:avLst/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7000610" y="5074841"/>
            <a:ext cx="332966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94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PROMPT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5730803" y="5074841"/>
            <a:ext cx="14927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94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 على الأمر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000610" y="5474891"/>
            <a:ext cx="10389857" cy="998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38"/>
              </a:lnSpc>
              <a:buNone/>
            </a:pPr>
            <a:r>
              <a:rPr lang="en-US" sz="2700" dirty="0">
                <a:solidFill>
                  <a:srgbClr val="E9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"Our company sells industrial pumps to the Gulf market, mainly B2B..."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5991886" y="6568149"/>
            <a:ext cx="11095964" cy="525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7143"/>
              </a:lnSpc>
              <a:buNone/>
            </a:pPr>
            <a:r>
              <a:rPr lang="en-US" sz="2400" dirty="0">
                <a:solidFill>
                  <a:srgbClr val="B4A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"شركتنا بتبيع مضخات صناعية لسوق الخليج، B2B غالباً..."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6564577" y="7589176"/>
            <a:ext cx="10866173" cy="1352550"/>
          </a:xfrm>
          <a:prstGeom prst="roundRect">
            <a:avLst>
              <a:gd name="adj" fmla="val 12676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888427" y="7836826"/>
            <a:ext cx="728761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it when: The task depends heavily on your specific business situation.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4163812" y="7836826"/>
            <a:ext cx="2943089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 المهمة بتعتمد بشدة على وضع شركتك المحدد</a:t>
            </a:r>
            <a:endParaRPr lang="en-US" sz="2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07327" cy="10287000"/>
          </a:xfrm>
          <a:prstGeom prst="rect">
            <a:avLst/>
          </a:prstGeom>
          <a:solidFill>
            <a:srgbClr val="1B16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76250" y="762000"/>
            <a:ext cx="4897472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b="1" kern="0" spc="360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3 OF 8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76250" y="4657725"/>
            <a:ext cx="5230310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0142"/>
              </a:lnSpc>
              <a:buNone/>
            </a:pPr>
            <a:r>
              <a:rPr lang="en-US" sz="15000" b="1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47625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91440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135255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79070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362B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22885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362B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66700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362B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10515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362B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54330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362B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564577" y="1091803"/>
            <a:ext cx="11952790" cy="897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836"/>
              </a:lnSpc>
              <a:buNone/>
            </a:pPr>
            <a:r>
              <a:rPr lang="en-US" sz="6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 Prompting</a:t>
            </a:r>
            <a:endParaRPr lang="en-US" sz="6150" dirty="0"/>
          </a:p>
        </p:txBody>
      </p:sp>
      <p:sp>
        <p:nvSpPr>
          <p:cNvPr id="14" name="Text 12"/>
          <p:cNvSpPr/>
          <p:nvPr/>
        </p:nvSpPr>
        <p:spPr>
          <a:xfrm>
            <a:off x="5477960" y="2198555"/>
            <a:ext cx="11952790" cy="607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2125"/>
              </a:lnSpc>
              <a:buNone/>
            </a:pPr>
            <a:r>
              <a:rPr lang="en-US" sz="345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أوامر الأمثلة القليلة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6564577" y="3015721"/>
            <a:ext cx="11192158" cy="10514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143"/>
              </a:lnSpc>
              <a:buNone/>
            </a:pPr>
            <a:r>
              <a:rPr lang="en-US" sz="28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2-3 examples of exactly what you want before asking for more.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5477960" y="4276725"/>
            <a:ext cx="11952790" cy="556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9091"/>
              </a:lnSpc>
              <a:buNone/>
            </a:pPr>
            <a:r>
              <a:rPr lang="en-US" sz="25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اعرض ٢-٣ أمثلة على بالظبط اللي عايزه قبل ما تطلب المزيد.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6564577" y="5042429"/>
            <a:ext cx="10866173" cy="2552435"/>
          </a:xfrm>
          <a:custGeom>
            <a:avLst/>
            <a:gdLst/>
            <a:ahLst/>
            <a:cxnLst/>
            <a:rect l="l" t="t" r="r" b="b"/>
            <a:pathLst>
              <a:path w="10866173" h="2552435">
                <a:moveTo>
                  <a:pt x="0" y="0"/>
                </a:moveTo>
                <a:lnTo>
                  <a:pt x="10694723" y="0"/>
                </a:lnTo>
                <a:arcTo wR="171450" hR="171450" stAng="16200000" swAng="5400000"/>
                <a:lnTo>
                  <a:pt x="10866173" y="2380985"/>
                </a:lnTo>
                <a:arcTo wR="171450" hR="171450" stAng="0" swAng="5400000"/>
                <a:lnTo>
                  <a:pt x="0" y="2552435"/>
                </a:lnTo>
                <a:lnTo>
                  <a:pt x="0" y="0"/>
                </a:lnTo>
                <a:close/>
              </a:path>
            </a:pathLst>
          </a:custGeom>
          <a:solidFill>
            <a:srgbClr val="1B16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6564577" y="5042429"/>
            <a:ext cx="93133" cy="2552435"/>
          </a:xfrm>
          <a:prstGeom prst="rect">
            <a:avLst/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7000610" y="5328179"/>
            <a:ext cx="332966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94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PROMPT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5730803" y="5328179"/>
            <a:ext cx="14927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94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 على الأمر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000610" y="5728229"/>
            <a:ext cx="10389857" cy="998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38"/>
              </a:lnSpc>
              <a:buNone/>
            </a:pPr>
            <a:r>
              <a:rPr lang="en-US" sz="2700" dirty="0">
                <a:solidFill>
                  <a:srgbClr val="E9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"Here are 2 sample product titles I like: [...]. Write 10 more in the same style."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5991886" y="6821488"/>
            <a:ext cx="11095964" cy="525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7143"/>
              </a:lnSpc>
              <a:buNone/>
            </a:pPr>
            <a:r>
              <a:rPr lang="en-US" sz="2400" dirty="0">
                <a:solidFill>
                  <a:srgbClr val="B4A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"دي عنوانين منتج بحبهم: [...]. اكتب ١٠ تانيين بنفس الأسلوب"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6564577" y="7842515"/>
            <a:ext cx="10866173" cy="1352550"/>
          </a:xfrm>
          <a:prstGeom prst="roundRect">
            <a:avLst>
              <a:gd name="adj" fmla="val 12676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888427" y="8090165"/>
            <a:ext cx="693688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it when: Tone or format is hard to describe but easy to show.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3813077" y="8090165"/>
            <a:ext cx="3293823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 النبرة أو الشكل صعب تشرحه لكن سهل توريه</a:t>
            </a:r>
            <a:endParaRPr lang="en-US" sz="2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07327" cy="10287000"/>
          </a:xfrm>
          <a:prstGeom prst="rect">
            <a:avLst/>
          </a:prstGeom>
          <a:solidFill>
            <a:srgbClr val="1B16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76250" y="762000"/>
            <a:ext cx="4897472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b="1" kern="0" spc="360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4 OF 8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76250" y="4657725"/>
            <a:ext cx="5230310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0142"/>
              </a:lnSpc>
              <a:buNone/>
            </a:pPr>
            <a:r>
              <a:rPr lang="en-US" sz="15000" b="1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47625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91440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135255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79070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22885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362B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66700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362B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10515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362B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54330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362B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564577" y="1345142"/>
            <a:ext cx="11952790" cy="897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836"/>
              </a:lnSpc>
              <a:buNone/>
            </a:pPr>
            <a:r>
              <a:rPr lang="en-US" sz="6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Chain-of-Thought</a:t>
            </a:r>
            <a:endParaRPr lang="en-US" sz="6150" dirty="0"/>
          </a:p>
        </p:txBody>
      </p:sp>
      <p:sp>
        <p:nvSpPr>
          <p:cNvPr id="14" name="Text 12"/>
          <p:cNvSpPr/>
          <p:nvPr/>
        </p:nvSpPr>
        <p:spPr>
          <a:xfrm>
            <a:off x="5477960" y="2451894"/>
            <a:ext cx="11952790" cy="607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2125"/>
              </a:lnSpc>
              <a:buNone/>
            </a:pPr>
            <a:r>
              <a:rPr lang="en-US" sz="345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سلسلة التفكير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6564577" y="3269059"/>
            <a:ext cx="11952790" cy="544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143"/>
              </a:lnSpc>
              <a:buNone/>
            </a:pPr>
            <a:r>
              <a:rPr lang="en-US" sz="28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AI to reason step-by-step before giving a final answer.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5477960" y="4023386"/>
            <a:ext cx="11952790" cy="556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9091"/>
              </a:lnSpc>
              <a:buNone/>
            </a:pPr>
            <a:r>
              <a:rPr lang="en-US" sz="25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اطلب من الذكاء الاصطناعي يفكر خطوة بخطوة قبل الإجابة النهائية.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6564577" y="4789091"/>
            <a:ext cx="10866173" cy="2552435"/>
          </a:xfrm>
          <a:custGeom>
            <a:avLst/>
            <a:gdLst/>
            <a:ahLst/>
            <a:cxnLst/>
            <a:rect l="l" t="t" r="r" b="b"/>
            <a:pathLst>
              <a:path w="10866173" h="2552435">
                <a:moveTo>
                  <a:pt x="0" y="0"/>
                </a:moveTo>
                <a:lnTo>
                  <a:pt x="10694723" y="0"/>
                </a:lnTo>
                <a:arcTo wR="171450" hR="171450" stAng="16200000" swAng="5400000"/>
                <a:lnTo>
                  <a:pt x="10866173" y="2380985"/>
                </a:lnTo>
                <a:arcTo wR="171450" hR="171450" stAng="0" swAng="5400000"/>
                <a:lnTo>
                  <a:pt x="0" y="2552435"/>
                </a:lnTo>
                <a:lnTo>
                  <a:pt x="0" y="0"/>
                </a:lnTo>
                <a:close/>
              </a:path>
            </a:pathLst>
          </a:custGeom>
          <a:solidFill>
            <a:srgbClr val="1B16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6564577" y="4789091"/>
            <a:ext cx="93133" cy="2552435"/>
          </a:xfrm>
          <a:prstGeom prst="rect">
            <a:avLst/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7000610" y="5074841"/>
            <a:ext cx="332966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94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PROMPT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5730803" y="5074841"/>
            <a:ext cx="14927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94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 على الأمر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000610" y="5474891"/>
            <a:ext cx="10389857" cy="998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38"/>
              </a:lnSpc>
              <a:buNone/>
            </a:pPr>
            <a:r>
              <a:rPr lang="en-US" sz="2700" dirty="0">
                <a:solidFill>
                  <a:srgbClr val="E9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"Think through this step by step, then give your final recommendation."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5991886" y="6568149"/>
            <a:ext cx="11095964" cy="525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7143"/>
              </a:lnSpc>
              <a:buNone/>
            </a:pPr>
            <a:r>
              <a:rPr lang="en-US" sz="2400" dirty="0">
                <a:solidFill>
                  <a:srgbClr val="B4A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"فكّر في ده خطوة بخطوة، وبعدين أدِّ توصيتك النهائية"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6564577" y="7589176"/>
            <a:ext cx="10866173" cy="1352550"/>
          </a:xfrm>
          <a:prstGeom prst="roundRect">
            <a:avLst>
              <a:gd name="adj" fmla="val 12676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888427" y="7836826"/>
            <a:ext cx="6986208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it when: The task involves multiple steps, logic, or numbers.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3862403" y="7836826"/>
            <a:ext cx="3244497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 المهمة فيها خطوات متعددة أو منطق أو أرقام</a:t>
            </a:r>
            <a:endParaRPr lang="en-US" sz="2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07327" cy="10287000"/>
          </a:xfrm>
          <a:prstGeom prst="rect">
            <a:avLst/>
          </a:prstGeom>
          <a:solidFill>
            <a:srgbClr val="1B16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76250" y="762000"/>
            <a:ext cx="4897472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b="1" kern="0" spc="360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5 OF 8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76250" y="4657725"/>
            <a:ext cx="5230310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0142"/>
              </a:lnSpc>
              <a:buNone/>
            </a:pPr>
            <a:r>
              <a:rPr lang="en-US" sz="15000" b="1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47625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91440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135255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79070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22885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66700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362B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10515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362B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54330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362B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564577" y="1345142"/>
            <a:ext cx="11952790" cy="897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836"/>
              </a:lnSpc>
              <a:buNone/>
            </a:pPr>
            <a:r>
              <a:rPr lang="en-US" sz="6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Prompting</a:t>
            </a:r>
            <a:endParaRPr lang="en-US" sz="6150" dirty="0"/>
          </a:p>
        </p:txBody>
      </p:sp>
      <p:sp>
        <p:nvSpPr>
          <p:cNvPr id="14" name="Text 12"/>
          <p:cNvSpPr/>
          <p:nvPr/>
        </p:nvSpPr>
        <p:spPr>
          <a:xfrm>
            <a:off x="5477960" y="2451894"/>
            <a:ext cx="11952790" cy="607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2125"/>
              </a:lnSpc>
              <a:buNone/>
            </a:pPr>
            <a:r>
              <a:rPr lang="en-US" sz="345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أوامر الشخصية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6564577" y="3269059"/>
            <a:ext cx="11952790" cy="544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143"/>
              </a:lnSpc>
              <a:buNone/>
            </a:pPr>
            <a:r>
              <a:rPr lang="en-US" sz="28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AI to respond AS a specific type of person, not just a role.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5477960" y="4023386"/>
            <a:ext cx="11952790" cy="556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9091"/>
              </a:lnSpc>
              <a:buNone/>
            </a:pPr>
            <a:r>
              <a:rPr lang="en-US" sz="25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اطلب من الذكاء الاصطناعي يرد بصفته شخصية معينة، مش دور بس.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6564577" y="4789091"/>
            <a:ext cx="10866173" cy="2552435"/>
          </a:xfrm>
          <a:custGeom>
            <a:avLst/>
            <a:gdLst/>
            <a:ahLst/>
            <a:cxnLst/>
            <a:rect l="l" t="t" r="r" b="b"/>
            <a:pathLst>
              <a:path w="10866173" h="2552435">
                <a:moveTo>
                  <a:pt x="0" y="0"/>
                </a:moveTo>
                <a:lnTo>
                  <a:pt x="10694723" y="0"/>
                </a:lnTo>
                <a:arcTo wR="171450" hR="171450" stAng="16200000" swAng="5400000"/>
                <a:lnTo>
                  <a:pt x="10866173" y="2380985"/>
                </a:lnTo>
                <a:arcTo wR="171450" hR="171450" stAng="0" swAng="5400000"/>
                <a:lnTo>
                  <a:pt x="0" y="2552435"/>
                </a:lnTo>
                <a:lnTo>
                  <a:pt x="0" y="0"/>
                </a:lnTo>
                <a:close/>
              </a:path>
            </a:pathLst>
          </a:custGeom>
          <a:solidFill>
            <a:srgbClr val="1B16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6564577" y="4789091"/>
            <a:ext cx="93133" cy="2552435"/>
          </a:xfrm>
          <a:prstGeom prst="rect">
            <a:avLst/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7000610" y="5074841"/>
            <a:ext cx="332966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94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PROMPT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5730803" y="5074841"/>
            <a:ext cx="14927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94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 على الأمر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000610" y="5474891"/>
            <a:ext cx="10389857" cy="998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38"/>
              </a:lnSpc>
              <a:buNone/>
            </a:pPr>
            <a:r>
              <a:rPr lang="en-US" sz="2700" dirty="0">
                <a:solidFill>
                  <a:srgbClr val="E9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"Respond as a skeptical customer who has been disappointed before."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5991886" y="6568149"/>
            <a:ext cx="11095964" cy="525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7143"/>
              </a:lnSpc>
              <a:buNone/>
            </a:pPr>
            <a:r>
              <a:rPr lang="en-US" sz="2400" dirty="0">
                <a:solidFill>
                  <a:srgbClr val="B4A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"رد بصفتك عميل متشكك اتخذل قبل كده"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6564577" y="7589176"/>
            <a:ext cx="10866173" cy="1352550"/>
          </a:xfrm>
          <a:prstGeom prst="roundRect">
            <a:avLst>
              <a:gd name="adj" fmla="val 12676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888427" y="7836826"/>
            <a:ext cx="7554959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it when: You want to pressure-test an idea from a specific viewpoint.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4431154" y="7836826"/>
            <a:ext cx="267574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 عايز تختبر فكرة من وجهة نظر معينة</a:t>
            </a:r>
            <a:endParaRPr lang="en-US" sz="2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07327" cy="10287000"/>
          </a:xfrm>
          <a:prstGeom prst="rect">
            <a:avLst/>
          </a:prstGeom>
          <a:solidFill>
            <a:srgbClr val="1B16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76250" y="762000"/>
            <a:ext cx="4897472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b="1" kern="0" spc="360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6 OF 8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76250" y="4657725"/>
            <a:ext cx="5230310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0142"/>
              </a:lnSpc>
              <a:buNone/>
            </a:pPr>
            <a:r>
              <a:rPr lang="en-US" sz="15000" b="1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47625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91440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135255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79070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22885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66700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10515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362B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54330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362B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564577" y="1345142"/>
            <a:ext cx="11952790" cy="897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836"/>
              </a:lnSpc>
              <a:buNone/>
            </a:pPr>
            <a:r>
              <a:rPr lang="en-US" sz="6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 Prompting</a:t>
            </a:r>
            <a:endParaRPr lang="en-US" sz="6150" dirty="0"/>
          </a:p>
        </p:txBody>
      </p:sp>
      <p:sp>
        <p:nvSpPr>
          <p:cNvPr id="14" name="Text 12"/>
          <p:cNvSpPr/>
          <p:nvPr/>
        </p:nvSpPr>
        <p:spPr>
          <a:xfrm>
            <a:off x="5477960" y="2451894"/>
            <a:ext cx="11952790" cy="607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2125"/>
              </a:lnSpc>
              <a:buNone/>
            </a:pPr>
            <a:r>
              <a:rPr lang="en-US" sz="345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الأوامر التكرارية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6564577" y="3269059"/>
            <a:ext cx="11952790" cy="544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143"/>
              </a:lnSpc>
              <a:buNone/>
            </a:pPr>
            <a:r>
              <a:rPr lang="en-US" sz="28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accept the first draft — refine in small, specific rounds.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5477960" y="4023386"/>
            <a:ext cx="11952790" cy="556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9091"/>
              </a:lnSpc>
              <a:buNone/>
            </a:pPr>
            <a:r>
              <a:rPr lang="en-US" sz="25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متقبلش أول مسودة — حسّن على دفعات صغيرة ومحددة.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6564577" y="4789091"/>
            <a:ext cx="10866173" cy="2552435"/>
          </a:xfrm>
          <a:custGeom>
            <a:avLst/>
            <a:gdLst/>
            <a:ahLst/>
            <a:cxnLst/>
            <a:rect l="l" t="t" r="r" b="b"/>
            <a:pathLst>
              <a:path w="10866173" h="2552435">
                <a:moveTo>
                  <a:pt x="0" y="0"/>
                </a:moveTo>
                <a:lnTo>
                  <a:pt x="10694723" y="0"/>
                </a:lnTo>
                <a:arcTo wR="171450" hR="171450" stAng="16200000" swAng="5400000"/>
                <a:lnTo>
                  <a:pt x="10866173" y="2380985"/>
                </a:lnTo>
                <a:arcTo wR="171450" hR="171450" stAng="0" swAng="5400000"/>
                <a:lnTo>
                  <a:pt x="0" y="2552435"/>
                </a:lnTo>
                <a:lnTo>
                  <a:pt x="0" y="0"/>
                </a:lnTo>
                <a:close/>
              </a:path>
            </a:pathLst>
          </a:custGeom>
          <a:solidFill>
            <a:srgbClr val="1B16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6564577" y="4789091"/>
            <a:ext cx="93133" cy="2552435"/>
          </a:xfrm>
          <a:prstGeom prst="rect">
            <a:avLst/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7000610" y="5074841"/>
            <a:ext cx="332966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94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PROMPT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5730803" y="5074841"/>
            <a:ext cx="14927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94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 على الأمر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000610" y="5474891"/>
            <a:ext cx="10389857" cy="998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38"/>
              </a:lnSpc>
              <a:buNone/>
            </a:pPr>
            <a:r>
              <a:rPr lang="en-US" sz="2700" dirty="0">
                <a:solidFill>
                  <a:srgbClr val="E9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"Good start. Now make paragraph 2 more concise and add one statistic."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5991886" y="6568149"/>
            <a:ext cx="11095964" cy="525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7143"/>
              </a:lnSpc>
              <a:buNone/>
            </a:pPr>
            <a:r>
              <a:rPr lang="en-US" sz="2400" dirty="0">
                <a:solidFill>
                  <a:srgbClr val="B4A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"بداية كويسة. خلي الفقرة التانية أكثر إيجازاً وضيف إحصائية"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6564577" y="7589176"/>
            <a:ext cx="10866173" cy="1352550"/>
          </a:xfrm>
          <a:prstGeom prst="roundRect">
            <a:avLst>
              <a:gd name="adj" fmla="val 12676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888427" y="7836826"/>
            <a:ext cx="7056109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it when: Almost always — this is the habit that separates amateurs from pros.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3932304" y="7836826"/>
            <a:ext cx="317459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تقريباً دايماً — دي العادة اللي بتفرق بين الهاوي والمحترف</a:t>
            </a:r>
            <a:endParaRPr lang="en-US" sz="2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07327" cy="10287000"/>
          </a:xfrm>
          <a:prstGeom prst="rect">
            <a:avLst/>
          </a:prstGeom>
          <a:solidFill>
            <a:srgbClr val="1B16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76250" y="762000"/>
            <a:ext cx="4897472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b="1" kern="0" spc="360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7 OF 8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76250" y="4657725"/>
            <a:ext cx="5230310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0142"/>
              </a:lnSpc>
              <a:buNone/>
            </a:pPr>
            <a:r>
              <a:rPr lang="en-US" sz="15000" b="1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47625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91440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135255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79070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22885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66700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10515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54330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362B6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564577" y="1345142"/>
            <a:ext cx="11952790" cy="897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836"/>
              </a:lnSpc>
              <a:buNone/>
            </a:pPr>
            <a:r>
              <a:rPr lang="en-US" sz="6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/ JSON Outputs</a:t>
            </a:r>
            <a:endParaRPr lang="en-US" sz="6150" dirty="0"/>
          </a:p>
        </p:txBody>
      </p:sp>
      <p:sp>
        <p:nvSpPr>
          <p:cNvPr id="14" name="Text 12"/>
          <p:cNvSpPr/>
          <p:nvPr/>
        </p:nvSpPr>
        <p:spPr>
          <a:xfrm>
            <a:off x="5477960" y="2451894"/>
            <a:ext cx="11952790" cy="607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2125"/>
              </a:lnSpc>
              <a:buNone/>
            </a:pPr>
            <a:r>
              <a:rPr lang="en-US" sz="345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المخرجات المنظمة (JSON)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6564577" y="3269059"/>
            <a:ext cx="11952790" cy="544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143"/>
              </a:lnSpc>
              <a:buNone/>
            </a:pPr>
            <a:r>
              <a:rPr lang="en-US" sz="28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output in a strict format your systems can reuse directly.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5477960" y="4023386"/>
            <a:ext cx="11952790" cy="556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9091"/>
              </a:lnSpc>
              <a:buNone/>
            </a:pPr>
            <a:r>
              <a:rPr lang="en-US" sz="25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اطلب المخرجات بشكل صارم تقدر أنظمتك تستخدمه مباشرة.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6564577" y="4789091"/>
            <a:ext cx="10866173" cy="2552435"/>
          </a:xfrm>
          <a:custGeom>
            <a:avLst/>
            <a:gdLst/>
            <a:ahLst/>
            <a:cxnLst/>
            <a:rect l="l" t="t" r="r" b="b"/>
            <a:pathLst>
              <a:path w="10866173" h="2552435">
                <a:moveTo>
                  <a:pt x="0" y="0"/>
                </a:moveTo>
                <a:lnTo>
                  <a:pt x="10694723" y="0"/>
                </a:lnTo>
                <a:arcTo wR="171450" hR="171450" stAng="16200000" swAng="5400000"/>
                <a:lnTo>
                  <a:pt x="10866173" y="2380985"/>
                </a:lnTo>
                <a:arcTo wR="171450" hR="171450" stAng="0" swAng="5400000"/>
                <a:lnTo>
                  <a:pt x="0" y="2552435"/>
                </a:lnTo>
                <a:lnTo>
                  <a:pt x="0" y="0"/>
                </a:lnTo>
                <a:close/>
              </a:path>
            </a:pathLst>
          </a:custGeom>
          <a:solidFill>
            <a:srgbClr val="1B16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6564577" y="4789091"/>
            <a:ext cx="93133" cy="2552435"/>
          </a:xfrm>
          <a:prstGeom prst="rect">
            <a:avLst/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7000610" y="5074841"/>
            <a:ext cx="332966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94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PROMPT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5730803" y="5074841"/>
            <a:ext cx="14927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94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 على الأمر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000610" y="5474891"/>
            <a:ext cx="10389857" cy="998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38"/>
              </a:lnSpc>
              <a:buNone/>
            </a:pPr>
            <a:r>
              <a:rPr lang="en-US" sz="2700" dirty="0">
                <a:solidFill>
                  <a:srgbClr val="E9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"Return the answer as a JSON list with fields: name, score, recommendation."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5991886" y="6568149"/>
            <a:ext cx="11095964" cy="525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7143"/>
              </a:lnSpc>
              <a:buNone/>
            </a:pPr>
            <a:r>
              <a:rPr lang="en-US" sz="2400" dirty="0">
                <a:solidFill>
                  <a:srgbClr val="B4A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"رجّع الإجابة كـ JSON list بحقول: الاسم، الدرجة، التوصية"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6564577" y="7589176"/>
            <a:ext cx="10866173" cy="1352550"/>
          </a:xfrm>
          <a:prstGeom prst="roundRect">
            <a:avLst>
              <a:gd name="adj" fmla="val 12676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888427" y="7836826"/>
            <a:ext cx="6892869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it when: You'll feed the result into a spreadsheet, database, or another tool.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3769065" y="7836826"/>
            <a:ext cx="333783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 هتحط النتيجة في جدول بيانات أو قاعدة بيانات أو أداة تانية</a:t>
            </a:r>
            <a:endParaRPr lang="en-US" sz="2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07327" cy="10287000"/>
          </a:xfrm>
          <a:prstGeom prst="rect">
            <a:avLst/>
          </a:prstGeom>
          <a:solidFill>
            <a:srgbClr val="1B16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76250" y="762000"/>
            <a:ext cx="4897472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b="1" kern="0" spc="360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8 OF 8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76250" y="4657725"/>
            <a:ext cx="5230310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0142"/>
              </a:lnSpc>
              <a:buNone/>
            </a:pPr>
            <a:r>
              <a:rPr lang="en-US" sz="15000" b="1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47625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91440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135255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79070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22885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66700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10515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543300" y="9429750"/>
            <a:ext cx="323850" cy="95250"/>
          </a:xfrm>
          <a:prstGeom prst="roundRect">
            <a:avLst>
              <a:gd name="adj" fmla="val 50000"/>
            </a:avLst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564577" y="1376627"/>
            <a:ext cx="11952790" cy="834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969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Multi-Step Workflow Prompting</a:t>
            </a:r>
            <a:endParaRPr lang="en-US" sz="5700" dirty="0"/>
          </a:p>
        </p:txBody>
      </p:sp>
      <p:sp>
        <p:nvSpPr>
          <p:cNvPr id="14" name="Text 12"/>
          <p:cNvSpPr/>
          <p:nvPr/>
        </p:nvSpPr>
        <p:spPr>
          <a:xfrm>
            <a:off x="5477960" y="2420541"/>
            <a:ext cx="11952790" cy="607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2125"/>
              </a:lnSpc>
              <a:buNone/>
            </a:pPr>
            <a:r>
              <a:rPr lang="en-US" sz="345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أوامر سير العمل متعدد الخطوات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6564577" y="3237706"/>
            <a:ext cx="11952790" cy="544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143"/>
              </a:lnSpc>
              <a:buNone/>
            </a:pPr>
            <a:r>
              <a:rPr lang="en-US" sz="28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several instructions into one structured, ordered request.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5477960" y="3992033"/>
            <a:ext cx="11952790" cy="556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9091"/>
              </a:lnSpc>
              <a:buNone/>
            </a:pPr>
            <a:r>
              <a:rPr lang="en-US" sz="25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اربط عدة تعليمات في طلب واحد منظم ومرتب.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6564577" y="4757738"/>
            <a:ext cx="10866173" cy="2552435"/>
          </a:xfrm>
          <a:custGeom>
            <a:avLst/>
            <a:gdLst/>
            <a:ahLst/>
            <a:cxnLst/>
            <a:rect l="l" t="t" r="r" b="b"/>
            <a:pathLst>
              <a:path w="10866173" h="2552435">
                <a:moveTo>
                  <a:pt x="0" y="0"/>
                </a:moveTo>
                <a:lnTo>
                  <a:pt x="10694723" y="0"/>
                </a:lnTo>
                <a:arcTo wR="171450" hR="171450" stAng="16200000" swAng="5400000"/>
                <a:lnTo>
                  <a:pt x="10866173" y="2380985"/>
                </a:lnTo>
                <a:arcTo wR="171450" hR="171450" stAng="0" swAng="5400000"/>
                <a:lnTo>
                  <a:pt x="0" y="2552435"/>
                </a:lnTo>
                <a:lnTo>
                  <a:pt x="0" y="0"/>
                </a:lnTo>
                <a:close/>
              </a:path>
            </a:pathLst>
          </a:custGeom>
          <a:solidFill>
            <a:srgbClr val="1B16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6564577" y="4757738"/>
            <a:ext cx="93133" cy="2552435"/>
          </a:xfrm>
          <a:prstGeom prst="rect">
            <a:avLst/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7000610" y="5043488"/>
            <a:ext cx="332966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94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PROMPT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5730803" y="5043488"/>
            <a:ext cx="14927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94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 على الأمر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000610" y="5443538"/>
            <a:ext cx="10389857" cy="998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38"/>
              </a:lnSpc>
              <a:buNone/>
            </a:pPr>
            <a:r>
              <a:rPr lang="en-US" sz="2700" dirty="0">
                <a:solidFill>
                  <a:srgbClr val="E9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"First outline the report. Then draft section 1 only. Wait for my approval before continuing."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5991886" y="6536796"/>
            <a:ext cx="11095964" cy="525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7143"/>
              </a:lnSpc>
              <a:buNone/>
            </a:pPr>
            <a:r>
              <a:rPr lang="en-US" sz="2400" dirty="0">
                <a:solidFill>
                  <a:srgbClr val="B4A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"اعمل مخطط التقرير أولاً. بعدين اكتب القسم الأول بس. استنى موافقتي قبل ما تكمل"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6564577" y="7557823"/>
            <a:ext cx="10866173" cy="1352550"/>
          </a:xfrm>
          <a:prstGeom prst="roundRect">
            <a:avLst>
              <a:gd name="adj" fmla="val 12676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888427" y="7805473"/>
            <a:ext cx="737046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it when: A complex task needs to be broken into checkpoints.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4246658" y="7805473"/>
            <a:ext cx="286024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 مهمة معقدة محتاجة تتقسم لنقاط تفتيش</a:t>
            </a:r>
            <a:endParaRPr lang="en-US" sz="2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420817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EVERYTHING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749661" y="762000"/>
            <a:ext cx="13322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دمج الأطر معاً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2666087" cy="1630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969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 Prompts: Stacking Frameworks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3228062" y="1828800"/>
            <a:ext cx="4012188" cy="1078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1682"/>
              </a:lnSpc>
              <a:buNone/>
            </a:pPr>
            <a:r>
              <a:rPr lang="en-US" sz="315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الأوامر الضخمة: دمج الأطر معاً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1047750" y="3211777"/>
            <a:ext cx="16192500" cy="1440127"/>
          </a:xfrm>
          <a:prstGeom prst="roundRect">
            <a:avLst>
              <a:gd name="adj" fmla="val 11905"/>
            </a:avLst>
          </a:prstGeom>
          <a:solidFill>
            <a:srgbClr val="1B16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390650" y="3478477"/>
            <a:ext cx="10360697" cy="944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705"/>
              </a:lnSpc>
              <a:buNone/>
            </a:pPr>
            <a:r>
              <a:rPr lang="en-US" sz="2550" b="1" dirty="0">
                <a:solidFill>
                  <a:srgbClr val="E9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mega prompt combines Role + Context + Few-Shot + Constraints + Format in one message.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1678576" y="3478477"/>
            <a:ext cx="5218774" cy="944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B4A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الأمر الضخم بيدمج الدور + السياق + الأمثلة + القيود + الشكل في رسالة واحدة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047750" y="4994804"/>
            <a:ext cx="16192500" cy="1143000"/>
          </a:xfrm>
          <a:custGeom>
            <a:avLst/>
            <a:gdLst/>
            <a:ahLst/>
            <a:cxnLst/>
            <a:rect l="l" t="t" r="r" b="b"/>
            <a:pathLst>
              <a:path w="16192500" h="1143000">
                <a:moveTo>
                  <a:pt x="0" y="0"/>
                </a:moveTo>
                <a:lnTo>
                  <a:pt x="16021050" y="0"/>
                </a:lnTo>
                <a:arcTo wR="171450" hR="171450" stAng="16200000" swAng="5400000"/>
                <a:lnTo>
                  <a:pt x="16192500" y="971550"/>
                </a:lnTo>
                <a:arcTo wR="171450" hR="171450" stAng="0" swAng="5400000"/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047750" y="4994804"/>
            <a:ext cx="93133" cy="1143000"/>
          </a:xfrm>
          <a:prstGeom prst="rect">
            <a:avLst/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483783" y="5326327"/>
            <a:ext cx="15163562" cy="518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38"/>
              </a:lnSpc>
              <a:buNone/>
            </a:pPr>
            <a:r>
              <a:rPr lang="en-US" sz="270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as a senior HR business partner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15554590" y="5280554"/>
            <a:ext cx="1342760" cy="571500"/>
          </a:xfrm>
          <a:prstGeom prst="roundRect">
            <a:avLst>
              <a:gd name="adj" fmla="val 20000"/>
            </a:avLst>
          </a:prstGeom>
          <a:solidFill>
            <a:srgbClr val="2A20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5764140" y="5432954"/>
            <a:ext cx="9998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000"/>
              </a:lnSpc>
              <a:buNone/>
            </a:pPr>
            <a:r>
              <a:rPr lang="en-US" sz="2100" b="1" kern="0" spc="252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047750" y="6347354"/>
            <a:ext cx="16192500" cy="1143000"/>
          </a:xfrm>
          <a:custGeom>
            <a:avLst/>
            <a:gdLst/>
            <a:ahLst/>
            <a:cxnLst/>
            <a:rect l="l" t="t" r="r" b="b"/>
            <a:pathLst>
              <a:path w="16192500" h="1143000">
                <a:moveTo>
                  <a:pt x="0" y="0"/>
                </a:moveTo>
                <a:lnTo>
                  <a:pt x="16021050" y="0"/>
                </a:lnTo>
                <a:arcTo wR="171450" hR="171450" stAng="16200000" swAng="5400000"/>
                <a:lnTo>
                  <a:pt x="16192500" y="971550"/>
                </a:lnTo>
                <a:arcTo wR="171450" hR="171450" stAng="0" swAng="5400000"/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1047750" y="6347354"/>
            <a:ext cx="93133" cy="1143000"/>
          </a:xfrm>
          <a:prstGeom prst="rect">
            <a:avLst/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1483783" y="6678877"/>
            <a:ext cx="14352283" cy="518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38"/>
              </a:lnSpc>
              <a:buNone/>
            </a:pPr>
            <a:r>
              <a:rPr lang="en-US" sz="270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company is a 200-person manufacturing firm going through restructuring</a:t>
            </a: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14817064" y="6633104"/>
            <a:ext cx="2080287" cy="571500"/>
          </a:xfrm>
          <a:prstGeom prst="roundRect">
            <a:avLst>
              <a:gd name="adj" fmla="val 20000"/>
            </a:avLst>
          </a:prstGeom>
          <a:solidFill>
            <a:srgbClr val="2A20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5026614" y="6785504"/>
            <a:ext cx="173738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000"/>
              </a:lnSpc>
              <a:buNone/>
            </a:pPr>
            <a:r>
              <a:rPr lang="en-US" sz="2100" b="1" kern="0" spc="252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047750" y="7699904"/>
            <a:ext cx="16192500" cy="1143000"/>
          </a:xfrm>
          <a:custGeom>
            <a:avLst/>
            <a:gdLst/>
            <a:ahLst/>
            <a:cxnLst/>
            <a:rect l="l" t="t" r="r" b="b"/>
            <a:pathLst>
              <a:path w="16192500" h="1143000">
                <a:moveTo>
                  <a:pt x="0" y="0"/>
                </a:moveTo>
                <a:lnTo>
                  <a:pt x="16021050" y="0"/>
                </a:lnTo>
                <a:arcTo wR="171450" hR="171450" stAng="16200000" swAng="5400000"/>
                <a:lnTo>
                  <a:pt x="16192500" y="971550"/>
                </a:lnTo>
                <a:arcTo wR="171450" hR="171450" stAng="0" swAng="5400000"/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1047750" y="7699904"/>
            <a:ext cx="93133" cy="1143000"/>
          </a:xfrm>
          <a:prstGeom prst="rect">
            <a:avLst/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1483783" y="8031427"/>
            <a:ext cx="14197304" cy="518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38"/>
              </a:lnSpc>
              <a:buNone/>
            </a:pPr>
            <a:r>
              <a:rPr lang="en-US" sz="270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 are 2 examples of the tone we use in employee communications: [...]</a:t>
            </a:r>
            <a:endParaRPr lang="en-US" sz="2700" dirty="0"/>
          </a:p>
        </p:txBody>
      </p:sp>
      <p:sp>
        <p:nvSpPr>
          <p:cNvPr id="23" name="Shape 21"/>
          <p:cNvSpPr/>
          <p:nvPr/>
        </p:nvSpPr>
        <p:spPr>
          <a:xfrm>
            <a:off x="14676173" y="7985654"/>
            <a:ext cx="2221177" cy="571500"/>
          </a:xfrm>
          <a:prstGeom prst="roundRect">
            <a:avLst>
              <a:gd name="adj" fmla="val 20000"/>
            </a:avLst>
          </a:prstGeom>
          <a:solidFill>
            <a:srgbClr val="2A20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14885723" y="8138054"/>
            <a:ext cx="187827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000"/>
              </a:lnSpc>
              <a:buNone/>
            </a:pPr>
            <a:r>
              <a:rPr lang="en-US" sz="2100" b="1" kern="0" spc="252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1047750" y="9052454"/>
            <a:ext cx="16192500" cy="1531408"/>
          </a:xfrm>
          <a:custGeom>
            <a:avLst/>
            <a:gdLst/>
            <a:ahLst/>
            <a:cxnLst/>
            <a:rect l="l" t="t" r="r" b="b"/>
            <a:pathLst>
              <a:path w="16192500" h="1531408">
                <a:moveTo>
                  <a:pt x="0" y="0"/>
                </a:moveTo>
                <a:lnTo>
                  <a:pt x="16021050" y="0"/>
                </a:lnTo>
                <a:arcTo wR="171450" hR="171450" stAng="16200000" swAng="5400000"/>
                <a:lnTo>
                  <a:pt x="16192500" y="1359958"/>
                </a:lnTo>
                <a:arcTo wR="171450" hR="171450" stAng="0" swAng="5400000"/>
                <a:lnTo>
                  <a:pt x="0" y="1531408"/>
                </a:lnTo>
                <a:lnTo>
                  <a:pt x="0" y="0"/>
                </a:lnTo>
                <a:close/>
              </a:path>
            </a:pathLst>
          </a:cu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1047750" y="9052454"/>
            <a:ext cx="93133" cy="1531408"/>
          </a:xfrm>
          <a:prstGeom prst="rect">
            <a:avLst/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1483783" y="9338204"/>
            <a:ext cx="10620000" cy="998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38"/>
              </a:lnSpc>
              <a:buNone/>
            </a:pPr>
            <a:r>
              <a:rPr lang="en-US" sz="270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an announcement about the new shift schedule, maximum 150 words, empathetic tone, in both Arabic and English</a:t>
            </a:r>
            <a:endParaRPr lang="en-US" sz="2700" dirty="0"/>
          </a:p>
        </p:txBody>
      </p:sp>
      <p:sp>
        <p:nvSpPr>
          <p:cNvPr id="28" name="Shape 26"/>
          <p:cNvSpPr/>
          <p:nvPr/>
        </p:nvSpPr>
        <p:spPr>
          <a:xfrm>
            <a:off x="12080214" y="9532408"/>
            <a:ext cx="4817136" cy="571500"/>
          </a:xfrm>
          <a:prstGeom prst="roundRect">
            <a:avLst>
              <a:gd name="adj" fmla="val 20000"/>
            </a:avLst>
          </a:prstGeom>
          <a:solidFill>
            <a:srgbClr val="2A20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12289764" y="9684808"/>
            <a:ext cx="454255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000"/>
              </a:lnSpc>
              <a:buNone/>
            </a:pPr>
            <a:r>
              <a:rPr lang="en-US" sz="2100" b="1" kern="0" spc="252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+ FORMAT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1047750" y="10583862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1047750" y="10867496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15536202" y="10867496"/>
            <a:ext cx="187445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CRAFT</a:t>
            </a:r>
            <a:endParaRPr lang="en-US" sz="2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39145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THIS WITH YOU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482696" y="762000"/>
            <a:ext cx="15103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ورقتك المرجعية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9586331" cy="834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969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Prompt Cheat Sheet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3682703" y="1527837"/>
            <a:ext cx="3557548" cy="582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2895"/>
              </a:lnSpc>
              <a:buNone/>
            </a:pPr>
            <a:r>
              <a:rPr lang="en-US" sz="330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ورقتك المرجعية للأوامر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1047750" y="2510764"/>
            <a:ext cx="16192500" cy="845741"/>
          </a:xfrm>
          <a:prstGeom prst="rect">
            <a:avLst/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352550" y="2739364"/>
            <a:ext cx="3726752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4318"/>
              </a:lnSpc>
              <a:buNone/>
            </a:pPr>
            <a:r>
              <a:rPr lang="en-US" sz="2550" b="1" dirty="0">
                <a:solidFill>
                  <a:srgbClr val="1B1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/ الهدف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5562600" y="2739364"/>
            <a:ext cx="11732324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4318"/>
              </a:lnSpc>
              <a:buNone/>
            </a:pPr>
            <a:r>
              <a:rPr lang="en-US" sz="2550" b="1" dirty="0">
                <a:solidFill>
                  <a:srgbClr val="1B1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Template / قالب البداية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047750" y="3356504"/>
            <a:ext cx="16192500" cy="972741"/>
          </a:xfrm>
          <a:prstGeom prst="rect">
            <a:avLst/>
          </a:prstGeom>
          <a:solidFill>
            <a:srgbClr val="1B16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047750" y="4303845"/>
            <a:ext cx="4210050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352550" y="3623204"/>
            <a:ext cx="3726752" cy="452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3011"/>
              </a:lnSpc>
              <a:buNone/>
            </a:pPr>
            <a:r>
              <a:rPr lang="en-US" sz="2550" b="1" dirty="0">
                <a:solidFill>
                  <a:srgbClr val="C4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anything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5257800" y="4303845"/>
            <a:ext cx="11982450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562600" y="3623204"/>
            <a:ext cx="11732324" cy="452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E9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"Act as a [role]. Write a [document] about [topic] in [tone], max [length]."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047750" y="4329245"/>
            <a:ext cx="16192500" cy="985441"/>
          </a:xfrm>
          <a:prstGeom prst="rect">
            <a:avLst/>
          </a:prstGeom>
          <a:solidFill>
            <a:srgbClr val="15113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1047750" y="5289285"/>
            <a:ext cx="4210050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1352550" y="4595945"/>
            <a:ext cx="3726752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3011"/>
              </a:lnSpc>
              <a:buNone/>
            </a:pPr>
            <a:r>
              <a:rPr lang="en-US" sz="2550" b="1" dirty="0">
                <a:solidFill>
                  <a:srgbClr val="C4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data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5257800" y="5289285"/>
            <a:ext cx="11982450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562600" y="4595945"/>
            <a:ext cx="11732324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E9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"Analyze this data. Find 3 patterns and 3 risks. Present as a table."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047750" y="5314685"/>
            <a:ext cx="16192500" cy="985441"/>
          </a:xfrm>
          <a:prstGeom prst="rect">
            <a:avLst/>
          </a:prstGeom>
          <a:solidFill>
            <a:srgbClr val="1B16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1047750" y="6274726"/>
            <a:ext cx="4210050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1352550" y="5581385"/>
            <a:ext cx="3726752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3011"/>
              </a:lnSpc>
              <a:buNone/>
            </a:pPr>
            <a:r>
              <a:rPr lang="en-US" sz="2550" b="1" dirty="0">
                <a:solidFill>
                  <a:srgbClr val="C4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options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5257800" y="6274726"/>
            <a:ext cx="11982450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562600" y="5581385"/>
            <a:ext cx="11732324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E9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"Compare these options on cost, time and risk. Recommend one and explain why."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1047750" y="6300126"/>
            <a:ext cx="16192500" cy="985441"/>
          </a:xfrm>
          <a:prstGeom prst="rect">
            <a:avLst/>
          </a:prstGeom>
          <a:solidFill>
            <a:srgbClr val="15113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1047750" y="7260167"/>
            <a:ext cx="4210050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1352550" y="6566826"/>
            <a:ext cx="3726752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3011"/>
              </a:lnSpc>
              <a:buNone/>
            </a:pPr>
            <a:r>
              <a:rPr lang="en-US" sz="2550" b="1" dirty="0">
                <a:solidFill>
                  <a:srgbClr val="C4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a draft</a:t>
            </a:r>
            <a:endParaRPr lang="en-US" sz="2550" dirty="0"/>
          </a:p>
        </p:txBody>
      </p:sp>
      <p:sp>
        <p:nvSpPr>
          <p:cNvPr id="28" name="Shape 26"/>
          <p:cNvSpPr/>
          <p:nvPr/>
        </p:nvSpPr>
        <p:spPr>
          <a:xfrm>
            <a:off x="5257800" y="7260167"/>
            <a:ext cx="11982450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5562600" y="6566826"/>
            <a:ext cx="11732324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E9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"Improve paragraph [N] only — make it more [specific/concise/formal]."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1047750" y="7285567"/>
            <a:ext cx="16192500" cy="972741"/>
          </a:xfrm>
          <a:prstGeom prst="rect">
            <a:avLst/>
          </a:prstGeom>
          <a:solidFill>
            <a:srgbClr val="1B16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1352550" y="7552267"/>
            <a:ext cx="3726752" cy="477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3011"/>
              </a:lnSpc>
              <a:buNone/>
            </a:pPr>
            <a:r>
              <a:rPr lang="en-US" sz="2550" b="1" dirty="0">
                <a:solidFill>
                  <a:srgbClr val="C4A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</a:t>
            </a:r>
            <a:endParaRPr lang="en-US" sz="2550" dirty="0"/>
          </a:p>
        </p:txBody>
      </p:sp>
      <p:sp>
        <p:nvSpPr>
          <p:cNvPr id="32" name="Text 30"/>
          <p:cNvSpPr/>
          <p:nvPr/>
        </p:nvSpPr>
        <p:spPr>
          <a:xfrm>
            <a:off x="5562600" y="7552267"/>
            <a:ext cx="11732324" cy="477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E9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"Return as JSON with fields: [x, y, z]."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1047750" y="9069917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1047750" y="9353550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15536202" y="9353550"/>
            <a:ext cx="187445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CRAFT</a:t>
            </a:r>
            <a:endParaRPr lang="en-US" sz="2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41A45">
                  <a:alpha val="100000"/>
                </a:srgbClr>
              </a:gs>
              <a:gs pos="60000">
                <a:srgbClr val="0A1526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752600" y="762000"/>
            <a:ext cx="282863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LAB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495535" y="762000"/>
            <a:ext cx="114194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 عملي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47750" y="1276350"/>
            <a:ext cx="11163340" cy="834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969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Own Mega Prompt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13623039" y="1527837"/>
            <a:ext cx="3617211" cy="582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2895"/>
              </a:lnSpc>
              <a:buNone/>
            </a:pPr>
            <a:r>
              <a:rPr lang="en-US" sz="330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ابنِ أمرك الضخم الخاص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1047750" y="2396464"/>
            <a:ext cx="3712898" cy="628650"/>
          </a:xfrm>
          <a:prstGeom prst="roundRect">
            <a:avLst>
              <a:gd name="adj" fmla="val 18182"/>
            </a:avLst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295400" y="2567914"/>
            <a:ext cx="332898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dirty="0">
                <a:solidFill>
                  <a:srgbClr val="1B1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TOOL: ChatGPT/Claude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4970198" y="2396464"/>
            <a:ext cx="2257690" cy="628650"/>
          </a:xfrm>
          <a:prstGeom prst="roundRect">
            <a:avLst>
              <a:gd name="adj" fmla="val 18182"/>
            </a:avLst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217848" y="2567914"/>
            <a:ext cx="183859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dirty="0">
                <a:solidFill>
                  <a:srgbClr val="1B1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 15 min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7437437" y="2396464"/>
            <a:ext cx="2945871" cy="628650"/>
          </a:xfrm>
          <a:prstGeom prst="roundRect">
            <a:avLst>
              <a:gd name="adj" fmla="val 18182"/>
            </a:avLst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7685087" y="2567914"/>
            <a:ext cx="253894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dirty="0">
                <a:solidFill>
                  <a:srgbClr val="1B1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LEVEL: Advanced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047750" y="3329914"/>
            <a:ext cx="16192500" cy="1653381"/>
          </a:xfrm>
          <a:prstGeom prst="roundRect">
            <a:avLst>
              <a:gd name="adj" fmla="val 10370"/>
            </a:avLst>
          </a:prstGeom>
          <a:solidFill>
            <a:srgbClr val="1B16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1390650" y="3615664"/>
            <a:ext cx="17057370" cy="518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38"/>
              </a:lnSpc>
              <a:buNone/>
            </a:pPr>
            <a:r>
              <a:rPr lang="en-US" sz="2700" b="1" dirty="0">
                <a:solidFill>
                  <a:srgbClr val="E9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 Combine at least 3 frameworks into one professional prompt.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-160020" y="4209918"/>
            <a:ext cx="17057370" cy="525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7143"/>
              </a:lnSpc>
              <a:buNone/>
            </a:pPr>
            <a:r>
              <a:rPr lang="en-US" sz="2400" dirty="0">
                <a:solidFill>
                  <a:srgbClr val="B4A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ادمج على الأقل ٣ أطر عمل في أمر احترافي واحد.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047750" y="5249995"/>
            <a:ext cx="7972425" cy="2449777"/>
          </a:xfrm>
          <a:prstGeom prst="roundRect">
            <a:avLst>
              <a:gd name="adj" fmla="val 6999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390650" y="5535745"/>
            <a:ext cx="801528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kern="0" spc="315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390650" y="5935795"/>
            <a:ext cx="8015288" cy="491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705"/>
              </a:lnSpc>
              <a:buNone/>
            </a:pPr>
            <a:r>
              <a:rPr lang="en-US" sz="25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real, recurring task from your own job.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172051" y="6503458"/>
            <a:ext cx="750522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اختر مهمة حقيقية ومتكررة من شغلك.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267825" y="5249995"/>
            <a:ext cx="7972425" cy="2449777"/>
          </a:xfrm>
          <a:prstGeom prst="roundRect">
            <a:avLst>
              <a:gd name="adj" fmla="val 6999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9610725" y="5535745"/>
            <a:ext cx="801528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kern="0" spc="315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OUTPUT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9610725" y="5935795"/>
            <a:ext cx="7505224" cy="944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705"/>
              </a:lnSpc>
              <a:buNone/>
            </a:pPr>
            <a:r>
              <a:rPr lang="en-US" sz="25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prompt you will genuinely reuse next week at work.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9392126" y="6956822"/>
            <a:ext cx="750522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أمر هتستخدمه فعلياً الأسبوع الجاي في شغلك.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047750" y="7966472"/>
            <a:ext cx="28101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kern="0" spc="270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6415014" y="7966472"/>
            <a:ext cx="90143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kern="0" spc="270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التعليمات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1047750" y="8423672"/>
            <a:ext cx="3890962" cy="1803400"/>
          </a:xfrm>
          <a:prstGeom prst="roundRect">
            <a:avLst>
              <a:gd name="adj" fmla="val 8451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1047750" y="8423672"/>
            <a:ext cx="3890962" cy="50800"/>
          </a:xfrm>
          <a:prstGeom prst="rect">
            <a:avLst/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1314450" y="8722122"/>
            <a:ext cx="369331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375"/>
              </a:lnSpc>
              <a:buNone/>
            </a:pPr>
            <a:r>
              <a:rPr lang="en-US" sz="3000" b="1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1314450" y="9213189"/>
            <a:ext cx="3304996" cy="759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Role + Context + one more framework</a:t>
            </a:r>
            <a:endParaRPr lang="en-US" sz="2250" dirty="0"/>
          </a:p>
        </p:txBody>
      </p:sp>
      <p:sp>
        <p:nvSpPr>
          <p:cNvPr id="31" name="Shape 29"/>
          <p:cNvSpPr/>
          <p:nvPr/>
        </p:nvSpPr>
        <p:spPr>
          <a:xfrm>
            <a:off x="5148263" y="8423672"/>
            <a:ext cx="3890962" cy="1803400"/>
          </a:xfrm>
          <a:prstGeom prst="roundRect">
            <a:avLst>
              <a:gd name="adj" fmla="val 8451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5148263" y="8423672"/>
            <a:ext cx="3890962" cy="50800"/>
          </a:xfrm>
          <a:prstGeom prst="rect">
            <a:avLst/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5414963" y="8722122"/>
            <a:ext cx="369331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375"/>
              </a:lnSpc>
              <a:buNone/>
            </a:pPr>
            <a:r>
              <a:rPr lang="en-US" sz="3000" b="1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5414963" y="9213189"/>
            <a:ext cx="3446162" cy="759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full mega prompt in one message</a:t>
            </a:r>
            <a:endParaRPr lang="en-US" sz="2250" dirty="0"/>
          </a:p>
        </p:txBody>
      </p:sp>
      <p:sp>
        <p:nvSpPr>
          <p:cNvPr id="35" name="Shape 33"/>
          <p:cNvSpPr/>
          <p:nvPr/>
        </p:nvSpPr>
        <p:spPr>
          <a:xfrm>
            <a:off x="9248775" y="8423672"/>
            <a:ext cx="3890962" cy="1803400"/>
          </a:xfrm>
          <a:prstGeom prst="roundRect">
            <a:avLst>
              <a:gd name="adj" fmla="val 8451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9248775" y="8423672"/>
            <a:ext cx="3890962" cy="50800"/>
          </a:xfrm>
          <a:prstGeom prst="rect">
            <a:avLst/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9515475" y="8722122"/>
            <a:ext cx="369331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375"/>
              </a:lnSpc>
              <a:buNone/>
            </a:pPr>
            <a:r>
              <a:rPr lang="en-US" sz="3000" b="1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9515475" y="9213189"/>
            <a:ext cx="2634050" cy="359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 in your AI tool</a:t>
            </a:r>
            <a:endParaRPr lang="en-US" sz="2250" dirty="0"/>
          </a:p>
        </p:txBody>
      </p:sp>
      <p:sp>
        <p:nvSpPr>
          <p:cNvPr id="39" name="Shape 37"/>
          <p:cNvSpPr/>
          <p:nvPr/>
        </p:nvSpPr>
        <p:spPr>
          <a:xfrm>
            <a:off x="13349288" y="8423672"/>
            <a:ext cx="3890962" cy="1803400"/>
          </a:xfrm>
          <a:prstGeom prst="roundRect">
            <a:avLst>
              <a:gd name="adj" fmla="val 8451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13349288" y="8423672"/>
            <a:ext cx="3890962" cy="50800"/>
          </a:xfrm>
          <a:prstGeom prst="rect">
            <a:avLst/>
          </a:prstGeom>
          <a:solidFill>
            <a:srgbClr val="A98B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13615988" y="8722122"/>
            <a:ext cx="369331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375"/>
              </a:lnSpc>
              <a:buNone/>
            </a:pPr>
            <a:r>
              <a:rPr lang="en-US" sz="3000" b="1" dirty="0">
                <a:solidFill>
                  <a:srgbClr val="A98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13615988" y="9213189"/>
            <a:ext cx="3338244" cy="759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once based on the first result</a:t>
            </a:r>
            <a:endParaRPr lang="en-US" sz="2250" dirty="0"/>
          </a:p>
        </p:txBody>
      </p:sp>
      <p:sp>
        <p:nvSpPr>
          <p:cNvPr id="43" name="Shape 41"/>
          <p:cNvSpPr/>
          <p:nvPr/>
        </p:nvSpPr>
        <p:spPr>
          <a:xfrm>
            <a:off x="1047750" y="10227072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1047750" y="10510705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45" name="Text 43"/>
          <p:cNvSpPr/>
          <p:nvPr/>
        </p:nvSpPr>
        <p:spPr>
          <a:xfrm>
            <a:off x="15536202" y="10510705"/>
            <a:ext cx="187445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CRAFT</a:t>
            </a:r>
            <a:endParaRPr lang="en-US" sz="2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60841" cy="10287000"/>
          </a:xfrm>
          <a:prstGeom prst="rect">
            <a:avLst/>
          </a:prstGeom>
          <a:gradFill rotWithShape="1">
            <a:gsLst>
              <a:gs pos="0">
                <a:srgbClr val="FF6F91">
                  <a:alpha val="100000"/>
                </a:srgbClr>
              </a:gs>
              <a:gs pos="100000">
                <a:srgbClr val="C23A5D">
                  <a:alpha val="100000"/>
                </a:srgbClr>
              </a:gs>
            </a:gsLst>
            <a:lin ang="420000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71500" y="762000"/>
            <a:ext cx="2974843" cy="869950"/>
          </a:xfrm>
          <a:prstGeom prst="roundRect">
            <a:avLst>
              <a:gd name="adj" fmla="val 19708"/>
            </a:avLst>
          </a:prstGeom>
          <a:ln w="25400">
            <a:solidFill>
              <a:srgbClr val="5A1229">
                <a:alpha val="60000"/>
              </a:srgbClr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825500" y="939800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87400" y="93980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9255"/>
              </a:lnSpc>
              <a:buNone/>
            </a:pPr>
            <a:r>
              <a:rPr lang="en-US" sz="225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511300" y="1048411"/>
            <a:ext cx="1959147" cy="335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364"/>
              </a:lnSpc>
              <a:buNone/>
            </a:pPr>
            <a:r>
              <a:rPr lang="en-US" sz="1950" b="1" kern="0" spc="234" dirty="0">
                <a:solidFill>
                  <a:srgbClr val="4A0E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LOGO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571500" y="4302125"/>
            <a:ext cx="6839625" cy="2305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0169"/>
              </a:lnSpc>
              <a:buNone/>
            </a:pPr>
            <a:r>
              <a:rPr lang="en-US" sz="21000" b="1" dirty="0">
                <a:solidFill>
                  <a:srgbClr val="0A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1000" dirty="0"/>
          </a:p>
        </p:txBody>
      </p:sp>
      <p:sp>
        <p:nvSpPr>
          <p:cNvPr id="8" name="Text 6"/>
          <p:cNvSpPr/>
          <p:nvPr/>
        </p:nvSpPr>
        <p:spPr>
          <a:xfrm>
            <a:off x="571500" y="9239250"/>
            <a:ext cx="683962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kern="0" spc="450" dirty="0">
                <a:solidFill>
                  <a:srgbClr val="4A0E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 / 7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8313341" y="2568972"/>
            <a:ext cx="99243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2400" b="1" kern="0" spc="576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AI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313341" y="3159522"/>
            <a:ext cx="9292824" cy="17563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836"/>
              </a:lnSpc>
              <a:buNone/>
            </a:pPr>
            <a:r>
              <a:rPr lang="en-US" sz="6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Work Clusters + The AI Toolkit</a:t>
            </a:r>
            <a:endParaRPr lang="en-US" sz="6150" dirty="0"/>
          </a:p>
        </p:txBody>
      </p:sp>
      <p:sp>
        <p:nvSpPr>
          <p:cNvPr id="11" name="Text 9"/>
          <p:cNvSpPr/>
          <p:nvPr/>
        </p:nvSpPr>
        <p:spPr>
          <a:xfrm>
            <a:off x="7411125" y="5163476"/>
            <a:ext cx="992437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154"/>
              </a:lnSpc>
              <a:buNone/>
            </a:pPr>
            <a:r>
              <a:rPr lang="en-US" sz="3750" b="1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 مجموعات عمل + أدوات الذكاء الاصطناعي</a:t>
            </a:r>
            <a:endParaRPr lang="en-US" sz="3750" dirty="0"/>
          </a:p>
        </p:txBody>
      </p:sp>
      <p:sp>
        <p:nvSpPr>
          <p:cNvPr id="12" name="Shape 10"/>
          <p:cNvSpPr/>
          <p:nvPr/>
        </p:nvSpPr>
        <p:spPr>
          <a:xfrm>
            <a:off x="8313341" y="6115976"/>
            <a:ext cx="2095500" cy="57150"/>
          </a:xfrm>
          <a:prstGeom prst="roundRect">
            <a:avLst>
              <a:gd name="adj" fmla="val 50000"/>
            </a:avLst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8313341" y="6458876"/>
            <a:ext cx="942975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398"/>
              </a:lnSpc>
              <a:buNone/>
            </a:pPr>
            <a:r>
              <a:rPr lang="en-US" sz="25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daily workflows, 5 clusters, and the right tool for each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7456091" y="7230401"/>
            <a:ext cx="9429750" cy="525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7143"/>
              </a:lnSpc>
              <a:buNone/>
            </a:pPr>
            <a:r>
              <a:rPr lang="en-US" sz="24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١٦ سير عمل يومي، ٥ مجموعات، والأداة المناسبة لكل واحدة</a:t>
            </a:r>
            <a:endParaRPr lang="en-US" sz="2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326315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PICTURE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890558" y="762000"/>
            <a:ext cx="14249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الصورة الكبيرة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9411269" cy="834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969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Workflows, 5 Clusters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2673806" y="1527837"/>
            <a:ext cx="4566444" cy="582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2895"/>
              </a:lnSpc>
              <a:buNone/>
            </a:pPr>
            <a:r>
              <a:rPr lang="en-US" sz="330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١٦ سير عمل في ٥ مجموعات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1047750" y="2567914"/>
            <a:ext cx="5232400" cy="3903266"/>
          </a:xfrm>
          <a:prstGeom prst="roundRect">
            <a:avLst>
              <a:gd name="adj" fmla="val 4881"/>
            </a:avLst>
          </a:prstGeom>
          <a:solidFill>
            <a:srgbClr val="2A122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371600" y="2891764"/>
            <a:ext cx="504317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3780"/>
              </a:lnSpc>
              <a:buNone/>
            </a:pPr>
            <a:r>
              <a:rPr lang="en-US" sz="60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1371600" y="3710914"/>
            <a:ext cx="4722241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3000" b="1" dirty="0">
                <a:solidFill>
                  <a:srgbClr val="FFD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&amp; Writing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13130" y="4758664"/>
            <a:ext cx="504317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التواصل والكتابة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71600" y="5318654"/>
            <a:ext cx="4722241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481"/>
              </a:lnSpc>
              <a:buNone/>
            </a:pPr>
            <a:r>
              <a:rPr lang="en-US" sz="2250" dirty="0">
                <a:solidFill>
                  <a:srgbClr val="D5A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· Email · Translation · Summarization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6527800" y="2567914"/>
            <a:ext cx="5232400" cy="3903266"/>
          </a:xfrm>
          <a:prstGeom prst="roundRect">
            <a:avLst>
              <a:gd name="adj" fmla="val 4881"/>
            </a:avLst>
          </a:prstGeom>
          <a:solidFill>
            <a:srgbClr val="2A122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851650" y="2891764"/>
            <a:ext cx="504317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3780"/>
              </a:lnSpc>
              <a:buNone/>
            </a:pPr>
            <a:r>
              <a:rPr lang="en-US" sz="60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6851650" y="3710914"/>
            <a:ext cx="504317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3000" b="1" dirty="0">
                <a:solidFill>
                  <a:srgbClr val="FFD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&amp; Learning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393180" y="4301464"/>
            <a:ext cx="504317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البحث والتعلّم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851650" y="4861454"/>
            <a:ext cx="4722241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481"/>
              </a:lnSpc>
              <a:buNone/>
            </a:pPr>
            <a:r>
              <a:rPr lang="en-US" sz="2250" dirty="0">
                <a:solidFill>
                  <a:srgbClr val="D5A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· Brainstorming · Learning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2007850" y="2567914"/>
            <a:ext cx="5232400" cy="3903266"/>
          </a:xfrm>
          <a:prstGeom prst="roundRect">
            <a:avLst>
              <a:gd name="adj" fmla="val 4881"/>
            </a:avLst>
          </a:prstGeom>
          <a:solidFill>
            <a:srgbClr val="2A122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2331700" y="2891764"/>
            <a:ext cx="504317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3780"/>
              </a:lnSpc>
              <a:buNone/>
            </a:pPr>
            <a:r>
              <a:rPr lang="en-US" sz="60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12331700" y="3710914"/>
            <a:ext cx="504317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3000" b="1" dirty="0">
                <a:solidFill>
                  <a:srgbClr val="FFD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&amp; Data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1873230" y="4301464"/>
            <a:ext cx="504317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المستندات والبيانات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331700" y="4861454"/>
            <a:ext cx="4722241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481"/>
              </a:lnSpc>
              <a:buNone/>
            </a:pPr>
            <a:r>
              <a:rPr lang="en-US" sz="2250" dirty="0">
                <a:solidFill>
                  <a:srgbClr val="D5A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· Data Analysis · Reports · SOPs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047750" y="6718829"/>
            <a:ext cx="7972425" cy="3031728"/>
          </a:xfrm>
          <a:prstGeom prst="roundRect">
            <a:avLst>
              <a:gd name="adj" fmla="val 6284"/>
            </a:avLst>
          </a:prstGeom>
          <a:solidFill>
            <a:srgbClr val="2A122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1371600" y="7042679"/>
            <a:ext cx="805719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3780"/>
              </a:lnSpc>
              <a:buNone/>
            </a:pPr>
            <a:r>
              <a:rPr lang="en-US" sz="60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0" dirty="0"/>
          </a:p>
        </p:txBody>
      </p:sp>
      <p:sp>
        <p:nvSpPr>
          <p:cNvPr id="24" name="Text 22"/>
          <p:cNvSpPr/>
          <p:nvPr/>
        </p:nvSpPr>
        <p:spPr>
          <a:xfrm>
            <a:off x="1371600" y="7861829"/>
            <a:ext cx="805719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3000" b="1" dirty="0">
                <a:solidFill>
                  <a:srgbClr val="FFD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Meetings &amp; Decisions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39127" y="8452379"/>
            <a:ext cx="8057197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الاجتماعات والقرارات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371600" y="9012370"/>
            <a:ext cx="8057197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481"/>
              </a:lnSpc>
              <a:buNone/>
            </a:pPr>
            <a:r>
              <a:rPr lang="en-US" sz="2250" dirty="0">
                <a:solidFill>
                  <a:srgbClr val="D5A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Meetings · Decision Making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9267825" y="6718829"/>
            <a:ext cx="7972425" cy="3031728"/>
          </a:xfrm>
          <a:prstGeom prst="roundRect">
            <a:avLst>
              <a:gd name="adj" fmla="val 6284"/>
            </a:avLst>
          </a:prstGeom>
          <a:solidFill>
            <a:srgbClr val="2A122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9591675" y="7042679"/>
            <a:ext cx="805719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3780"/>
              </a:lnSpc>
              <a:buNone/>
            </a:pPr>
            <a:r>
              <a:rPr lang="en-US" sz="60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000" dirty="0"/>
          </a:p>
        </p:txBody>
      </p:sp>
      <p:sp>
        <p:nvSpPr>
          <p:cNvPr id="29" name="Text 27"/>
          <p:cNvSpPr/>
          <p:nvPr/>
        </p:nvSpPr>
        <p:spPr>
          <a:xfrm>
            <a:off x="9591675" y="7861829"/>
            <a:ext cx="805719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3000" b="1" dirty="0">
                <a:solidFill>
                  <a:srgbClr val="FFD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Presentations &amp; Marketing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8859203" y="8452379"/>
            <a:ext cx="8057197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العروض والتسويق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9591675" y="9012370"/>
            <a:ext cx="8057197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481"/>
              </a:lnSpc>
              <a:buNone/>
            </a:pPr>
            <a:r>
              <a:rPr lang="en-US" sz="2250" dirty="0">
                <a:solidFill>
                  <a:srgbClr val="D5A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Presentations · Marketing Content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1047750" y="10074407"/>
            <a:ext cx="16192500" cy="1352550"/>
          </a:xfrm>
          <a:prstGeom prst="roundRect">
            <a:avLst>
              <a:gd name="adj" fmla="val 12676"/>
            </a:avLst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1428750" y="10322057"/>
            <a:ext cx="1003081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11"/>
              </a:lnSpc>
              <a:buNone/>
            </a:pPr>
            <a:r>
              <a:rPr lang="en-US" sz="2550" b="1" dirty="0">
                <a:solidFill>
                  <a:srgbClr val="2E0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AI assistant handles every cluster — only your prompt changes.</a:t>
            </a:r>
            <a:endParaRPr lang="en-US" sz="2550" dirty="0"/>
          </a:p>
        </p:txBody>
      </p:sp>
      <p:sp>
        <p:nvSpPr>
          <p:cNvPr id="34" name="Text 32"/>
          <p:cNvSpPr/>
          <p:nvPr/>
        </p:nvSpPr>
        <p:spPr>
          <a:xfrm>
            <a:off x="11389075" y="10322057"/>
            <a:ext cx="547017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4A0E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نفس المساعد يتعامل مع كل المجموعات — الأمر بس هو اللي بيتغير</a:t>
            </a:r>
            <a:endParaRPr lang="en-US" sz="2250" dirty="0"/>
          </a:p>
        </p:txBody>
      </p:sp>
      <p:sp>
        <p:nvSpPr>
          <p:cNvPr id="35" name="Shape 33"/>
          <p:cNvSpPr/>
          <p:nvPr/>
        </p:nvSpPr>
        <p:spPr>
          <a:xfrm>
            <a:off x="1047750" y="11426957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1047750" y="11710591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14829631" y="11710591"/>
            <a:ext cx="265168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APPLIED AI</a:t>
            </a:r>
            <a:endParaRPr lang="en-US" sz="2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302086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1 OF 5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047750" y="1276350"/>
            <a:ext cx="9761683" cy="834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969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&amp; Writing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14775564" y="1527837"/>
            <a:ext cx="2464686" cy="582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2895"/>
              </a:lnSpc>
              <a:buNone/>
            </a:pPr>
            <a:r>
              <a:rPr lang="en-US" sz="330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التواصل والكتابة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1047750" y="2567914"/>
            <a:ext cx="3827066" cy="3630745"/>
          </a:xfrm>
          <a:prstGeom prst="roundRect">
            <a:avLst>
              <a:gd name="adj" fmla="val 4722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1047750" y="2567914"/>
            <a:ext cx="3827066" cy="76200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352550" y="2948914"/>
            <a:ext cx="3539212" cy="499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913"/>
              </a:lnSpc>
              <a:buNone/>
            </a:pPr>
            <a:r>
              <a:rPr lang="en-US" sz="33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030803" y="3524118"/>
            <a:ext cx="3539212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الإيميل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52550" y="4065058"/>
            <a:ext cx="3313989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Draft, reply, and adjust tone in seconds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256026" y="4979458"/>
            <a:ext cx="331398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ورد واضبط النبرة في ثوانٍ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5103416" y="2567914"/>
            <a:ext cx="3827198" cy="3630745"/>
          </a:xfrm>
          <a:prstGeom prst="roundRect">
            <a:avLst>
              <a:gd name="adj" fmla="val 4722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5103416" y="2567914"/>
            <a:ext cx="3827198" cy="76200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408216" y="2948914"/>
            <a:ext cx="3539358" cy="499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913"/>
              </a:lnSpc>
              <a:buNone/>
            </a:pPr>
            <a:r>
              <a:rPr lang="en-US" sz="33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5086456" y="3524118"/>
            <a:ext cx="3539358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الكتابة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408216" y="4065058"/>
            <a:ext cx="331412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drafts of any document, instantly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5311688" y="4979458"/>
            <a:ext cx="331412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مسودات أولى لأي مستند فوراً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159214" y="2567914"/>
            <a:ext cx="3827066" cy="3630745"/>
          </a:xfrm>
          <a:prstGeom prst="roundRect">
            <a:avLst>
              <a:gd name="adj" fmla="val 4722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9159214" y="2567914"/>
            <a:ext cx="3827066" cy="76200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9464014" y="2948914"/>
            <a:ext cx="3539212" cy="499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913"/>
              </a:lnSpc>
              <a:buNone/>
            </a:pPr>
            <a:r>
              <a:rPr lang="en-US" sz="33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9142267" y="3524118"/>
            <a:ext cx="3539212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الترجمة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464014" y="4065058"/>
            <a:ext cx="3313989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 tone and meaning, not just words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9367490" y="4979458"/>
            <a:ext cx="3313989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تكييف النبرة والمعنى مش الكلمات بس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13214879" y="2567914"/>
            <a:ext cx="4025239" cy="3630745"/>
          </a:xfrm>
          <a:prstGeom prst="roundRect">
            <a:avLst>
              <a:gd name="adj" fmla="val 4722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13214879" y="2567914"/>
            <a:ext cx="4025239" cy="76200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13519679" y="2948914"/>
            <a:ext cx="3757202" cy="499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913"/>
              </a:lnSpc>
              <a:buNone/>
            </a:pPr>
            <a:r>
              <a:rPr lang="en-US" sz="33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Summarization</a:t>
            </a:r>
            <a:endParaRPr lang="en-US" sz="3300" dirty="0"/>
          </a:p>
        </p:txBody>
      </p:sp>
      <p:sp>
        <p:nvSpPr>
          <p:cNvPr id="27" name="Text 25"/>
          <p:cNvSpPr/>
          <p:nvPr/>
        </p:nvSpPr>
        <p:spPr>
          <a:xfrm>
            <a:off x="13178116" y="3524118"/>
            <a:ext cx="3757202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التلخيص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3519679" y="4065058"/>
            <a:ext cx="351810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10 pages into 5 bullet points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13417210" y="4979458"/>
            <a:ext cx="351810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حوّل ١٠ صفحات إلى ٥ نقاط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1047750" y="6617758"/>
            <a:ext cx="16192500" cy="2167731"/>
          </a:xfrm>
          <a:custGeom>
            <a:avLst/>
            <a:gdLst/>
            <a:ahLst/>
            <a:cxnLst/>
            <a:rect l="l" t="t" r="r" b="b"/>
            <a:pathLst>
              <a:path w="16192500" h="2167731">
                <a:moveTo>
                  <a:pt x="0" y="0"/>
                </a:moveTo>
                <a:lnTo>
                  <a:pt x="16002000" y="0"/>
                </a:lnTo>
                <a:arcTo wR="190500" hR="190500" stAng="16200000" swAng="5400000"/>
                <a:lnTo>
                  <a:pt x="16192500" y="1977231"/>
                </a:lnTo>
                <a:arcTo wR="190500" hR="190500" stAng="0" swAng="5400000"/>
                <a:lnTo>
                  <a:pt x="0" y="2167731"/>
                </a:lnTo>
                <a:lnTo>
                  <a:pt x="0" y="0"/>
                </a:lnTo>
                <a:close/>
              </a:path>
            </a:pathLst>
          </a:custGeom>
          <a:solidFill>
            <a:srgbClr val="2A122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1047750" y="6617758"/>
            <a:ext cx="93133" cy="2167731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1521883" y="6941608"/>
            <a:ext cx="1687110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kern="0" spc="360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THIS PROMPT</a:t>
            </a:r>
            <a:endParaRPr lang="en-US" sz="2250" dirty="0"/>
          </a:p>
        </p:txBody>
      </p:sp>
      <p:sp>
        <p:nvSpPr>
          <p:cNvPr id="33" name="Text 31"/>
          <p:cNvSpPr/>
          <p:nvPr/>
        </p:nvSpPr>
        <p:spPr>
          <a:xfrm>
            <a:off x="1521883" y="7360708"/>
            <a:ext cx="16871104" cy="518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38"/>
              </a:lnSpc>
              <a:buNone/>
            </a:pPr>
            <a:r>
              <a:rPr lang="en-US" sz="2700" dirty="0">
                <a:solidFill>
                  <a:srgbClr val="FFD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"Reply to this email professionally, acknowledge the delay, and propose a new deadline."</a:t>
            </a:r>
            <a:endParaRPr lang="en-US" sz="2700" dirty="0"/>
          </a:p>
        </p:txBody>
      </p:sp>
      <p:sp>
        <p:nvSpPr>
          <p:cNvPr id="34" name="Text 32"/>
          <p:cNvSpPr/>
          <p:nvPr/>
        </p:nvSpPr>
        <p:spPr>
          <a:xfrm>
            <a:off x="-11853" y="7974013"/>
            <a:ext cx="16871104" cy="525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7143"/>
              </a:lnSpc>
              <a:buNone/>
            </a:pPr>
            <a:r>
              <a:rPr lang="en-US" sz="2400" dirty="0">
                <a:solidFill>
                  <a:srgbClr val="D5A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"رد على الإيميل ده باحترافية، اعترف بالتأخير، واقترح موعد جديد"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1047750" y="9069917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1047750" y="9353550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14829631" y="9353550"/>
            <a:ext cx="265168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APPLIED AI</a:t>
            </a:r>
            <a:endParaRPr lang="en-US" sz="2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40614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FOR CLUSTER 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616311" y="762000"/>
            <a:ext cx="15985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أداة المجموعة ١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3453264" cy="1527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972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— Your Everyday Business Assistant</a:t>
            </a:r>
            <a:endParaRPr lang="en-US" sz="5100" dirty="0"/>
          </a:p>
        </p:txBody>
      </p:sp>
      <p:sp>
        <p:nvSpPr>
          <p:cNvPr id="6" name="Shape 4"/>
          <p:cNvSpPr/>
          <p:nvPr/>
        </p:nvSpPr>
        <p:spPr>
          <a:xfrm>
            <a:off x="14490171" y="1706827"/>
            <a:ext cx="2750079" cy="628650"/>
          </a:xfrm>
          <a:prstGeom prst="roundRect">
            <a:avLst>
              <a:gd name="adj" fmla="val 18182"/>
            </a:avLst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4737821" y="1878277"/>
            <a:ext cx="2337282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dirty="0">
                <a:solidFill>
                  <a:srgbClr val="0A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chat.openai.com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047750" y="3013604"/>
            <a:ext cx="15697200" cy="977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51"/>
              </a:lnSpc>
              <a:buNone/>
            </a:pPr>
            <a:r>
              <a:rPr lang="en-US" sz="25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world's most widely used AI assistant — writes, replies, and drafts virtually any business communication. ChatGPT Plus: $20/mo recommended for business use.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1047750" y="4314560"/>
            <a:ext cx="5245100" cy="1817291"/>
          </a:xfrm>
          <a:prstGeom prst="roundRect">
            <a:avLst>
              <a:gd name="adj" fmla="val 8386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352550" y="4581260"/>
            <a:ext cx="5099050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318"/>
              </a:lnSpc>
              <a:buNone/>
            </a:pPr>
            <a:r>
              <a:rPr lang="en-US" sz="255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Instructions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352550" y="5065051"/>
            <a:ext cx="477456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role, company context, and tone once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6521450" y="4314560"/>
            <a:ext cx="5245100" cy="1817291"/>
          </a:xfrm>
          <a:prstGeom prst="roundRect">
            <a:avLst>
              <a:gd name="adj" fmla="val 8386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826250" y="4581260"/>
            <a:ext cx="5099050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318"/>
              </a:lnSpc>
              <a:buNone/>
            </a:pPr>
            <a:r>
              <a:rPr lang="en-US" sz="255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6826250" y="5065051"/>
            <a:ext cx="477456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Remembers past conversations and preferences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1995150" y="4314560"/>
            <a:ext cx="5245100" cy="1817291"/>
          </a:xfrm>
          <a:prstGeom prst="roundRect">
            <a:avLst>
              <a:gd name="adj" fmla="val 8386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2299950" y="4581260"/>
            <a:ext cx="5099050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318"/>
              </a:lnSpc>
              <a:buNone/>
            </a:pPr>
            <a:r>
              <a:rPr lang="en-US" sz="255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2299950" y="5065051"/>
            <a:ext cx="477456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 conversations by department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047750" y="6360451"/>
            <a:ext cx="5245100" cy="1817291"/>
          </a:xfrm>
          <a:prstGeom prst="roundRect">
            <a:avLst>
              <a:gd name="adj" fmla="val 8386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352550" y="6627151"/>
            <a:ext cx="5099050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318"/>
              </a:lnSpc>
              <a:buNone/>
            </a:pPr>
            <a:r>
              <a:rPr lang="en-US" sz="255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Upload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352550" y="7110942"/>
            <a:ext cx="477456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Excel, PDFs, reports for analysis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6521450" y="6360451"/>
            <a:ext cx="5245100" cy="1817291"/>
          </a:xfrm>
          <a:prstGeom prst="roundRect">
            <a:avLst>
              <a:gd name="adj" fmla="val 8386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6826250" y="6627151"/>
            <a:ext cx="5099050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318"/>
              </a:lnSpc>
              <a:buNone/>
            </a:pPr>
            <a:r>
              <a:rPr lang="en-US" sz="255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GPTs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6826250" y="7110942"/>
            <a:ext cx="477456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Pre-built or custom AI agents for tasks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11995150" y="6360451"/>
            <a:ext cx="5245100" cy="1817291"/>
          </a:xfrm>
          <a:prstGeom prst="roundRect">
            <a:avLst>
              <a:gd name="adj" fmla="val 8386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12299950" y="6627151"/>
            <a:ext cx="5099050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318"/>
              </a:lnSpc>
              <a:buNone/>
            </a:pPr>
            <a:r>
              <a:rPr lang="en-US" sz="255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Browsing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12299950" y="7110942"/>
            <a:ext cx="477456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Fetches current information from the internet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1047750" y="8539692"/>
            <a:ext cx="16192500" cy="1405864"/>
          </a:xfrm>
          <a:prstGeom prst="roundRect">
            <a:avLst>
              <a:gd name="adj" fmla="val 12195"/>
            </a:avLst>
          </a:prstGeom>
          <a:solidFill>
            <a:srgbClr val="2A122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1428750" y="8825442"/>
            <a:ext cx="312185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kern="0" spc="315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USED FOR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15978187" y="8825442"/>
            <a:ext cx="95726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kern="0" spc="315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الأنسب لـ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1428750" y="9263592"/>
            <a:ext cx="3474892" cy="434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2400" b="1" dirty="0">
                <a:solidFill>
                  <a:srgbClr val="FFD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Daily email drafting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4968743" y="9263592"/>
            <a:ext cx="4945962" cy="434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2400" b="1" dirty="0">
                <a:solidFill>
                  <a:srgbClr val="FFD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Complaint response drafting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9846072" y="9263592"/>
            <a:ext cx="5897086" cy="434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2400" b="1" dirty="0">
                <a:solidFill>
                  <a:srgbClr val="FFD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Meeting summaries &amp; action items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1047750" y="9945556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1047750" y="10229188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14829631" y="10229188"/>
            <a:ext cx="265168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APPLIED AI</a:t>
            </a:r>
            <a:endParaRPr lang="en-US" sz="2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595398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PROMPTS THAT WORK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336764" y="762000"/>
            <a:ext cx="10255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أوامر فعّالة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1766223" cy="1546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806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Ready-to-Use Prompts: Email &amp; SOPs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2328198" y="1794404"/>
            <a:ext cx="4912052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2500"/>
              </a:lnSpc>
              <a:buNone/>
            </a:pPr>
            <a:r>
              <a:rPr lang="en-US" sz="300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أوامر جاهزة: الإيميل والإجراءات القياسية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047750" y="3242204"/>
            <a:ext cx="16192500" cy="1935163"/>
          </a:xfrm>
          <a:custGeom>
            <a:avLst/>
            <a:gdLst/>
            <a:ahLst/>
            <a:cxnLst/>
            <a:rect l="l" t="t" r="r" b="b"/>
            <a:pathLst>
              <a:path w="16192500" h="1935163">
                <a:moveTo>
                  <a:pt x="0" y="0"/>
                </a:moveTo>
                <a:lnTo>
                  <a:pt x="16021050" y="0"/>
                </a:lnTo>
                <a:arcTo wR="171450" hR="171450" stAng="16200000" swAng="5400000"/>
                <a:lnTo>
                  <a:pt x="16192500" y="1763713"/>
                </a:lnTo>
                <a:arcTo wR="171450" hR="171450" stAng="0" swAng="5400000"/>
                <a:lnTo>
                  <a:pt x="0" y="1935163"/>
                </a:lnTo>
                <a:lnTo>
                  <a:pt x="0" y="0"/>
                </a:lnTo>
                <a:close/>
              </a:path>
            </a:pathLst>
          </a:cu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047750" y="3242204"/>
            <a:ext cx="93133" cy="1935163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502833" y="3547004"/>
            <a:ext cx="2943225" cy="1363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56"/>
              </a:lnSpc>
              <a:buNone/>
            </a:pPr>
            <a:r>
              <a:rPr lang="en-US" sz="285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Writing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4684183" y="3547004"/>
            <a:ext cx="12559941" cy="1363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286"/>
              </a:lnSpc>
              <a:buNone/>
            </a:pPr>
            <a:r>
              <a:rPr lang="en-US" sz="240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"Act as a professional business writer. Write a follow-up email to a retail client who has not placed an order in 60 days. Include a special offer this month. Tone: warm but professional. Max 150 words."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47750" y="5425017"/>
            <a:ext cx="16192500" cy="1935163"/>
          </a:xfrm>
          <a:custGeom>
            <a:avLst/>
            <a:gdLst/>
            <a:ahLst/>
            <a:cxnLst/>
            <a:rect l="l" t="t" r="r" b="b"/>
            <a:pathLst>
              <a:path w="16192500" h="1935163">
                <a:moveTo>
                  <a:pt x="0" y="0"/>
                </a:moveTo>
                <a:lnTo>
                  <a:pt x="16021050" y="0"/>
                </a:lnTo>
                <a:arcTo wR="171450" hR="171450" stAng="16200000" swAng="5400000"/>
                <a:lnTo>
                  <a:pt x="16192500" y="1763713"/>
                </a:lnTo>
                <a:arcTo wR="171450" hR="171450" stAng="0" swAng="5400000"/>
                <a:lnTo>
                  <a:pt x="0" y="1935163"/>
                </a:lnTo>
                <a:lnTo>
                  <a:pt x="0" y="0"/>
                </a:lnTo>
                <a:close/>
              </a:path>
            </a:pathLst>
          </a:cu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047750" y="5425017"/>
            <a:ext cx="93133" cy="1935163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502833" y="5729817"/>
            <a:ext cx="2943225" cy="1363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56"/>
              </a:lnSpc>
              <a:buNone/>
            </a:pPr>
            <a:r>
              <a:rPr lang="en-US" sz="285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 Writing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4684183" y="5729817"/>
            <a:ext cx="12559941" cy="1363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286"/>
              </a:lnSpc>
              <a:buNone/>
            </a:pPr>
            <a:r>
              <a:rPr lang="en-US" sz="240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"Act as an operations consultant. Write a complete SOP for the quality inspection process before shipping. Include: purpose, scope, responsible parties, step-by-step process, escalation, required forms."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047750" y="7607829"/>
            <a:ext cx="16192500" cy="1514475"/>
          </a:xfrm>
          <a:custGeom>
            <a:avLst/>
            <a:gdLst/>
            <a:ahLst/>
            <a:cxnLst/>
            <a:rect l="l" t="t" r="r" b="b"/>
            <a:pathLst>
              <a:path w="16192500" h="1514475">
                <a:moveTo>
                  <a:pt x="0" y="0"/>
                </a:moveTo>
                <a:lnTo>
                  <a:pt x="16021050" y="0"/>
                </a:lnTo>
                <a:arcTo wR="171450" hR="171450" stAng="16200000" swAng="5400000"/>
                <a:lnTo>
                  <a:pt x="16192500" y="1343025"/>
                </a:lnTo>
                <a:arcTo wR="171450" hR="171450" stAng="0" swAng="5400000"/>
                <a:lnTo>
                  <a:pt x="0" y="1514475"/>
                </a:lnTo>
                <a:lnTo>
                  <a:pt x="0" y="0"/>
                </a:lnTo>
                <a:close/>
              </a:path>
            </a:pathLst>
          </a:cu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1047750" y="7607829"/>
            <a:ext cx="93133" cy="1514475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1502833" y="7912629"/>
            <a:ext cx="2943225" cy="942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56"/>
              </a:lnSpc>
              <a:buNone/>
            </a:pPr>
            <a:r>
              <a:rPr lang="en-US" sz="285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Summary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4684183" y="7912629"/>
            <a:ext cx="12559941" cy="942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286"/>
              </a:lnSpc>
              <a:buNone/>
            </a:pPr>
            <a:r>
              <a:rPr lang="en-US" sz="240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"Extract all action items from this meeting transcript. Format as a table: Action | Owner | Deadline | Priority. Then write a one-paragraph summary of key decisions."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047750" y="9122304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1047750" y="9405938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4829631" y="9405938"/>
            <a:ext cx="265168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APPLIED AI</a:t>
            </a:r>
            <a:endParaRPr lang="en-US" sz="2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302086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2 OF 5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047750" y="1276350"/>
            <a:ext cx="7965665" cy="834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969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&amp; Learning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15256801" y="1527837"/>
            <a:ext cx="1983449" cy="582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2895"/>
              </a:lnSpc>
              <a:buNone/>
            </a:pPr>
            <a:r>
              <a:rPr lang="en-US" sz="330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البحث والتعلّم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1047750" y="2606014"/>
            <a:ext cx="5232400" cy="3885935"/>
          </a:xfrm>
          <a:prstGeom prst="roundRect">
            <a:avLst>
              <a:gd name="adj" fmla="val 4412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1047750" y="2606014"/>
            <a:ext cx="5232400" cy="76200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390650" y="3025114"/>
            <a:ext cx="5001260" cy="540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58"/>
              </a:lnSpc>
              <a:buNone/>
            </a:pPr>
            <a:r>
              <a:rPr lang="en-US" sz="36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935990" y="3661304"/>
            <a:ext cx="5001260" cy="491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705"/>
              </a:lnSpc>
              <a:buNone/>
            </a:pPr>
            <a:r>
              <a:rPr lang="en-US" sz="255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البحث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390650" y="4248018"/>
            <a:ext cx="4682998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Real-time, cited research in minutes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54252" y="5234649"/>
            <a:ext cx="468299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بحث فوري وموثّق في دقائق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6527800" y="2606014"/>
            <a:ext cx="5232400" cy="3885935"/>
          </a:xfrm>
          <a:prstGeom prst="roundRect">
            <a:avLst>
              <a:gd name="adj" fmla="val 4412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527800" y="2606014"/>
            <a:ext cx="5232400" cy="76200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870700" y="3025114"/>
            <a:ext cx="5001260" cy="540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58"/>
              </a:lnSpc>
              <a:buNone/>
            </a:pPr>
            <a:r>
              <a:rPr lang="en-US" sz="36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Brainstorming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416040" y="3661304"/>
            <a:ext cx="5001260" cy="491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705"/>
              </a:lnSpc>
              <a:buNone/>
            </a:pPr>
            <a:r>
              <a:rPr lang="en-US" sz="255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العصف الذهني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6870700" y="4248018"/>
            <a:ext cx="4682998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ideas in the time it takes to think of 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734302" y="5234649"/>
            <a:ext cx="468299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٢٠ فكرة في وقت التفكير في فكرتين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2007850" y="2606014"/>
            <a:ext cx="5232400" cy="3885935"/>
          </a:xfrm>
          <a:prstGeom prst="roundRect">
            <a:avLst>
              <a:gd name="adj" fmla="val 4412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12007850" y="2606014"/>
            <a:ext cx="5232400" cy="76200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12350750" y="3025114"/>
            <a:ext cx="5001260" cy="540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58"/>
              </a:lnSpc>
              <a:buNone/>
            </a:pPr>
            <a:r>
              <a:rPr lang="en-US" sz="36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11896090" y="3661304"/>
            <a:ext cx="5001260" cy="491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705"/>
              </a:lnSpc>
              <a:buNone/>
            </a:pPr>
            <a:r>
              <a:rPr lang="en-US" sz="255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التعلّم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12350750" y="4248018"/>
            <a:ext cx="4682998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AI to explain anything at your level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2214352" y="5234649"/>
            <a:ext cx="468299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اطلب من الذكاء الاصطناعي يشرحلك أي حاجة بمستواك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1047750" y="6949149"/>
            <a:ext cx="16192500" cy="2167731"/>
          </a:xfrm>
          <a:custGeom>
            <a:avLst/>
            <a:gdLst/>
            <a:ahLst/>
            <a:cxnLst/>
            <a:rect l="l" t="t" r="r" b="b"/>
            <a:pathLst>
              <a:path w="16192500" h="2167731">
                <a:moveTo>
                  <a:pt x="0" y="0"/>
                </a:moveTo>
                <a:lnTo>
                  <a:pt x="16002000" y="0"/>
                </a:lnTo>
                <a:arcTo wR="190500" hR="190500" stAng="16200000" swAng="5400000"/>
                <a:lnTo>
                  <a:pt x="16192500" y="1977231"/>
                </a:lnTo>
                <a:arcTo wR="190500" hR="190500" stAng="0" swAng="5400000"/>
                <a:lnTo>
                  <a:pt x="0" y="2167731"/>
                </a:lnTo>
                <a:lnTo>
                  <a:pt x="0" y="0"/>
                </a:lnTo>
                <a:close/>
              </a:path>
            </a:pathLst>
          </a:custGeom>
          <a:solidFill>
            <a:srgbClr val="2A122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1047750" y="6949149"/>
            <a:ext cx="93133" cy="2167731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1521883" y="7272999"/>
            <a:ext cx="1687110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kern="0" spc="360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THIS PROMPT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521883" y="7692099"/>
            <a:ext cx="16871104" cy="518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38"/>
              </a:lnSpc>
              <a:buNone/>
            </a:pPr>
            <a:r>
              <a:rPr lang="en-US" sz="2700" dirty="0">
                <a:solidFill>
                  <a:srgbClr val="FFD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"Research the top 3 trends in [your industry] this quarter, with sources."</a:t>
            </a:r>
            <a:endParaRPr lang="en-US" sz="2700" dirty="0"/>
          </a:p>
        </p:txBody>
      </p:sp>
      <p:sp>
        <p:nvSpPr>
          <p:cNvPr id="28" name="Text 26"/>
          <p:cNvSpPr/>
          <p:nvPr/>
        </p:nvSpPr>
        <p:spPr>
          <a:xfrm>
            <a:off x="-11853" y="8305403"/>
            <a:ext cx="16871104" cy="525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7143"/>
              </a:lnSpc>
              <a:buNone/>
            </a:pPr>
            <a:r>
              <a:rPr lang="en-US" sz="2400" dirty="0">
                <a:solidFill>
                  <a:srgbClr val="D5A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"ابحث عن أهم ٣ اتجاهات في [مجالك] هذا الربع، مع المصادر"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1047750" y="9116880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1047750" y="9400513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4829631" y="9400513"/>
            <a:ext cx="265168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APPLIED AI</a:t>
            </a:r>
            <a:endParaRPr lang="en-US" sz="2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40614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FOR CLUSTER 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616311" y="762000"/>
            <a:ext cx="15985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أداة المجموعة ٢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4386189" cy="78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972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Perplexity — AI-Powered Research Engine</a:t>
            </a:r>
            <a:endParaRPr lang="en-US" sz="5100" dirty="0"/>
          </a:p>
        </p:txBody>
      </p:sp>
      <p:sp>
        <p:nvSpPr>
          <p:cNvPr id="6" name="Shape 4"/>
          <p:cNvSpPr/>
          <p:nvPr/>
        </p:nvSpPr>
        <p:spPr>
          <a:xfrm>
            <a:off x="15098448" y="1334426"/>
            <a:ext cx="2141802" cy="628650"/>
          </a:xfrm>
          <a:prstGeom prst="roundRect">
            <a:avLst>
              <a:gd name="adj" fmla="val 18182"/>
            </a:avLst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5346098" y="1505876"/>
            <a:ext cx="1722702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dirty="0">
                <a:solidFill>
                  <a:srgbClr val="0A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perplexity.ai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047750" y="2268802"/>
            <a:ext cx="15697200" cy="977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51"/>
              </a:lnSpc>
              <a:buNone/>
            </a:pPr>
            <a:r>
              <a:rPr lang="en-US" sz="25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Searches the internet in real time and gives clear, cited, structured answers. Perplexity Pro: $20/mo unlocks Deep Research mode.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1047750" y="3569758"/>
            <a:ext cx="7981950" cy="1417241"/>
          </a:xfrm>
          <a:prstGeom prst="roundRect">
            <a:avLst>
              <a:gd name="adj" fmla="val 10753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352550" y="3836458"/>
            <a:ext cx="8109585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318"/>
              </a:lnSpc>
              <a:buNone/>
            </a:pPr>
            <a:r>
              <a:rPr lang="en-US" sz="255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Analysis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352550" y="4320249"/>
            <a:ext cx="810958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home appliances landscape in Egypt 2026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258300" y="3569758"/>
            <a:ext cx="7981950" cy="1417241"/>
          </a:xfrm>
          <a:prstGeom prst="roundRect">
            <a:avLst>
              <a:gd name="adj" fmla="val 10753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9563100" y="3836458"/>
            <a:ext cx="8109585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318"/>
              </a:lnSpc>
              <a:buNone/>
            </a:pPr>
            <a:r>
              <a:rPr lang="en-US" sz="255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Research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9563100" y="4320249"/>
            <a:ext cx="810958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trends driving purchase decisions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047750" y="5215599"/>
            <a:ext cx="7981950" cy="1817291"/>
          </a:xfrm>
          <a:prstGeom prst="roundRect">
            <a:avLst>
              <a:gd name="adj" fmla="val 8386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352550" y="5482299"/>
            <a:ext cx="8109585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318"/>
              </a:lnSpc>
              <a:buNone/>
            </a:pPr>
            <a:r>
              <a:rPr lang="en-US" sz="255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Research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352550" y="5966090"/>
            <a:ext cx="810958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and compare regional suppliers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258300" y="5215599"/>
            <a:ext cx="7981950" cy="1817291"/>
          </a:xfrm>
          <a:prstGeom prst="roundRect">
            <a:avLst>
              <a:gd name="adj" fmla="val 8386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9563100" y="5482299"/>
            <a:ext cx="8109585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318"/>
              </a:lnSpc>
              <a:buNone/>
            </a:pPr>
            <a:r>
              <a:rPr lang="en-US" sz="255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Research Mode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9563100" y="5966090"/>
            <a:ext cx="759352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50-100 sources → full cited report in 2-5 min, vs 2-3 days manually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1047750" y="7394840"/>
            <a:ext cx="16192500" cy="1855258"/>
          </a:xfrm>
          <a:custGeom>
            <a:avLst/>
            <a:gdLst/>
            <a:ahLst/>
            <a:cxnLst/>
            <a:rect l="l" t="t" r="r" b="b"/>
            <a:pathLst>
              <a:path w="16192500" h="1855258">
                <a:moveTo>
                  <a:pt x="0" y="0"/>
                </a:moveTo>
                <a:lnTo>
                  <a:pt x="16021050" y="0"/>
                </a:lnTo>
                <a:arcTo wR="171450" hR="171450" stAng="16200000" swAng="5400000"/>
                <a:lnTo>
                  <a:pt x="16192500" y="1683808"/>
                </a:lnTo>
                <a:arcTo wR="171450" hR="171450" stAng="0" swAng="5400000"/>
                <a:lnTo>
                  <a:pt x="0" y="1855258"/>
                </a:lnTo>
                <a:lnTo>
                  <a:pt x="0" y="0"/>
                </a:lnTo>
                <a:close/>
              </a:path>
            </a:pathLst>
          </a:custGeom>
          <a:solidFill>
            <a:srgbClr val="2A122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1047750" y="7394840"/>
            <a:ext cx="93133" cy="1855258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1521883" y="7680590"/>
            <a:ext cx="1687110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kern="0" spc="315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DEEP RESEARCH PROMPT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521883" y="8080640"/>
            <a:ext cx="15797488" cy="921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286"/>
              </a:lnSpc>
              <a:buNone/>
            </a:pPr>
            <a:r>
              <a:rPr lang="en-US" sz="2400" dirty="0">
                <a:solidFill>
                  <a:srgbClr val="FFD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"Provide a comprehensive analysis of the home appliances market in Egypt for 2025-2026: market size, growth rate, consumer segments, dominant brands, distribution channels, and currency impact."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1047750" y="9250098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1047750" y="9533731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4829631" y="9533731"/>
            <a:ext cx="265168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APPLIED AI</a:t>
            </a:r>
            <a:endParaRPr lang="en-US" sz="2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40614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FOR CLUSTER 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616311" y="762000"/>
            <a:ext cx="233473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أداة إضافية للمجموعة ٢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3093809" cy="1527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972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— AI Inside Google Workspace</a:t>
            </a:r>
            <a:endParaRPr lang="en-US" sz="5100" dirty="0"/>
          </a:p>
        </p:txBody>
      </p:sp>
      <p:sp>
        <p:nvSpPr>
          <p:cNvPr id="6" name="Shape 4"/>
          <p:cNvSpPr/>
          <p:nvPr/>
        </p:nvSpPr>
        <p:spPr>
          <a:xfrm>
            <a:off x="14141186" y="1706827"/>
            <a:ext cx="3099065" cy="628650"/>
          </a:xfrm>
          <a:prstGeom prst="roundRect">
            <a:avLst>
              <a:gd name="adj" fmla="val 18182"/>
            </a:avLst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4388836" y="1878277"/>
            <a:ext cx="2696737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dirty="0">
                <a:solidFill>
                  <a:srgbClr val="0A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gemini.google.com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047750" y="3013604"/>
            <a:ext cx="15697200" cy="977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51"/>
              </a:lnSpc>
              <a:buNone/>
            </a:pPr>
            <a:r>
              <a:rPr lang="en-US" sz="25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Google's assistant integrated into Gmail, Docs, Sheets, Slides, and Drive. Free with a Google account; full Workspace integration needs a Business plan.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1047750" y="4371710"/>
            <a:ext cx="5245100" cy="1878277"/>
          </a:xfrm>
          <a:prstGeom prst="roundRect">
            <a:avLst>
              <a:gd name="adj" fmla="val 8114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352550" y="4657460"/>
            <a:ext cx="5099050" cy="449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404"/>
              </a:lnSpc>
              <a:buNone/>
            </a:pPr>
            <a:r>
              <a:rPr lang="en-US" sz="27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352550" y="5164138"/>
            <a:ext cx="477456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replies, summarize threads, suggest follow-ups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6521450" y="4371710"/>
            <a:ext cx="5245100" cy="1878277"/>
          </a:xfrm>
          <a:prstGeom prst="roundRect">
            <a:avLst>
              <a:gd name="adj" fmla="val 8114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826250" y="4657460"/>
            <a:ext cx="5099050" cy="449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404"/>
              </a:lnSpc>
              <a:buNone/>
            </a:pPr>
            <a:r>
              <a:rPr lang="en-US" sz="27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Docs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6826250" y="5164138"/>
            <a:ext cx="477456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Draft, improve, summarize, change tone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1995150" y="4371710"/>
            <a:ext cx="5245100" cy="1878277"/>
          </a:xfrm>
          <a:prstGeom prst="roundRect">
            <a:avLst>
              <a:gd name="adj" fmla="val 8114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2299950" y="4657460"/>
            <a:ext cx="5099050" cy="449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404"/>
              </a:lnSpc>
              <a:buNone/>
            </a:pPr>
            <a:r>
              <a:rPr lang="en-US" sz="27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Sheets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2299950" y="5164138"/>
            <a:ext cx="477456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data, generate formulas, create charts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047750" y="6478588"/>
            <a:ext cx="5245100" cy="1878277"/>
          </a:xfrm>
          <a:prstGeom prst="roundRect">
            <a:avLst>
              <a:gd name="adj" fmla="val 8114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352550" y="6764338"/>
            <a:ext cx="5099050" cy="449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404"/>
              </a:lnSpc>
              <a:buNone/>
            </a:pPr>
            <a:r>
              <a:rPr lang="en-US" sz="27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Slides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352550" y="7271015"/>
            <a:ext cx="477456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presentations from text or docs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6521450" y="6478588"/>
            <a:ext cx="5245100" cy="1878277"/>
          </a:xfrm>
          <a:prstGeom prst="roundRect">
            <a:avLst>
              <a:gd name="adj" fmla="val 8114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6826250" y="6764338"/>
            <a:ext cx="5099050" cy="449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404"/>
              </a:lnSpc>
              <a:buNone/>
            </a:pPr>
            <a:r>
              <a:rPr lang="en-US" sz="27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Drive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6826250" y="7271015"/>
            <a:ext cx="50990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search across all files in seconds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11995150" y="6478588"/>
            <a:ext cx="5245100" cy="1878277"/>
          </a:xfrm>
          <a:prstGeom prst="roundRect">
            <a:avLst>
              <a:gd name="adj" fmla="val 8114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12299950" y="6764338"/>
            <a:ext cx="5099050" cy="449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404"/>
              </a:lnSpc>
              <a:buNone/>
            </a:pPr>
            <a:r>
              <a:rPr lang="en-US" sz="27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Gems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12299950" y="7271015"/>
            <a:ext cx="477456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custom AI assistants for the team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1047750" y="9069917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1047750" y="9353550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4829631" y="9353550"/>
            <a:ext cx="265168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APPLIED AI</a:t>
            </a:r>
            <a:endParaRPr lang="en-US" sz="2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302086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3 OF 5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047750" y="1276350"/>
            <a:ext cx="7079589" cy="834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969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&amp; Data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14317609" y="1527837"/>
            <a:ext cx="2922641" cy="582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2895"/>
              </a:lnSpc>
              <a:buNone/>
            </a:pPr>
            <a:r>
              <a:rPr lang="en-US" sz="330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المستندات والبيانات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1047750" y="2567914"/>
            <a:ext cx="3876675" cy="3634449"/>
          </a:xfrm>
          <a:prstGeom prst="roundRect">
            <a:avLst>
              <a:gd name="adj" fmla="val 4717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1047750" y="2567914"/>
            <a:ext cx="3876675" cy="76200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352550" y="2948914"/>
            <a:ext cx="3593783" cy="499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913"/>
              </a:lnSpc>
              <a:buNone/>
            </a:pPr>
            <a:r>
              <a:rPr lang="en-US" sz="33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025843" y="3524118"/>
            <a:ext cx="3593783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إكسل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52550" y="4065058"/>
            <a:ext cx="336508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spreadsheets in plain language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254538" y="4979458"/>
            <a:ext cx="336508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حلّل جداول البيانات بلغة عادية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5153025" y="2567914"/>
            <a:ext cx="3876675" cy="3634449"/>
          </a:xfrm>
          <a:prstGeom prst="roundRect">
            <a:avLst>
              <a:gd name="adj" fmla="val 4717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5153025" y="2567914"/>
            <a:ext cx="3876675" cy="76200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457825" y="2948914"/>
            <a:ext cx="3593783" cy="499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913"/>
              </a:lnSpc>
              <a:buNone/>
            </a:pPr>
            <a:r>
              <a:rPr lang="en-US" sz="33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Analysis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5131118" y="3524118"/>
            <a:ext cx="3593783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البيانات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457825" y="4065058"/>
            <a:ext cx="336508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patterns without writing formulas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5359813" y="4979458"/>
            <a:ext cx="3365087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اكتشف الأنماط من غير ما تكتب معادلات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258300" y="2567914"/>
            <a:ext cx="3876675" cy="3634449"/>
          </a:xfrm>
          <a:prstGeom prst="roundRect">
            <a:avLst>
              <a:gd name="adj" fmla="val 4717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9258300" y="2567914"/>
            <a:ext cx="3876675" cy="76200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9563100" y="2948914"/>
            <a:ext cx="3365087" cy="959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913"/>
              </a:lnSpc>
              <a:buNone/>
            </a:pPr>
            <a:r>
              <a:rPr lang="en-US" sz="33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&amp; Docs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9236393" y="3985022"/>
            <a:ext cx="3593783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التقارير والمستندات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563100" y="4525962"/>
            <a:ext cx="336508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reports in minutes, not hours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9465088" y="5440363"/>
            <a:ext cx="336508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تقارير منظمة في دقائق مش ساعات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13363575" y="2567914"/>
            <a:ext cx="3876675" cy="3634449"/>
          </a:xfrm>
          <a:prstGeom prst="roundRect">
            <a:avLst>
              <a:gd name="adj" fmla="val 4717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13363575" y="2567914"/>
            <a:ext cx="3876675" cy="76200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13668375" y="2948914"/>
            <a:ext cx="3593783" cy="499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913"/>
              </a:lnSpc>
              <a:buNone/>
            </a:pPr>
            <a:r>
              <a:rPr lang="en-US" sz="33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 Creation</a:t>
            </a:r>
            <a:endParaRPr lang="en-US" sz="3300" dirty="0"/>
          </a:p>
        </p:txBody>
      </p:sp>
      <p:sp>
        <p:nvSpPr>
          <p:cNvPr id="27" name="Text 25"/>
          <p:cNvSpPr/>
          <p:nvPr/>
        </p:nvSpPr>
        <p:spPr>
          <a:xfrm>
            <a:off x="13341668" y="3524118"/>
            <a:ext cx="3593783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الإجراءات القياسية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3668375" y="4065058"/>
            <a:ext cx="336508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messy notes into a clean procedure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13570363" y="4979458"/>
            <a:ext cx="3365087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حوّل ملاحظات مبعثرة إلى إجراء واضح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1047750" y="6621463"/>
            <a:ext cx="16192500" cy="2167731"/>
          </a:xfrm>
          <a:custGeom>
            <a:avLst/>
            <a:gdLst/>
            <a:ahLst/>
            <a:cxnLst/>
            <a:rect l="l" t="t" r="r" b="b"/>
            <a:pathLst>
              <a:path w="16192500" h="2167731">
                <a:moveTo>
                  <a:pt x="0" y="0"/>
                </a:moveTo>
                <a:lnTo>
                  <a:pt x="16002000" y="0"/>
                </a:lnTo>
                <a:arcTo wR="190500" hR="190500" stAng="16200000" swAng="5400000"/>
                <a:lnTo>
                  <a:pt x="16192500" y="1977231"/>
                </a:lnTo>
                <a:arcTo wR="190500" hR="190500" stAng="0" swAng="5400000"/>
                <a:lnTo>
                  <a:pt x="0" y="2167731"/>
                </a:lnTo>
                <a:lnTo>
                  <a:pt x="0" y="0"/>
                </a:lnTo>
                <a:close/>
              </a:path>
            </a:pathLst>
          </a:custGeom>
          <a:solidFill>
            <a:srgbClr val="2A122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1047750" y="6621463"/>
            <a:ext cx="93133" cy="2167731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1521883" y="6945313"/>
            <a:ext cx="1687110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kern="0" spc="360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THIS PROMPT</a:t>
            </a:r>
            <a:endParaRPr lang="en-US" sz="2250" dirty="0"/>
          </a:p>
        </p:txBody>
      </p:sp>
      <p:sp>
        <p:nvSpPr>
          <p:cNvPr id="33" name="Text 31"/>
          <p:cNvSpPr/>
          <p:nvPr/>
        </p:nvSpPr>
        <p:spPr>
          <a:xfrm>
            <a:off x="1521883" y="7364413"/>
            <a:ext cx="16871104" cy="518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38"/>
              </a:lnSpc>
              <a:buNone/>
            </a:pPr>
            <a:r>
              <a:rPr lang="en-US" sz="2700" dirty="0">
                <a:solidFill>
                  <a:srgbClr val="FFD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"Summarize this spreadsheet by region, and flag any number below target."</a:t>
            </a:r>
            <a:endParaRPr lang="en-US" sz="2700" dirty="0"/>
          </a:p>
        </p:txBody>
      </p:sp>
      <p:sp>
        <p:nvSpPr>
          <p:cNvPr id="34" name="Text 32"/>
          <p:cNvSpPr/>
          <p:nvPr/>
        </p:nvSpPr>
        <p:spPr>
          <a:xfrm>
            <a:off x="-11853" y="7977717"/>
            <a:ext cx="16871104" cy="525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7143"/>
              </a:lnSpc>
              <a:buNone/>
            </a:pPr>
            <a:r>
              <a:rPr lang="en-US" sz="2400" dirty="0">
                <a:solidFill>
                  <a:srgbClr val="D5A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"لخّص جدول البيانات ده حسب المنطقة، وأشِّر على أي رقم أقل من الهدف"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1047750" y="9069917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1047750" y="9353550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14829631" y="9353550"/>
            <a:ext cx="265168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APPLIED AI</a:t>
            </a:r>
            <a:endParaRPr lang="en-US" sz="2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40614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FOR CLUSTER 3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616311" y="762000"/>
            <a:ext cx="15985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أداة المجموعة ٣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4515959" cy="1396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266"/>
              </a:lnSpc>
              <a:buNone/>
            </a:pPr>
            <a:r>
              <a:rPr lang="en-US" sz="4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— Deep Analysis &amp; Long-Document Intelligence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5521914" y="1641078"/>
            <a:ext cx="1718337" cy="628650"/>
          </a:xfrm>
          <a:prstGeom prst="roundRect">
            <a:avLst>
              <a:gd name="adj" fmla="val 18182"/>
            </a:avLst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5769564" y="1812528"/>
            <a:ext cx="1299237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dirty="0">
                <a:solidFill>
                  <a:srgbClr val="0A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claude.ai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047750" y="2882106"/>
            <a:ext cx="15697200" cy="977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51"/>
              </a:lnSpc>
              <a:buNone/>
            </a:pPr>
            <a:r>
              <a:rPr lang="en-US" sz="25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Anthropic. Claude's greatest strength is processing very long documents (200,000+ words) and producing deeply analytical, professionally written reports. Claude Pro: $20/mo recommended.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1047750" y="4183062"/>
            <a:ext cx="5245100" cy="1817291"/>
          </a:xfrm>
          <a:prstGeom prst="roundRect">
            <a:avLst>
              <a:gd name="adj" fmla="val 8386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352550" y="4449762"/>
            <a:ext cx="5099050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318"/>
              </a:lnSpc>
              <a:buNone/>
            </a:pPr>
            <a:r>
              <a:rPr lang="en-US" sz="255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Context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352550" y="4933553"/>
            <a:ext cx="477456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Processes 150+ pages in a single session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6521450" y="4183062"/>
            <a:ext cx="5245100" cy="1817291"/>
          </a:xfrm>
          <a:prstGeom prst="roundRect">
            <a:avLst>
              <a:gd name="adj" fmla="val 8386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826250" y="4449762"/>
            <a:ext cx="5099050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318"/>
              </a:lnSpc>
              <a:buNone/>
            </a:pPr>
            <a:r>
              <a:rPr lang="en-US" sz="255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6826250" y="4933553"/>
            <a:ext cx="477456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company docs once as a knowledge base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1995150" y="4183062"/>
            <a:ext cx="5245100" cy="1817291"/>
          </a:xfrm>
          <a:prstGeom prst="roundRect">
            <a:avLst>
              <a:gd name="adj" fmla="val 8386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2299950" y="4449762"/>
            <a:ext cx="5099050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318"/>
              </a:lnSpc>
              <a:buNone/>
            </a:pPr>
            <a:r>
              <a:rPr lang="en-US" sz="255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Artifacts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2299950" y="4933553"/>
            <a:ext cx="477456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Formatted documents, tables, reports you download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047750" y="6228953"/>
            <a:ext cx="5245100" cy="1817291"/>
          </a:xfrm>
          <a:prstGeom prst="roundRect">
            <a:avLst>
              <a:gd name="adj" fmla="val 8386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352550" y="6495653"/>
            <a:ext cx="5099050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318"/>
              </a:lnSpc>
              <a:buNone/>
            </a:pPr>
            <a:r>
              <a:rPr lang="en-US" sz="255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Analysis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352550" y="6979444"/>
            <a:ext cx="50990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PDFs, Word, Excel instantly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6521450" y="6228953"/>
            <a:ext cx="5245100" cy="1817291"/>
          </a:xfrm>
          <a:prstGeom prst="roundRect">
            <a:avLst>
              <a:gd name="adj" fmla="val 8386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6826250" y="6495653"/>
            <a:ext cx="5099050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318"/>
              </a:lnSpc>
              <a:buNone/>
            </a:pPr>
            <a:r>
              <a:rPr lang="en-US" sz="255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Writing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6826250" y="6979444"/>
            <a:ext cx="477456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reports, strategy docs, proposals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11995150" y="6228953"/>
            <a:ext cx="5245100" cy="1817291"/>
          </a:xfrm>
          <a:prstGeom prst="roundRect">
            <a:avLst>
              <a:gd name="adj" fmla="val 8386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12299950" y="6495653"/>
            <a:ext cx="5099050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318"/>
              </a:lnSpc>
              <a:buNone/>
            </a:pPr>
            <a:r>
              <a:rPr lang="en-US" sz="255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Connectors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12299950" y="6979444"/>
            <a:ext cx="477456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Jira, Slack, Google Drive, Asana &amp; more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1047750" y="8408194"/>
            <a:ext cx="16192500" cy="1405864"/>
          </a:xfrm>
          <a:prstGeom prst="roundRect">
            <a:avLst>
              <a:gd name="adj" fmla="val 12195"/>
            </a:avLst>
          </a:prstGeom>
          <a:solidFill>
            <a:srgbClr val="2E1A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1428750" y="8693944"/>
            <a:ext cx="312185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kern="0" spc="315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USED FOR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15978187" y="8693944"/>
            <a:ext cx="95726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kern="0" spc="315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الأنسب لـ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1428750" y="9132094"/>
            <a:ext cx="3922369" cy="434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2400" b="1" dirty="0">
                <a:solidFill>
                  <a:srgbClr val="F7D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Contract &amp; risk review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5375540" y="9132094"/>
            <a:ext cx="3605570" cy="434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2400" b="1" dirty="0">
                <a:solidFill>
                  <a:srgbClr val="F7D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Board-level strategy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9034331" y="9132094"/>
            <a:ext cx="5579560" cy="434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2400" b="1" dirty="0">
                <a:solidFill>
                  <a:srgbClr val="F7D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Meeting transcript → action plan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1047750" y="9814058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1047750" y="10097691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14829631" y="10097691"/>
            <a:ext cx="265168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APPLIED AI</a:t>
            </a:r>
            <a:endParaRPr lang="en-US" sz="2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354343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IN ACTION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145352" y="762000"/>
            <a:ext cx="18922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في العمل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2766647" cy="150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192"/>
              </a:lnSpc>
              <a:buNone/>
            </a:pPr>
            <a:r>
              <a:rPr lang="en-US" sz="5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Workflow: Contract Review &amp; Risk Analysis</a:t>
            </a:r>
            <a:endParaRPr lang="en-US" sz="5250" dirty="0"/>
          </a:p>
        </p:txBody>
      </p:sp>
      <p:sp>
        <p:nvSpPr>
          <p:cNvPr id="6" name="Text 4"/>
          <p:cNvSpPr/>
          <p:nvPr/>
        </p:nvSpPr>
        <p:spPr>
          <a:xfrm>
            <a:off x="13328622" y="1802342"/>
            <a:ext cx="3911628" cy="978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3418"/>
              </a:lnSpc>
              <a:buNone/>
            </a:pPr>
            <a:r>
              <a:rPr lang="en-US" sz="285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سير عمل: مراجعة العقود وتحليل المخاطر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1047750" y="3238500"/>
            <a:ext cx="5232400" cy="4112551"/>
          </a:xfrm>
          <a:prstGeom prst="roundRect">
            <a:avLst>
              <a:gd name="adj" fmla="val 4632"/>
            </a:avLst>
          </a:prstGeom>
          <a:solidFill>
            <a:srgbClr val="2E1A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371600" y="3600450"/>
            <a:ext cx="504317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4173"/>
              </a:lnSpc>
              <a:buNone/>
            </a:pPr>
            <a:r>
              <a:rPr lang="en-US" sz="675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750" dirty="0"/>
          </a:p>
        </p:txBody>
      </p:sp>
      <p:sp>
        <p:nvSpPr>
          <p:cNvPr id="9" name="Text 7"/>
          <p:cNvSpPr/>
          <p:nvPr/>
        </p:nvSpPr>
        <p:spPr>
          <a:xfrm>
            <a:off x="1371600" y="4524375"/>
            <a:ext cx="4722241" cy="9294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21"/>
              </a:lnSpc>
              <a:buNone/>
            </a:pPr>
            <a:r>
              <a:rPr lang="en-US" sz="2700" b="1" dirty="0">
                <a:solidFill>
                  <a:srgbClr val="F7D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a 50-page supplier contract PDF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13130" y="5568156"/>
            <a:ext cx="5043170" cy="525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7143"/>
              </a:lnSpc>
              <a:buNone/>
            </a:pPr>
            <a:r>
              <a:rPr lang="en-US" sz="2400" dirty="0">
                <a:solidFill>
                  <a:srgbClr val="C9A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رفع عقد مورّد من ٥٠ صفحة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527800" y="3238500"/>
            <a:ext cx="5232400" cy="4112551"/>
          </a:xfrm>
          <a:prstGeom prst="roundRect">
            <a:avLst>
              <a:gd name="adj" fmla="val 4632"/>
            </a:avLst>
          </a:prstGeom>
          <a:solidFill>
            <a:srgbClr val="2E1A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851650" y="3600450"/>
            <a:ext cx="504317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4173"/>
              </a:lnSpc>
              <a:buNone/>
            </a:pPr>
            <a:r>
              <a:rPr lang="en-US" sz="675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750" dirty="0"/>
          </a:p>
        </p:txBody>
      </p:sp>
      <p:sp>
        <p:nvSpPr>
          <p:cNvPr id="13" name="Text 11"/>
          <p:cNvSpPr/>
          <p:nvPr/>
        </p:nvSpPr>
        <p:spPr>
          <a:xfrm>
            <a:off x="6851650" y="4524375"/>
            <a:ext cx="4722241" cy="1375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21"/>
              </a:lnSpc>
              <a:buNone/>
            </a:pPr>
            <a:r>
              <a:rPr lang="en-US" sz="2700" b="1" dirty="0">
                <a:solidFill>
                  <a:srgbClr val="F7D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identify unusual clauses, obligations, penalties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6714109" y="6013847"/>
            <a:ext cx="4722241" cy="10133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7143"/>
              </a:lnSpc>
              <a:buNone/>
            </a:pPr>
            <a:r>
              <a:rPr lang="en-US" sz="2400" dirty="0">
                <a:solidFill>
                  <a:srgbClr val="C9A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تحديد البنود غير المعتادة والالتزامات والغرامات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2007850" y="3238500"/>
            <a:ext cx="5232400" cy="4112551"/>
          </a:xfrm>
          <a:prstGeom prst="roundRect">
            <a:avLst>
              <a:gd name="adj" fmla="val 4632"/>
            </a:avLst>
          </a:prstGeom>
          <a:solidFill>
            <a:srgbClr val="2E1A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2331700" y="3600450"/>
            <a:ext cx="504317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4173"/>
              </a:lnSpc>
              <a:buNone/>
            </a:pPr>
            <a:r>
              <a:rPr lang="en-US" sz="675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750" dirty="0"/>
          </a:p>
        </p:txBody>
      </p:sp>
      <p:sp>
        <p:nvSpPr>
          <p:cNvPr id="17" name="Text 15"/>
          <p:cNvSpPr/>
          <p:nvPr/>
        </p:nvSpPr>
        <p:spPr>
          <a:xfrm>
            <a:off x="12331700" y="4524375"/>
            <a:ext cx="4722241" cy="1375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21"/>
              </a:lnSpc>
              <a:buNone/>
            </a:pPr>
            <a:r>
              <a:rPr lang="en-US" sz="2700" b="1" dirty="0">
                <a:solidFill>
                  <a:srgbClr val="F7D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produces a risk summary in minutes (30 min → 2 min)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1873230" y="6013847"/>
            <a:ext cx="5043170" cy="525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7143"/>
              </a:lnSpc>
              <a:buNone/>
            </a:pPr>
            <a:r>
              <a:rPr lang="en-US" sz="2400" dirty="0">
                <a:solidFill>
                  <a:srgbClr val="C9A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ملخص مخاطر في دقائق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047750" y="7770151"/>
            <a:ext cx="16192500" cy="1948656"/>
          </a:xfrm>
          <a:custGeom>
            <a:avLst/>
            <a:gdLst/>
            <a:ahLst/>
            <a:cxnLst/>
            <a:rect l="l" t="t" r="r" b="b"/>
            <a:pathLst>
              <a:path w="16192500" h="1948656">
                <a:moveTo>
                  <a:pt x="0" y="0"/>
                </a:moveTo>
                <a:lnTo>
                  <a:pt x="16021050" y="0"/>
                </a:lnTo>
                <a:arcTo wR="171450" hR="171450" stAng="16200000" swAng="5400000"/>
                <a:lnTo>
                  <a:pt x="16192500" y="1777206"/>
                </a:lnTo>
                <a:arcTo wR="171450" hR="171450" stAng="0" swAng="5400000"/>
                <a:lnTo>
                  <a:pt x="0" y="1948656"/>
                </a:lnTo>
                <a:lnTo>
                  <a:pt x="0" y="0"/>
                </a:lnTo>
                <a:close/>
              </a:path>
            </a:pathLst>
          </a:cu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1047750" y="7770151"/>
            <a:ext cx="93133" cy="1948656"/>
          </a:xfrm>
          <a:prstGeom prst="rect">
            <a:avLst/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1521883" y="8074951"/>
            <a:ext cx="1687110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kern="0" spc="315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PROMPT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521883" y="8475001"/>
            <a:ext cx="15797488" cy="977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51"/>
              </a:lnSpc>
              <a:buNone/>
            </a:pPr>
            <a:r>
              <a:rPr lang="en-US" sz="25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"Review this supplier contract. Identify unusual clauses, our obligations, penalty/termination conditions, and missing protections. Present as a risk summary with severity ratings (High/Medium/Low)."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047750" y="9718807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1047750" y="10002441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4829631" y="10002441"/>
            <a:ext cx="265168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APPLIED AI</a:t>
            </a:r>
            <a:endParaRPr lang="en-US" sz="2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40614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FOR CLUSTER 3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616311" y="762000"/>
            <a:ext cx="233473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أداة إضافية للمجموعة ٣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1968361" cy="78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972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 — AI Inside Excel</a:t>
            </a:r>
            <a:endParaRPr lang="en-US" sz="5100" dirty="0"/>
          </a:p>
        </p:txBody>
      </p:sp>
      <p:sp>
        <p:nvSpPr>
          <p:cNvPr id="6" name="Shape 4"/>
          <p:cNvSpPr/>
          <p:nvPr/>
        </p:nvSpPr>
        <p:spPr>
          <a:xfrm>
            <a:off x="13760186" y="1334426"/>
            <a:ext cx="3480065" cy="628650"/>
          </a:xfrm>
          <a:prstGeom prst="roundRect">
            <a:avLst>
              <a:gd name="adj" fmla="val 18182"/>
            </a:avLst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4007836" y="1505876"/>
            <a:ext cx="3089167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dirty="0">
                <a:solidFill>
                  <a:srgbClr val="0A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copilot.microsoft.com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047750" y="2268802"/>
            <a:ext cx="15697200" cy="977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51"/>
              </a:lnSpc>
              <a:buNone/>
            </a:pPr>
            <a:r>
              <a:rPr lang="en-US" sz="25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built directly into Excel, Outlook, Word, PowerPoint and Teams — with direct access to your M365 files. No copy-pasting required. License: $30/user/mo.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1047750" y="3626908"/>
            <a:ext cx="5232400" cy="2133335"/>
          </a:xfrm>
          <a:prstGeom prst="roundRect">
            <a:avLst>
              <a:gd name="adj" fmla="val 8037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047750" y="3626908"/>
            <a:ext cx="5232400" cy="76200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352550" y="4007908"/>
            <a:ext cx="5085080" cy="499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913"/>
              </a:lnSpc>
              <a:buNone/>
            </a:pPr>
            <a:r>
              <a:rPr lang="en-US" sz="33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1352550" y="4602162"/>
            <a:ext cx="4761484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Analyzes data, writes formulas, builds pivots &amp; charts from text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527800" y="3626908"/>
            <a:ext cx="5232400" cy="2133335"/>
          </a:xfrm>
          <a:prstGeom prst="roundRect">
            <a:avLst>
              <a:gd name="adj" fmla="val 8037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527800" y="3626908"/>
            <a:ext cx="5232400" cy="76200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832600" y="4007908"/>
            <a:ext cx="5085080" cy="499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913"/>
              </a:lnSpc>
              <a:buNone/>
            </a:pPr>
            <a:r>
              <a:rPr lang="en-US" sz="33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6832600" y="4602162"/>
            <a:ext cx="4761484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Drafts, rewrites, and summarizes documents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2007850" y="3626908"/>
            <a:ext cx="5232400" cy="2133335"/>
          </a:xfrm>
          <a:prstGeom prst="roundRect">
            <a:avLst>
              <a:gd name="adj" fmla="val 8037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12007850" y="3626908"/>
            <a:ext cx="5232400" cy="76200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2312650" y="4007908"/>
            <a:ext cx="5085080" cy="499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913"/>
              </a:lnSpc>
              <a:buNone/>
            </a:pPr>
            <a:r>
              <a:rPr lang="en-US" sz="33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SharePoint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12312650" y="4602162"/>
            <a:ext cx="508508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Searches across all company files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047750" y="6179344"/>
            <a:ext cx="16192500" cy="2228585"/>
          </a:xfrm>
          <a:prstGeom prst="roundRect">
            <a:avLst>
              <a:gd name="adj" fmla="val 8548"/>
            </a:avLst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1466850" y="6503194"/>
            <a:ext cx="15814929" cy="998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38"/>
              </a:lnSpc>
              <a:buNone/>
            </a:pPr>
            <a:r>
              <a:rPr lang="en-US" sz="2700" b="1" dirty="0">
                <a:solidFill>
                  <a:srgbClr val="2E0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30-Minute Weekly Report: Excel (summarize KPIs) → Word (draft narrative) → PowerPoint (5-slide brief) → Outlook (send). 87% time savings vs 3-4 hours manual work.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-68580" y="7596452"/>
            <a:ext cx="16889730" cy="525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7143"/>
              </a:lnSpc>
              <a:buNone/>
            </a:pPr>
            <a:r>
              <a:rPr lang="en-US" sz="2400" dirty="0">
                <a:solidFill>
                  <a:srgbClr val="4A0E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تقرير أسبوعي في ٣٠ دقيقة عبر إكسل ووورد وبوربوينت وأوتلوك — توفير ٨٧٪ من الوقت مقابل ٣-٤ ساعات يدوياً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1047750" y="9069917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1047750" y="9353550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4829631" y="9353550"/>
            <a:ext cx="265168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APPLIED AI</a:t>
            </a:r>
            <a:endParaRPr lang="en-US" sz="2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40614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FOR CLUSTER 3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616311" y="762000"/>
            <a:ext cx="233473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أداة إضافية للمجموعة ٣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2374490" cy="1440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976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NotebookLM — Your Company's Smart Knowledge Base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3442818" y="1663039"/>
            <a:ext cx="3797432" cy="628650"/>
          </a:xfrm>
          <a:prstGeom prst="roundRect">
            <a:avLst>
              <a:gd name="adj" fmla="val 18182"/>
            </a:avLst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3690468" y="1834489"/>
            <a:ext cx="3416055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dirty="0">
                <a:solidFill>
                  <a:srgbClr val="0A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notebooklm.google.com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047750" y="2926027"/>
            <a:ext cx="15697200" cy="977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51"/>
              </a:lnSpc>
              <a:buNone/>
            </a:pPr>
            <a:r>
              <a:rPr lang="en-US" sz="25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company documents — manuals, policies, reports — and ask questions about them. Answers based ONLY on your uploaded content, with citations. Free access.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1047750" y="4246033"/>
            <a:ext cx="7981950" cy="1478227"/>
          </a:xfrm>
          <a:prstGeom prst="roundRect">
            <a:avLst>
              <a:gd name="adj" fmla="val 10310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371600" y="4531783"/>
            <a:ext cx="8067675" cy="449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404"/>
              </a:lnSpc>
              <a:buNone/>
            </a:pPr>
            <a:r>
              <a:rPr lang="en-US" sz="27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Source-Grounded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371600" y="5038460"/>
            <a:ext cx="806767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answer cites the exact document and page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258300" y="4246033"/>
            <a:ext cx="7981950" cy="1478227"/>
          </a:xfrm>
          <a:prstGeom prst="roundRect">
            <a:avLst>
              <a:gd name="adj" fmla="val 10310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9582150" y="4531783"/>
            <a:ext cx="8067675" cy="449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404"/>
              </a:lnSpc>
              <a:buNone/>
            </a:pPr>
            <a:r>
              <a:rPr lang="en-US" sz="27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Overviews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582150" y="5038460"/>
            <a:ext cx="806767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documents into podcast-style summaries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047750" y="5952860"/>
            <a:ext cx="7981950" cy="1878277"/>
          </a:xfrm>
          <a:prstGeom prst="roundRect">
            <a:avLst>
              <a:gd name="adj" fmla="val 8114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371600" y="6238610"/>
            <a:ext cx="8067675" cy="449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404"/>
              </a:lnSpc>
              <a:buNone/>
            </a:pPr>
            <a:r>
              <a:rPr lang="en-US" sz="27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Multi-Source (50+)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371600" y="6745288"/>
            <a:ext cx="806767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50+ documents, ask across all at once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258300" y="5952860"/>
            <a:ext cx="7981950" cy="1878277"/>
          </a:xfrm>
          <a:prstGeom prst="roundRect">
            <a:avLst>
              <a:gd name="adj" fmla="val 8114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9582150" y="6238610"/>
            <a:ext cx="8067675" cy="449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404"/>
              </a:lnSpc>
              <a:buNone/>
            </a:pPr>
            <a:r>
              <a:rPr lang="en-US" sz="27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Collaborative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9582150" y="6745288"/>
            <a:ext cx="755427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notebooks — the whole team queries the same base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1047750" y="8193088"/>
            <a:ext cx="16192500" cy="1752600"/>
          </a:xfrm>
          <a:prstGeom prst="roundRect">
            <a:avLst>
              <a:gd name="adj" fmla="val 9783"/>
            </a:avLst>
          </a:prstGeom>
          <a:solidFill>
            <a:srgbClr val="2A122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1428750" y="8478838"/>
            <a:ext cx="312185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kern="0" spc="315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USED FOR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5978187" y="8478838"/>
            <a:ext cx="95726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kern="0" spc="315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الأنسب لـ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428750" y="8916988"/>
            <a:ext cx="586328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FFD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Employee onboarding — 60% less trainer time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7502261" y="8916988"/>
            <a:ext cx="673726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FFD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Customer service knowledge base — 40% faster calls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4424289" y="8916988"/>
            <a:ext cx="251116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FFD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SOP &amp; policy Q&amp;A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1047750" y="9945687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1047750" y="10229321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4829631" y="10229321"/>
            <a:ext cx="265168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APPLIED AI</a:t>
            </a:r>
            <a:endParaRPr lang="en-US" sz="2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302086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4 OF 5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047750" y="1276350"/>
            <a:ext cx="8230513" cy="834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969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Meetings &amp; Decisions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14001684" y="1527837"/>
            <a:ext cx="3238566" cy="582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2895"/>
              </a:lnSpc>
              <a:buNone/>
            </a:pPr>
            <a:r>
              <a:rPr lang="en-US" sz="330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الاجتماعات والقرارات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1047750" y="2644114"/>
            <a:ext cx="7953375" cy="3379258"/>
          </a:xfrm>
          <a:prstGeom prst="roundRect">
            <a:avLst>
              <a:gd name="adj" fmla="val 5637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1047750" y="2644114"/>
            <a:ext cx="7953375" cy="76200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466850" y="3139414"/>
            <a:ext cx="7826692" cy="624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7865"/>
              </a:lnSpc>
              <a:buNone/>
            </a:pPr>
            <a:r>
              <a:rPr lang="en-US" sz="42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755333" y="3878527"/>
            <a:ext cx="7826692" cy="518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0638"/>
              </a:lnSpc>
              <a:buNone/>
            </a:pPr>
            <a:r>
              <a:rPr lang="en-US" sz="27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الاجتماعات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466850" y="4510881"/>
            <a:ext cx="7826692" cy="491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705"/>
              </a:lnSpc>
              <a:buNone/>
            </a:pPr>
            <a:r>
              <a:rPr lang="en-US" sz="25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and action items, automatically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755333" y="5116645"/>
            <a:ext cx="7826692" cy="525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7143"/>
              </a:lnSpc>
              <a:buNone/>
            </a:pPr>
            <a:r>
              <a:rPr lang="en-US" sz="24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ملاحظات ومهام تلقائياً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286875" y="2644114"/>
            <a:ext cx="7953375" cy="3379258"/>
          </a:xfrm>
          <a:prstGeom prst="roundRect">
            <a:avLst>
              <a:gd name="adj" fmla="val 5637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9286875" y="2644114"/>
            <a:ext cx="7953375" cy="76200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9705975" y="3139414"/>
            <a:ext cx="7826692" cy="624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7865"/>
              </a:lnSpc>
              <a:buNone/>
            </a:pPr>
            <a:r>
              <a:rPr lang="en-US" sz="42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Making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8994458" y="3878527"/>
            <a:ext cx="7826692" cy="518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0638"/>
              </a:lnSpc>
              <a:buNone/>
            </a:pPr>
            <a:r>
              <a:rPr lang="en-US" sz="27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اتخاذ القرار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705975" y="4510881"/>
            <a:ext cx="7826692" cy="491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705"/>
              </a:lnSpc>
              <a:buNone/>
            </a:pPr>
            <a:r>
              <a:rPr lang="en-US" sz="25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real options with pros, cons and risks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8994458" y="5116645"/>
            <a:ext cx="7826692" cy="525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7143"/>
              </a:lnSpc>
              <a:buNone/>
            </a:pPr>
            <a:r>
              <a:rPr lang="en-US" sz="24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اعرض بدائل حقيقية بمميزاتها وعيوبها ومخاطرها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047750" y="6499622"/>
            <a:ext cx="16192500" cy="2167731"/>
          </a:xfrm>
          <a:custGeom>
            <a:avLst/>
            <a:gdLst/>
            <a:ahLst/>
            <a:cxnLst/>
            <a:rect l="l" t="t" r="r" b="b"/>
            <a:pathLst>
              <a:path w="16192500" h="2167731">
                <a:moveTo>
                  <a:pt x="0" y="0"/>
                </a:moveTo>
                <a:lnTo>
                  <a:pt x="16002000" y="0"/>
                </a:lnTo>
                <a:arcTo wR="190500" hR="190500" stAng="16200000" swAng="5400000"/>
                <a:lnTo>
                  <a:pt x="16192500" y="1977231"/>
                </a:lnTo>
                <a:arcTo wR="190500" hR="190500" stAng="0" swAng="5400000"/>
                <a:lnTo>
                  <a:pt x="0" y="2167731"/>
                </a:lnTo>
                <a:lnTo>
                  <a:pt x="0" y="0"/>
                </a:lnTo>
                <a:close/>
              </a:path>
            </a:pathLst>
          </a:custGeom>
          <a:solidFill>
            <a:srgbClr val="2A122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1047750" y="6499622"/>
            <a:ext cx="93133" cy="2167731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1521883" y="6823472"/>
            <a:ext cx="1687110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kern="0" spc="360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THIS PROMPT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521883" y="7242572"/>
            <a:ext cx="16871104" cy="518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38"/>
              </a:lnSpc>
              <a:buNone/>
            </a:pPr>
            <a:r>
              <a:rPr lang="en-US" sz="2700" dirty="0">
                <a:solidFill>
                  <a:srgbClr val="FFD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"Turn this meeting transcript into 5 action items with owners and deadlines."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-11853" y="7855876"/>
            <a:ext cx="16871104" cy="525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7143"/>
              </a:lnSpc>
              <a:buNone/>
            </a:pPr>
            <a:r>
              <a:rPr lang="en-US" sz="2400" dirty="0">
                <a:solidFill>
                  <a:srgbClr val="D5A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"حوّل محضر الاجتماع ده إلى ٥ مهام مع المسؤول والموعد النهائي"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1047750" y="9069917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1047750" y="9353550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4829631" y="9353550"/>
            <a:ext cx="265168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APPLIED AI</a:t>
            </a:r>
            <a:endParaRPr lang="en-US" sz="2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40614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FOR CLUSTER 4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616311" y="762000"/>
            <a:ext cx="15985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أداة المجموعة ٤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2701379" cy="1440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976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Teams + Copilot — Meetings on Autopilot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3760186" y="1663039"/>
            <a:ext cx="3480065" cy="628650"/>
          </a:xfrm>
          <a:prstGeom prst="roundRect">
            <a:avLst>
              <a:gd name="adj" fmla="val 18182"/>
            </a:avLst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4007836" y="1834489"/>
            <a:ext cx="3089167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dirty="0">
                <a:solidFill>
                  <a:srgbClr val="0A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copilot.microsoft.com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047750" y="2926027"/>
            <a:ext cx="15697200" cy="977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51"/>
              </a:lnSpc>
              <a:buNone/>
            </a:pPr>
            <a:r>
              <a:rPr lang="en-US" sz="25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in Teams transcribes meetings live, generates summaries, and creates action item lists — while Claude turns any transcript into a structured, owner-assigned action plan.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1047750" y="4303183"/>
            <a:ext cx="5232400" cy="2192470"/>
          </a:xfrm>
          <a:prstGeom prst="roundRect">
            <a:avLst>
              <a:gd name="adj" fmla="val 7820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047750" y="4303183"/>
            <a:ext cx="5232400" cy="76200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371600" y="4703233"/>
            <a:ext cx="5043170" cy="5200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7979"/>
              </a:lnSpc>
              <a:buNone/>
            </a:pPr>
            <a:r>
              <a:rPr lang="en-US" sz="345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</a:t>
            </a:r>
            <a:endParaRPr lang="en-US" sz="3450" dirty="0"/>
          </a:p>
        </p:txBody>
      </p:sp>
      <p:sp>
        <p:nvSpPr>
          <p:cNvPr id="12" name="Text 10"/>
          <p:cNvSpPr/>
          <p:nvPr/>
        </p:nvSpPr>
        <p:spPr>
          <a:xfrm>
            <a:off x="1371600" y="5318522"/>
            <a:ext cx="4722241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transcription + auto summary + action items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527800" y="4303183"/>
            <a:ext cx="5232400" cy="2192470"/>
          </a:xfrm>
          <a:prstGeom prst="roundRect">
            <a:avLst>
              <a:gd name="adj" fmla="val 7820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527800" y="4303183"/>
            <a:ext cx="5232400" cy="76200"/>
          </a:xfrm>
          <a:prstGeom prst="rect">
            <a:avLst/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851650" y="4703233"/>
            <a:ext cx="5043170" cy="5200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7979"/>
              </a:lnSpc>
              <a:buNone/>
            </a:pPr>
            <a:r>
              <a:rPr lang="en-US" sz="345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3450" dirty="0"/>
          </a:p>
        </p:txBody>
      </p:sp>
      <p:sp>
        <p:nvSpPr>
          <p:cNvPr id="16" name="Text 14"/>
          <p:cNvSpPr/>
          <p:nvPr/>
        </p:nvSpPr>
        <p:spPr>
          <a:xfrm>
            <a:off x="6851650" y="5318522"/>
            <a:ext cx="4722241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transcript → action plan in 2 minutes (vs 30 min manually)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2007850" y="4303183"/>
            <a:ext cx="5232400" cy="2192470"/>
          </a:xfrm>
          <a:prstGeom prst="roundRect">
            <a:avLst>
              <a:gd name="adj" fmla="val 7820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12007850" y="4303183"/>
            <a:ext cx="5232400" cy="76200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2331700" y="4703233"/>
            <a:ext cx="5043170" cy="5200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7979"/>
              </a:lnSpc>
              <a:buNone/>
            </a:pPr>
            <a:r>
              <a:rPr lang="en-US" sz="345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</a:t>
            </a:r>
            <a:endParaRPr lang="en-US" sz="3450" dirty="0"/>
          </a:p>
        </p:txBody>
      </p:sp>
      <p:sp>
        <p:nvSpPr>
          <p:cNvPr id="20" name="Text 18"/>
          <p:cNvSpPr/>
          <p:nvPr/>
        </p:nvSpPr>
        <p:spPr>
          <a:xfrm>
            <a:off x="12331700" y="5318522"/>
            <a:ext cx="4722241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Drafts follow-up emails from meeting outcomes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047750" y="6933803"/>
            <a:ext cx="16192500" cy="1664891"/>
          </a:xfrm>
          <a:custGeom>
            <a:avLst/>
            <a:gdLst/>
            <a:ahLst/>
            <a:cxnLst/>
            <a:rect l="l" t="t" r="r" b="b"/>
            <a:pathLst>
              <a:path w="16192500" h="1664891">
                <a:moveTo>
                  <a:pt x="0" y="0"/>
                </a:moveTo>
                <a:lnTo>
                  <a:pt x="16021050" y="0"/>
                </a:lnTo>
                <a:arcTo wR="171450" hR="171450" stAng="16200000" swAng="5400000"/>
                <a:lnTo>
                  <a:pt x="16192500" y="1493441"/>
                </a:lnTo>
                <a:arcTo wR="171450" hR="171450" stAng="0" swAng="5400000"/>
                <a:lnTo>
                  <a:pt x="0" y="1664891"/>
                </a:lnTo>
                <a:lnTo>
                  <a:pt x="0" y="0"/>
                </a:lnTo>
                <a:close/>
              </a:path>
            </a:pathLst>
          </a:cu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1047750" y="6933803"/>
            <a:ext cx="93133" cy="1664891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1521883" y="7238603"/>
            <a:ext cx="16871104" cy="491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705"/>
              </a:lnSpc>
              <a:buNone/>
            </a:pPr>
            <a:r>
              <a:rPr lang="en-US" sz="255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supports the decision with structured analysis — the human still makes the call and owns it.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-11853" y="7806267"/>
            <a:ext cx="16871104" cy="525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7143"/>
              </a:lnSpc>
              <a:buNone/>
            </a:pPr>
            <a:r>
              <a:rPr lang="en-US" sz="240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يدعم القرار بتحليل منظم — لكن الإنسان دايماً هو صاحب القرار والمسؤول عنه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1047750" y="9069917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1047750" y="9353550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4829631" y="9353550"/>
            <a:ext cx="265168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APPLIED AI</a:t>
            </a:r>
            <a:endParaRPr lang="en-US" sz="2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302086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5 OF 5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047750" y="1276350"/>
            <a:ext cx="10044721" cy="834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969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Presentations &amp; Marketing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13001955" y="1527837"/>
            <a:ext cx="4238294" cy="582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2895"/>
              </a:lnSpc>
              <a:buNone/>
            </a:pPr>
            <a:r>
              <a:rPr lang="en-US" sz="330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العروض التقديمية والتسويق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1047750" y="2644114"/>
            <a:ext cx="7953375" cy="3379258"/>
          </a:xfrm>
          <a:prstGeom prst="roundRect">
            <a:avLst>
              <a:gd name="adj" fmla="val 5637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1047750" y="2644114"/>
            <a:ext cx="7953375" cy="76200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466850" y="3139414"/>
            <a:ext cx="7826692" cy="624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7865"/>
              </a:lnSpc>
              <a:buNone/>
            </a:pPr>
            <a:r>
              <a:rPr lang="en-US" sz="42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755333" y="3878527"/>
            <a:ext cx="7826692" cy="518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0638"/>
              </a:lnSpc>
              <a:buNone/>
            </a:pPr>
            <a:r>
              <a:rPr lang="en-US" sz="27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العروض التقديمية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466850" y="4510881"/>
            <a:ext cx="7826692" cy="491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705"/>
              </a:lnSpc>
              <a:buNone/>
            </a:pPr>
            <a:r>
              <a:rPr lang="en-US" sz="25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 outline, ready to design, in minutes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755333" y="5116645"/>
            <a:ext cx="7826692" cy="525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7143"/>
              </a:lnSpc>
              <a:buNone/>
            </a:pPr>
            <a:r>
              <a:rPr lang="en-US" sz="24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مخطط كامل جاهز للتصميم في دقائق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286875" y="2644114"/>
            <a:ext cx="7953375" cy="3379258"/>
          </a:xfrm>
          <a:prstGeom prst="roundRect">
            <a:avLst>
              <a:gd name="adj" fmla="val 5637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9286875" y="2644114"/>
            <a:ext cx="7953375" cy="76200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9705975" y="3139414"/>
            <a:ext cx="7826692" cy="624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7865"/>
              </a:lnSpc>
              <a:buNone/>
            </a:pPr>
            <a:r>
              <a:rPr lang="en-US" sz="42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Content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8994458" y="3878527"/>
            <a:ext cx="7826692" cy="518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0638"/>
              </a:lnSpc>
              <a:buNone/>
            </a:pPr>
            <a:r>
              <a:rPr lang="en-US" sz="27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المحتوى التسويقي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705975" y="4510881"/>
            <a:ext cx="7826692" cy="491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705"/>
              </a:lnSpc>
              <a:buNone/>
            </a:pPr>
            <a:r>
              <a:rPr lang="en-US" sz="25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posts, captions and campaigns at scale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8994458" y="5116645"/>
            <a:ext cx="7826692" cy="525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7143"/>
              </a:lnSpc>
              <a:buNone/>
            </a:pPr>
            <a:r>
              <a:rPr lang="en-US" sz="24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منشورات وكابشنز وحملات على نطاق واسع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047750" y="6499622"/>
            <a:ext cx="16192500" cy="2167731"/>
          </a:xfrm>
          <a:custGeom>
            <a:avLst/>
            <a:gdLst/>
            <a:ahLst/>
            <a:cxnLst/>
            <a:rect l="l" t="t" r="r" b="b"/>
            <a:pathLst>
              <a:path w="16192500" h="2167731">
                <a:moveTo>
                  <a:pt x="0" y="0"/>
                </a:moveTo>
                <a:lnTo>
                  <a:pt x="16002000" y="0"/>
                </a:lnTo>
                <a:arcTo wR="190500" hR="190500" stAng="16200000" swAng="5400000"/>
                <a:lnTo>
                  <a:pt x="16192500" y="1977231"/>
                </a:lnTo>
                <a:arcTo wR="190500" hR="190500" stAng="0" swAng="5400000"/>
                <a:lnTo>
                  <a:pt x="0" y="2167731"/>
                </a:lnTo>
                <a:lnTo>
                  <a:pt x="0" y="0"/>
                </a:lnTo>
                <a:close/>
              </a:path>
            </a:pathLst>
          </a:custGeom>
          <a:solidFill>
            <a:srgbClr val="2A122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1047750" y="6499622"/>
            <a:ext cx="93133" cy="2167731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1521883" y="6823472"/>
            <a:ext cx="1687110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kern="0" spc="360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THIS PROMPT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521883" y="7242572"/>
            <a:ext cx="16871104" cy="518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38"/>
              </a:lnSpc>
              <a:buNone/>
            </a:pPr>
            <a:r>
              <a:rPr lang="en-US" sz="2700" dirty="0">
                <a:solidFill>
                  <a:srgbClr val="FFD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"Create a 6-slide outline pitching this idea to a skeptical CFO."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-11853" y="7855876"/>
            <a:ext cx="16871104" cy="525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7143"/>
              </a:lnSpc>
              <a:buNone/>
            </a:pPr>
            <a:r>
              <a:rPr lang="en-US" sz="2400" dirty="0">
                <a:solidFill>
                  <a:srgbClr val="D5A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"اعمل مخطط من ٦ سلايدز لعرض الفكرة دي على مدير مالي متشكك"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1047750" y="9069917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1047750" y="9353550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4829631" y="9353550"/>
            <a:ext cx="265168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APPLIED AI</a:t>
            </a:r>
            <a:endParaRPr lang="en-US" sz="2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40614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FOR CLUSTER 5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616311" y="762000"/>
            <a:ext cx="15985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أداة المجموعة ٥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0159168" cy="1527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972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in PowerPoint + Gemini in Slides</a:t>
            </a:r>
            <a:endParaRPr lang="en-US" sz="5100" dirty="0"/>
          </a:p>
        </p:txBody>
      </p:sp>
      <p:sp>
        <p:nvSpPr>
          <p:cNvPr id="6" name="Shape 4"/>
          <p:cNvSpPr/>
          <p:nvPr/>
        </p:nvSpPr>
        <p:spPr>
          <a:xfrm>
            <a:off x="11292020" y="1716352"/>
            <a:ext cx="5948231" cy="609600"/>
          </a:xfrm>
          <a:prstGeom prst="roundRect">
            <a:avLst>
              <a:gd name="adj" fmla="val 18750"/>
            </a:avLst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1539670" y="1887802"/>
            <a:ext cx="5631377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0A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copilot.microsoft.com · gemini.google.com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47750" y="3013604"/>
            <a:ext cx="15697200" cy="977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51"/>
              </a:lnSpc>
              <a:buNone/>
            </a:pPr>
            <a:r>
              <a:rPr lang="en-US" sz="25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full slide decks from a text prompt or an uploaded document. E-commerce example: product specs in Sheets → Gemini drafts descriptions → team reviews. Result: 5 hours → 15 minutes.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1047750" y="4428860"/>
            <a:ext cx="5232400" cy="2227659"/>
          </a:xfrm>
          <a:prstGeom prst="roundRect">
            <a:avLst>
              <a:gd name="adj" fmla="val 7696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047750" y="4428860"/>
            <a:ext cx="5232400" cy="76200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390650" y="4847960"/>
            <a:ext cx="5001260" cy="4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101"/>
              </a:lnSpc>
              <a:buNone/>
            </a:pPr>
            <a:r>
              <a:rPr lang="en-US" sz="315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PowerPoint Copilot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1390650" y="5460339"/>
            <a:ext cx="4682998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decks from prompts or documents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527800" y="4428860"/>
            <a:ext cx="5232400" cy="2227659"/>
          </a:xfrm>
          <a:prstGeom prst="roundRect">
            <a:avLst>
              <a:gd name="adj" fmla="val 7696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527800" y="4428860"/>
            <a:ext cx="5232400" cy="76200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870700" y="4847960"/>
            <a:ext cx="5001260" cy="4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101"/>
              </a:lnSpc>
              <a:buNone/>
            </a:pPr>
            <a:r>
              <a:rPr lang="en-US" sz="315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in Slides</a:t>
            </a:r>
            <a:endParaRPr lang="en-US" sz="3150" dirty="0"/>
          </a:p>
        </p:txBody>
      </p:sp>
      <p:sp>
        <p:nvSpPr>
          <p:cNvPr id="16" name="Text 14"/>
          <p:cNvSpPr/>
          <p:nvPr/>
        </p:nvSpPr>
        <p:spPr>
          <a:xfrm>
            <a:off x="6870700" y="5460339"/>
            <a:ext cx="4682998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Presentations from text or existing docs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2007850" y="4428860"/>
            <a:ext cx="5232400" cy="2227659"/>
          </a:xfrm>
          <a:prstGeom prst="roundRect">
            <a:avLst>
              <a:gd name="adj" fmla="val 7696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12007850" y="4428860"/>
            <a:ext cx="5232400" cy="76200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2350750" y="4847960"/>
            <a:ext cx="5001260" cy="498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101"/>
              </a:lnSpc>
              <a:buNone/>
            </a:pPr>
            <a:r>
              <a:rPr lang="en-US" sz="315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 AI</a:t>
            </a:r>
            <a:endParaRPr lang="en-US" sz="3150" dirty="0"/>
          </a:p>
        </p:txBody>
      </p:sp>
      <p:sp>
        <p:nvSpPr>
          <p:cNvPr id="20" name="Text 18"/>
          <p:cNvSpPr/>
          <p:nvPr/>
        </p:nvSpPr>
        <p:spPr>
          <a:xfrm>
            <a:off x="12350750" y="5460339"/>
            <a:ext cx="4682998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Design-ready templates for social &amp; marketing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047750" y="9069917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1047750" y="9353550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4829631" y="9353550"/>
            <a:ext cx="265168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APPLIED AI</a:t>
            </a:r>
            <a:endParaRPr lang="en-US" sz="2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72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562100" y="762000"/>
            <a:ext cx="29715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TOOLKIT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434946" y="762000"/>
            <a:ext cx="138885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مقارنة الأدوات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57250" y="1257300"/>
            <a:ext cx="9684994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192"/>
              </a:lnSpc>
              <a:buNone/>
            </a:pPr>
            <a:r>
              <a:rPr lang="en-US" sz="5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Tools Comparison Matrix</a:t>
            </a:r>
            <a:endParaRPr lang="en-US" sz="5250" dirty="0"/>
          </a:p>
        </p:txBody>
      </p:sp>
      <p:sp>
        <p:nvSpPr>
          <p:cNvPr id="6" name="Text 4"/>
          <p:cNvSpPr/>
          <p:nvPr/>
        </p:nvSpPr>
        <p:spPr>
          <a:xfrm>
            <a:off x="12158384" y="1520296"/>
            <a:ext cx="5272365" cy="508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3418"/>
              </a:lnSpc>
              <a:buNone/>
            </a:pPr>
            <a:r>
              <a:rPr lang="en-US" sz="285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مصفوفة مقارنة أدوات الذكاء الاصطناعي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857250" y="2371725"/>
            <a:ext cx="16573500" cy="723900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066800" y="2562225"/>
            <a:ext cx="230406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2250" b="1" dirty="0">
                <a:solidFill>
                  <a:srgbClr val="2E0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Criterion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3710649" y="2562225"/>
            <a:ext cx="174254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2250" b="1" dirty="0">
                <a:solidFill>
                  <a:srgbClr val="2E0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5796095" y="2562225"/>
            <a:ext cx="215079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2250" b="1" dirty="0">
                <a:solidFill>
                  <a:srgbClr val="2E0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8289793" y="2562225"/>
            <a:ext cx="18717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2250" b="1" dirty="0">
                <a:solidFill>
                  <a:srgbClr val="2E0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0504488" y="2562225"/>
            <a:ext cx="179189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2250" b="1" dirty="0">
                <a:solidFill>
                  <a:srgbClr val="2E0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2639279" y="2562225"/>
            <a:ext cx="260179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2250" b="1" dirty="0">
                <a:solidFill>
                  <a:srgbClr val="2E0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NotebookLM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5572184" y="2562225"/>
            <a:ext cx="172521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2250" b="1" dirty="0">
                <a:solidFill>
                  <a:srgbClr val="2E0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Perplexity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857250" y="3095625"/>
            <a:ext cx="16573500" cy="765175"/>
          </a:xfrm>
          <a:prstGeom prst="rect">
            <a:avLst/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857250" y="3835400"/>
            <a:ext cx="2643849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1066800" y="3286125"/>
            <a:ext cx="2304065" cy="396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3501099" y="3835400"/>
            <a:ext cx="2085446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710649" y="3286125"/>
            <a:ext cx="1742546" cy="396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tasks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5586545" y="3835400"/>
            <a:ext cx="2493698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796095" y="3286125"/>
            <a:ext cx="2150798" cy="396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docs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8080243" y="3835400"/>
            <a:ext cx="2214695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8289793" y="3286125"/>
            <a:ext cx="1871795" cy="396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M365 users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10294938" y="3835400"/>
            <a:ext cx="2134791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10504488" y="3286125"/>
            <a:ext cx="1791891" cy="396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12429729" y="3835400"/>
            <a:ext cx="2932906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12639279" y="3286125"/>
            <a:ext cx="2601793" cy="396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15362634" y="3835400"/>
            <a:ext cx="2068116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15572184" y="3286125"/>
            <a:ext cx="1725216" cy="396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857250" y="3860800"/>
            <a:ext cx="16573500" cy="777875"/>
          </a:xfrm>
          <a:prstGeom prst="rect">
            <a:avLst/>
          </a:prstGeom>
          <a:solidFill>
            <a:srgbClr val="0F1E3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857250" y="4613275"/>
            <a:ext cx="2643849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1066800" y="4051300"/>
            <a:ext cx="230406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Docs</a:t>
            </a:r>
            <a:endParaRPr lang="en-US" sz="2250" dirty="0"/>
          </a:p>
        </p:txBody>
      </p:sp>
      <p:sp>
        <p:nvSpPr>
          <p:cNvPr id="33" name="Shape 31"/>
          <p:cNvSpPr/>
          <p:nvPr/>
        </p:nvSpPr>
        <p:spPr>
          <a:xfrm>
            <a:off x="3501099" y="4613275"/>
            <a:ext cx="2085446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3710649" y="4051300"/>
            <a:ext cx="174254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2250" dirty="0"/>
          </a:p>
        </p:txBody>
      </p:sp>
      <p:sp>
        <p:nvSpPr>
          <p:cNvPr id="35" name="Shape 33"/>
          <p:cNvSpPr/>
          <p:nvPr/>
        </p:nvSpPr>
        <p:spPr>
          <a:xfrm>
            <a:off x="5586545" y="4613275"/>
            <a:ext cx="2493698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5796095" y="4051300"/>
            <a:ext cx="215079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4FE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</a:t>
            </a:r>
            <a:endParaRPr lang="en-US" sz="2250" dirty="0"/>
          </a:p>
        </p:txBody>
      </p:sp>
      <p:sp>
        <p:nvSpPr>
          <p:cNvPr id="37" name="Shape 35"/>
          <p:cNvSpPr/>
          <p:nvPr/>
        </p:nvSpPr>
        <p:spPr>
          <a:xfrm>
            <a:off x="8080243" y="4613275"/>
            <a:ext cx="2214695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8289793" y="4051300"/>
            <a:ext cx="18717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2250" dirty="0"/>
          </a:p>
        </p:txBody>
      </p:sp>
      <p:sp>
        <p:nvSpPr>
          <p:cNvPr id="39" name="Shape 37"/>
          <p:cNvSpPr/>
          <p:nvPr/>
        </p:nvSpPr>
        <p:spPr>
          <a:xfrm>
            <a:off x="10294938" y="4613275"/>
            <a:ext cx="2134791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10504488" y="4051300"/>
            <a:ext cx="179189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2250" dirty="0"/>
          </a:p>
        </p:txBody>
      </p:sp>
      <p:sp>
        <p:nvSpPr>
          <p:cNvPr id="41" name="Shape 39"/>
          <p:cNvSpPr/>
          <p:nvPr/>
        </p:nvSpPr>
        <p:spPr>
          <a:xfrm>
            <a:off x="12429729" y="4613275"/>
            <a:ext cx="2932906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12639279" y="4051300"/>
            <a:ext cx="260179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4FE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</a:t>
            </a:r>
            <a:endParaRPr lang="en-US" sz="2250" dirty="0"/>
          </a:p>
        </p:txBody>
      </p:sp>
      <p:sp>
        <p:nvSpPr>
          <p:cNvPr id="43" name="Shape 41"/>
          <p:cNvSpPr/>
          <p:nvPr/>
        </p:nvSpPr>
        <p:spPr>
          <a:xfrm>
            <a:off x="15362634" y="4613275"/>
            <a:ext cx="2068116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15572184" y="4051300"/>
            <a:ext cx="172521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dirty="0">
                <a:solidFill>
                  <a:srgbClr val="FF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</a:t>
            </a:r>
            <a:endParaRPr lang="en-US" sz="2250" dirty="0"/>
          </a:p>
        </p:txBody>
      </p:sp>
      <p:sp>
        <p:nvSpPr>
          <p:cNvPr id="45" name="Shape 43"/>
          <p:cNvSpPr/>
          <p:nvPr/>
        </p:nvSpPr>
        <p:spPr>
          <a:xfrm>
            <a:off x="857250" y="4638675"/>
            <a:ext cx="16573500" cy="777875"/>
          </a:xfrm>
          <a:prstGeom prst="rect">
            <a:avLst/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857250" y="5391150"/>
            <a:ext cx="2643849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1066800" y="4829175"/>
            <a:ext cx="230406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Analysis</a:t>
            </a:r>
            <a:endParaRPr lang="en-US" sz="2250" dirty="0"/>
          </a:p>
        </p:txBody>
      </p:sp>
      <p:sp>
        <p:nvSpPr>
          <p:cNvPr id="48" name="Shape 46"/>
          <p:cNvSpPr/>
          <p:nvPr/>
        </p:nvSpPr>
        <p:spPr>
          <a:xfrm>
            <a:off x="3501099" y="5391150"/>
            <a:ext cx="2085446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3710649" y="4829175"/>
            <a:ext cx="174254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2250" dirty="0"/>
          </a:p>
        </p:txBody>
      </p:sp>
      <p:sp>
        <p:nvSpPr>
          <p:cNvPr id="50" name="Shape 48"/>
          <p:cNvSpPr/>
          <p:nvPr/>
        </p:nvSpPr>
        <p:spPr>
          <a:xfrm>
            <a:off x="5586545" y="5391150"/>
            <a:ext cx="2493698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5796095" y="4829175"/>
            <a:ext cx="215079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2250" dirty="0"/>
          </a:p>
        </p:txBody>
      </p:sp>
      <p:sp>
        <p:nvSpPr>
          <p:cNvPr id="52" name="Shape 50"/>
          <p:cNvSpPr/>
          <p:nvPr/>
        </p:nvSpPr>
        <p:spPr>
          <a:xfrm>
            <a:off x="8080243" y="5391150"/>
            <a:ext cx="2214695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/>
          <p:nvPr/>
        </p:nvSpPr>
        <p:spPr>
          <a:xfrm>
            <a:off x="8289793" y="4829175"/>
            <a:ext cx="18717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4FE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</a:t>
            </a:r>
            <a:endParaRPr lang="en-US" sz="2250" dirty="0"/>
          </a:p>
        </p:txBody>
      </p:sp>
      <p:sp>
        <p:nvSpPr>
          <p:cNvPr id="54" name="Shape 52"/>
          <p:cNvSpPr/>
          <p:nvPr/>
        </p:nvSpPr>
        <p:spPr>
          <a:xfrm>
            <a:off x="10294938" y="5391150"/>
            <a:ext cx="2134791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/>
          <p:nvPr/>
        </p:nvSpPr>
        <p:spPr>
          <a:xfrm>
            <a:off x="10504488" y="4829175"/>
            <a:ext cx="179189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2250" dirty="0"/>
          </a:p>
        </p:txBody>
      </p:sp>
      <p:sp>
        <p:nvSpPr>
          <p:cNvPr id="56" name="Shape 54"/>
          <p:cNvSpPr/>
          <p:nvPr/>
        </p:nvSpPr>
        <p:spPr>
          <a:xfrm>
            <a:off x="12429729" y="5391150"/>
            <a:ext cx="2932906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" name="Text 55"/>
          <p:cNvSpPr/>
          <p:nvPr/>
        </p:nvSpPr>
        <p:spPr>
          <a:xfrm>
            <a:off x="12639279" y="4829175"/>
            <a:ext cx="260179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dirty="0">
                <a:solidFill>
                  <a:srgbClr val="FF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2250" dirty="0"/>
          </a:p>
        </p:txBody>
      </p:sp>
      <p:sp>
        <p:nvSpPr>
          <p:cNvPr id="58" name="Shape 56"/>
          <p:cNvSpPr/>
          <p:nvPr/>
        </p:nvSpPr>
        <p:spPr>
          <a:xfrm>
            <a:off x="15362634" y="5391150"/>
            <a:ext cx="2068116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/>
          <p:nvPr/>
        </p:nvSpPr>
        <p:spPr>
          <a:xfrm>
            <a:off x="15572184" y="4829175"/>
            <a:ext cx="172521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dirty="0">
                <a:solidFill>
                  <a:srgbClr val="FF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2250" dirty="0"/>
          </a:p>
        </p:txBody>
      </p:sp>
      <p:sp>
        <p:nvSpPr>
          <p:cNvPr id="60" name="Shape 58"/>
          <p:cNvSpPr/>
          <p:nvPr/>
        </p:nvSpPr>
        <p:spPr>
          <a:xfrm>
            <a:off x="857250" y="5416550"/>
            <a:ext cx="16573500" cy="777875"/>
          </a:xfrm>
          <a:prstGeom prst="rect">
            <a:avLst/>
          </a:prstGeom>
          <a:solidFill>
            <a:srgbClr val="0F1E3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1" name="Shape 59"/>
          <p:cNvSpPr/>
          <p:nvPr/>
        </p:nvSpPr>
        <p:spPr>
          <a:xfrm>
            <a:off x="857250" y="6169025"/>
            <a:ext cx="2643849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2" name="Text 60"/>
          <p:cNvSpPr/>
          <p:nvPr/>
        </p:nvSpPr>
        <p:spPr>
          <a:xfrm>
            <a:off x="1066800" y="5607050"/>
            <a:ext cx="230406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2250" dirty="0"/>
          </a:p>
        </p:txBody>
      </p:sp>
      <p:sp>
        <p:nvSpPr>
          <p:cNvPr id="63" name="Shape 61"/>
          <p:cNvSpPr/>
          <p:nvPr/>
        </p:nvSpPr>
        <p:spPr>
          <a:xfrm>
            <a:off x="3501099" y="6169025"/>
            <a:ext cx="2085446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4" name="Text 62"/>
          <p:cNvSpPr/>
          <p:nvPr/>
        </p:nvSpPr>
        <p:spPr>
          <a:xfrm>
            <a:off x="3710649" y="5607050"/>
            <a:ext cx="174254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2250" dirty="0"/>
          </a:p>
        </p:txBody>
      </p:sp>
      <p:sp>
        <p:nvSpPr>
          <p:cNvPr id="65" name="Shape 63"/>
          <p:cNvSpPr/>
          <p:nvPr/>
        </p:nvSpPr>
        <p:spPr>
          <a:xfrm>
            <a:off x="5586545" y="6169025"/>
            <a:ext cx="2493698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6" name="Text 64"/>
          <p:cNvSpPr/>
          <p:nvPr/>
        </p:nvSpPr>
        <p:spPr>
          <a:xfrm>
            <a:off x="5796095" y="5607050"/>
            <a:ext cx="215079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Good</a:t>
            </a:r>
            <a:endParaRPr lang="en-US" sz="2250" dirty="0"/>
          </a:p>
        </p:txBody>
      </p:sp>
      <p:sp>
        <p:nvSpPr>
          <p:cNvPr id="67" name="Shape 65"/>
          <p:cNvSpPr/>
          <p:nvPr/>
        </p:nvSpPr>
        <p:spPr>
          <a:xfrm>
            <a:off x="8080243" y="6169025"/>
            <a:ext cx="2214695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8" name="Text 66"/>
          <p:cNvSpPr/>
          <p:nvPr/>
        </p:nvSpPr>
        <p:spPr>
          <a:xfrm>
            <a:off x="8289793" y="5607050"/>
            <a:ext cx="18717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2250" dirty="0"/>
          </a:p>
        </p:txBody>
      </p:sp>
      <p:sp>
        <p:nvSpPr>
          <p:cNvPr id="69" name="Shape 67"/>
          <p:cNvSpPr/>
          <p:nvPr/>
        </p:nvSpPr>
        <p:spPr>
          <a:xfrm>
            <a:off x="10294938" y="6169025"/>
            <a:ext cx="2134791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0" name="Text 68"/>
          <p:cNvSpPr/>
          <p:nvPr/>
        </p:nvSpPr>
        <p:spPr>
          <a:xfrm>
            <a:off x="10504488" y="5607050"/>
            <a:ext cx="179189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2250" dirty="0"/>
          </a:p>
        </p:txBody>
      </p:sp>
      <p:sp>
        <p:nvSpPr>
          <p:cNvPr id="71" name="Shape 69"/>
          <p:cNvSpPr/>
          <p:nvPr/>
        </p:nvSpPr>
        <p:spPr>
          <a:xfrm>
            <a:off x="12429729" y="6169025"/>
            <a:ext cx="2932906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2" name="Text 70"/>
          <p:cNvSpPr/>
          <p:nvPr/>
        </p:nvSpPr>
        <p:spPr>
          <a:xfrm>
            <a:off x="12639279" y="5607050"/>
            <a:ext cx="260179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docs</a:t>
            </a:r>
            <a:endParaRPr lang="en-US" sz="2250" dirty="0"/>
          </a:p>
        </p:txBody>
      </p:sp>
      <p:sp>
        <p:nvSpPr>
          <p:cNvPr id="73" name="Shape 71"/>
          <p:cNvSpPr/>
          <p:nvPr/>
        </p:nvSpPr>
        <p:spPr>
          <a:xfrm>
            <a:off x="15362634" y="6169025"/>
            <a:ext cx="2068116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4" name="Text 72"/>
          <p:cNvSpPr/>
          <p:nvPr/>
        </p:nvSpPr>
        <p:spPr>
          <a:xfrm>
            <a:off x="15572184" y="5607050"/>
            <a:ext cx="172521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4FE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</a:t>
            </a:r>
            <a:endParaRPr lang="en-US" sz="2250" dirty="0"/>
          </a:p>
        </p:txBody>
      </p:sp>
      <p:sp>
        <p:nvSpPr>
          <p:cNvPr id="75" name="Shape 73"/>
          <p:cNvSpPr/>
          <p:nvPr/>
        </p:nvSpPr>
        <p:spPr>
          <a:xfrm>
            <a:off x="857250" y="6194425"/>
            <a:ext cx="16573500" cy="777875"/>
          </a:xfrm>
          <a:prstGeom prst="rect">
            <a:avLst/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6" name="Shape 74"/>
          <p:cNvSpPr/>
          <p:nvPr/>
        </p:nvSpPr>
        <p:spPr>
          <a:xfrm>
            <a:off x="857250" y="6946900"/>
            <a:ext cx="2643849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7" name="Text 75"/>
          <p:cNvSpPr/>
          <p:nvPr/>
        </p:nvSpPr>
        <p:spPr>
          <a:xfrm>
            <a:off x="1066800" y="6384925"/>
            <a:ext cx="230406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2250" dirty="0"/>
          </a:p>
        </p:txBody>
      </p:sp>
      <p:sp>
        <p:nvSpPr>
          <p:cNvPr id="78" name="Shape 76"/>
          <p:cNvSpPr/>
          <p:nvPr/>
        </p:nvSpPr>
        <p:spPr>
          <a:xfrm>
            <a:off x="3501099" y="6946900"/>
            <a:ext cx="2085446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9" name="Text 77"/>
          <p:cNvSpPr/>
          <p:nvPr/>
        </p:nvSpPr>
        <p:spPr>
          <a:xfrm>
            <a:off x="3710649" y="6384925"/>
            <a:ext cx="174254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API</a:t>
            </a:r>
            <a:endParaRPr lang="en-US" sz="2250" dirty="0"/>
          </a:p>
        </p:txBody>
      </p:sp>
      <p:sp>
        <p:nvSpPr>
          <p:cNvPr id="80" name="Shape 78"/>
          <p:cNvSpPr/>
          <p:nvPr/>
        </p:nvSpPr>
        <p:spPr>
          <a:xfrm>
            <a:off x="5586545" y="6946900"/>
            <a:ext cx="2493698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1" name="Text 79"/>
          <p:cNvSpPr/>
          <p:nvPr/>
        </p:nvSpPr>
        <p:spPr>
          <a:xfrm>
            <a:off x="5796095" y="6384925"/>
            <a:ext cx="215079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API+MCP</a:t>
            </a:r>
            <a:endParaRPr lang="en-US" sz="2250" dirty="0"/>
          </a:p>
        </p:txBody>
      </p:sp>
      <p:sp>
        <p:nvSpPr>
          <p:cNvPr id="82" name="Shape 80"/>
          <p:cNvSpPr/>
          <p:nvPr/>
        </p:nvSpPr>
        <p:spPr>
          <a:xfrm>
            <a:off x="8080243" y="6946900"/>
            <a:ext cx="2214695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3" name="Text 81"/>
          <p:cNvSpPr/>
          <p:nvPr/>
        </p:nvSpPr>
        <p:spPr>
          <a:xfrm>
            <a:off x="8289793" y="6384925"/>
            <a:ext cx="18717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M365</a:t>
            </a:r>
            <a:endParaRPr lang="en-US" sz="2250" dirty="0"/>
          </a:p>
        </p:txBody>
      </p:sp>
      <p:sp>
        <p:nvSpPr>
          <p:cNvPr id="84" name="Shape 82"/>
          <p:cNvSpPr/>
          <p:nvPr/>
        </p:nvSpPr>
        <p:spPr>
          <a:xfrm>
            <a:off x="10294938" y="6946900"/>
            <a:ext cx="2134791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5" name="Text 83"/>
          <p:cNvSpPr/>
          <p:nvPr/>
        </p:nvSpPr>
        <p:spPr>
          <a:xfrm>
            <a:off x="10504488" y="6384925"/>
            <a:ext cx="179189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API</a:t>
            </a:r>
            <a:endParaRPr lang="en-US" sz="2250" dirty="0"/>
          </a:p>
        </p:txBody>
      </p:sp>
      <p:sp>
        <p:nvSpPr>
          <p:cNvPr id="86" name="Shape 84"/>
          <p:cNvSpPr/>
          <p:nvPr/>
        </p:nvSpPr>
        <p:spPr>
          <a:xfrm>
            <a:off x="12429729" y="6946900"/>
            <a:ext cx="2932906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7" name="Text 85"/>
          <p:cNvSpPr/>
          <p:nvPr/>
        </p:nvSpPr>
        <p:spPr>
          <a:xfrm>
            <a:off x="12639279" y="6384925"/>
            <a:ext cx="260179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dirty="0">
                <a:solidFill>
                  <a:srgbClr val="FF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2250" dirty="0"/>
          </a:p>
        </p:txBody>
      </p:sp>
      <p:sp>
        <p:nvSpPr>
          <p:cNvPr id="88" name="Shape 86"/>
          <p:cNvSpPr/>
          <p:nvPr/>
        </p:nvSpPr>
        <p:spPr>
          <a:xfrm>
            <a:off x="15362634" y="6946900"/>
            <a:ext cx="2068116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9" name="Text 87"/>
          <p:cNvSpPr/>
          <p:nvPr/>
        </p:nvSpPr>
        <p:spPr>
          <a:xfrm>
            <a:off x="15572184" y="6384925"/>
            <a:ext cx="172521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dirty="0">
                <a:solidFill>
                  <a:srgbClr val="FF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2250" dirty="0"/>
          </a:p>
        </p:txBody>
      </p:sp>
      <p:sp>
        <p:nvSpPr>
          <p:cNvPr id="90" name="Shape 88"/>
          <p:cNvSpPr/>
          <p:nvPr/>
        </p:nvSpPr>
        <p:spPr>
          <a:xfrm>
            <a:off x="857250" y="6972300"/>
            <a:ext cx="16573500" cy="777875"/>
          </a:xfrm>
          <a:prstGeom prst="rect">
            <a:avLst/>
          </a:prstGeom>
          <a:solidFill>
            <a:srgbClr val="0F1E3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1" name="Shape 89"/>
          <p:cNvSpPr/>
          <p:nvPr/>
        </p:nvSpPr>
        <p:spPr>
          <a:xfrm>
            <a:off x="857250" y="7724775"/>
            <a:ext cx="2643849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2" name="Text 90"/>
          <p:cNvSpPr/>
          <p:nvPr/>
        </p:nvSpPr>
        <p:spPr>
          <a:xfrm>
            <a:off x="1066800" y="7162800"/>
            <a:ext cx="230406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</a:t>
            </a:r>
            <a:endParaRPr lang="en-US" sz="2250" dirty="0"/>
          </a:p>
        </p:txBody>
      </p:sp>
      <p:sp>
        <p:nvSpPr>
          <p:cNvPr id="93" name="Shape 91"/>
          <p:cNvSpPr/>
          <p:nvPr/>
        </p:nvSpPr>
        <p:spPr>
          <a:xfrm>
            <a:off x="3501099" y="7724775"/>
            <a:ext cx="2085446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4" name="Text 92"/>
          <p:cNvSpPr/>
          <p:nvPr/>
        </p:nvSpPr>
        <p:spPr>
          <a:xfrm>
            <a:off x="3710649" y="7162800"/>
            <a:ext cx="174254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dirty="0">
                <a:solidFill>
                  <a:srgbClr val="4FE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2250" dirty="0"/>
          </a:p>
        </p:txBody>
      </p:sp>
      <p:sp>
        <p:nvSpPr>
          <p:cNvPr id="95" name="Shape 93"/>
          <p:cNvSpPr/>
          <p:nvPr/>
        </p:nvSpPr>
        <p:spPr>
          <a:xfrm>
            <a:off x="5586545" y="7724775"/>
            <a:ext cx="2493698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6" name="Text 94"/>
          <p:cNvSpPr/>
          <p:nvPr/>
        </p:nvSpPr>
        <p:spPr>
          <a:xfrm>
            <a:off x="5796095" y="7162800"/>
            <a:ext cx="215079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dirty="0">
                <a:solidFill>
                  <a:srgbClr val="4FE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2250" dirty="0"/>
          </a:p>
        </p:txBody>
      </p:sp>
      <p:sp>
        <p:nvSpPr>
          <p:cNvPr id="97" name="Shape 95"/>
          <p:cNvSpPr/>
          <p:nvPr/>
        </p:nvSpPr>
        <p:spPr>
          <a:xfrm>
            <a:off x="8080243" y="7724775"/>
            <a:ext cx="2214695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8" name="Text 96"/>
          <p:cNvSpPr/>
          <p:nvPr/>
        </p:nvSpPr>
        <p:spPr>
          <a:xfrm>
            <a:off x="8289793" y="7162800"/>
            <a:ext cx="18717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dirty="0">
                <a:solidFill>
                  <a:srgbClr val="FF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2250" dirty="0"/>
          </a:p>
        </p:txBody>
      </p:sp>
      <p:sp>
        <p:nvSpPr>
          <p:cNvPr id="99" name="Shape 97"/>
          <p:cNvSpPr/>
          <p:nvPr/>
        </p:nvSpPr>
        <p:spPr>
          <a:xfrm>
            <a:off x="10294938" y="7724775"/>
            <a:ext cx="2134791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0" name="Text 98"/>
          <p:cNvSpPr/>
          <p:nvPr/>
        </p:nvSpPr>
        <p:spPr>
          <a:xfrm>
            <a:off x="10504488" y="7162800"/>
            <a:ext cx="179189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dirty="0">
                <a:solidFill>
                  <a:srgbClr val="4FE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2250" dirty="0"/>
          </a:p>
        </p:txBody>
      </p:sp>
      <p:sp>
        <p:nvSpPr>
          <p:cNvPr id="101" name="Shape 99"/>
          <p:cNvSpPr/>
          <p:nvPr/>
        </p:nvSpPr>
        <p:spPr>
          <a:xfrm>
            <a:off x="12429729" y="7724775"/>
            <a:ext cx="2932906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2" name="Text 100"/>
          <p:cNvSpPr/>
          <p:nvPr/>
        </p:nvSpPr>
        <p:spPr>
          <a:xfrm>
            <a:off x="12639279" y="7162800"/>
            <a:ext cx="260179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dirty="0">
                <a:solidFill>
                  <a:srgbClr val="4FE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2250" dirty="0"/>
          </a:p>
        </p:txBody>
      </p:sp>
      <p:sp>
        <p:nvSpPr>
          <p:cNvPr id="103" name="Shape 101"/>
          <p:cNvSpPr/>
          <p:nvPr/>
        </p:nvSpPr>
        <p:spPr>
          <a:xfrm>
            <a:off x="15362634" y="7724775"/>
            <a:ext cx="2068116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4" name="Text 102"/>
          <p:cNvSpPr/>
          <p:nvPr/>
        </p:nvSpPr>
        <p:spPr>
          <a:xfrm>
            <a:off x="15572184" y="7162800"/>
            <a:ext cx="172521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dirty="0">
                <a:solidFill>
                  <a:srgbClr val="4FE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2250" dirty="0"/>
          </a:p>
        </p:txBody>
      </p:sp>
      <p:sp>
        <p:nvSpPr>
          <p:cNvPr id="105" name="Shape 103"/>
          <p:cNvSpPr/>
          <p:nvPr/>
        </p:nvSpPr>
        <p:spPr>
          <a:xfrm>
            <a:off x="857250" y="7750175"/>
            <a:ext cx="16573500" cy="765175"/>
          </a:xfrm>
          <a:prstGeom prst="rect">
            <a:avLst/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6" name="Text 104"/>
          <p:cNvSpPr/>
          <p:nvPr/>
        </p:nvSpPr>
        <p:spPr>
          <a:xfrm>
            <a:off x="1066800" y="7940675"/>
            <a:ext cx="2304065" cy="422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Plan</a:t>
            </a:r>
            <a:endParaRPr lang="en-US" sz="2250" dirty="0"/>
          </a:p>
        </p:txBody>
      </p:sp>
      <p:sp>
        <p:nvSpPr>
          <p:cNvPr id="107" name="Text 105"/>
          <p:cNvSpPr/>
          <p:nvPr/>
        </p:nvSpPr>
        <p:spPr>
          <a:xfrm>
            <a:off x="3710649" y="7940675"/>
            <a:ext cx="1742546" cy="422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$20/mo</a:t>
            </a:r>
            <a:endParaRPr lang="en-US" sz="2250" dirty="0"/>
          </a:p>
        </p:txBody>
      </p:sp>
      <p:sp>
        <p:nvSpPr>
          <p:cNvPr id="108" name="Text 106"/>
          <p:cNvSpPr/>
          <p:nvPr/>
        </p:nvSpPr>
        <p:spPr>
          <a:xfrm>
            <a:off x="5796095" y="7940675"/>
            <a:ext cx="2150798" cy="422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$20/mo</a:t>
            </a:r>
            <a:endParaRPr lang="en-US" sz="2250" dirty="0"/>
          </a:p>
        </p:txBody>
      </p:sp>
      <p:sp>
        <p:nvSpPr>
          <p:cNvPr id="109" name="Text 107"/>
          <p:cNvSpPr/>
          <p:nvPr/>
        </p:nvSpPr>
        <p:spPr>
          <a:xfrm>
            <a:off x="8289793" y="7940675"/>
            <a:ext cx="1871795" cy="422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$30/user</a:t>
            </a:r>
            <a:endParaRPr lang="en-US" sz="2250" dirty="0"/>
          </a:p>
        </p:txBody>
      </p:sp>
      <p:sp>
        <p:nvSpPr>
          <p:cNvPr id="110" name="Text 108"/>
          <p:cNvSpPr/>
          <p:nvPr/>
        </p:nvSpPr>
        <p:spPr>
          <a:xfrm>
            <a:off x="10504488" y="7940675"/>
            <a:ext cx="1791891" cy="422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</a:t>
            </a:r>
            <a:endParaRPr lang="en-US" sz="2250" dirty="0"/>
          </a:p>
        </p:txBody>
      </p:sp>
      <p:sp>
        <p:nvSpPr>
          <p:cNvPr id="111" name="Text 109"/>
          <p:cNvSpPr/>
          <p:nvPr/>
        </p:nvSpPr>
        <p:spPr>
          <a:xfrm>
            <a:off x="12639279" y="7940675"/>
            <a:ext cx="2601793" cy="422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$20/mo</a:t>
            </a:r>
            <a:endParaRPr lang="en-US" sz="2250" dirty="0"/>
          </a:p>
        </p:txBody>
      </p:sp>
      <p:sp>
        <p:nvSpPr>
          <p:cNvPr id="112" name="Text 110"/>
          <p:cNvSpPr/>
          <p:nvPr/>
        </p:nvSpPr>
        <p:spPr>
          <a:xfrm>
            <a:off x="15572184" y="7940675"/>
            <a:ext cx="1725216" cy="422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$20/mo</a:t>
            </a:r>
            <a:endParaRPr lang="en-US" sz="2250" dirty="0"/>
          </a:p>
        </p:txBody>
      </p:sp>
      <p:sp>
        <p:nvSpPr>
          <p:cNvPr id="113" name="Shape 111"/>
          <p:cNvSpPr/>
          <p:nvPr/>
        </p:nvSpPr>
        <p:spPr>
          <a:xfrm>
            <a:off x="857250" y="9069917"/>
            <a:ext cx="16573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4" name="Text 112"/>
          <p:cNvSpPr/>
          <p:nvPr/>
        </p:nvSpPr>
        <p:spPr>
          <a:xfrm>
            <a:off x="857250" y="9353550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115" name="Text 113"/>
          <p:cNvSpPr/>
          <p:nvPr/>
        </p:nvSpPr>
        <p:spPr>
          <a:xfrm>
            <a:off x="15020131" y="9353550"/>
            <a:ext cx="265168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APPLIED AI</a:t>
            </a:r>
            <a:endParaRPr lang="en-US" sz="21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43944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DECISION GUIDE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918994" y="762000"/>
            <a:ext cx="191418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دليل الاختيار السريع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57300"/>
            <a:ext cx="10029878" cy="792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806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Tool for Which Task?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4600939" y="1491589"/>
            <a:ext cx="2639311" cy="558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1682"/>
              </a:lnSpc>
              <a:buNone/>
            </a:pPr>
            <a:r>
              <a:rPr lang="en-US" sz="315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 أداة لأي مهمة؟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1047750" y="2430727"/>
            <a:ext cx="16192500" cy="916252"/>
          </a:xfrm>
          <a:prstGeom prst="roundRect">
            <a:avLst>
              <a:gd name="adj" fmla="val 16633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390650" y="2678377"/>
            <a:ext cx="10456545" cy="4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11"/>
              </a:lnSpc>
              <a:buNone/>
            </a:pPr>
            <a:r>
              <a:rPr lang="en-US" sz="25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professional email quickly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0610850" y="2690680"/>
            <a:ext cx="6286500" cy="434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1429"/>
              </a:lnSpc>
              <a:buNone/>
            </a:pPr>
            <a:r>
              <a:rPr lang="en-US" sz="24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or Claude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047750" y="3518429"/>
            <a:ext cx="16192500" cy="916252"/>
          </a:xfrm>
          <a:prstGeom prst="roundRect">
            <a:avLst>
              <a:gd name="adj" fmla="val 16633"/>
            </a:avLst>
          </a:prstGeom>
          <a:solidFill>
            <a:srgbClr val="0F1E3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390650" y="3766079"/>
            <a:ext cx="10456545" cy="4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11"/>
              </a:lnSpc>
              <a:buNone/>
            </a:pPr>
            <a:r>
              <a:rPr lang="en-US" sz="25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a large Excel file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0610850" y="3778382"/>
            <a:ext cx="6286500" cy="434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1429"/>
              </a:lnSpc>
              <a:buNone/>
            </a:pPr>
            <a:r>
              <a:rPr lang="en-US" sz="24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(upload) or Copilot in Excel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047750" y="4606131"/>
            <a:ext cx="16192500" cy="916252"/>
          </a:xfrm>
          <a:prstGeom prst="roundRect">
            <a:avLst>
              <a:gd name="adj" fmla="val 16633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390650" y="4853781"/>
            <a:ext cx="10456545" cy="4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11"/>
              </a:lnSpc>
              <a:buNone/>
            </a:pPr>
            <a:r>
              <a:rPr lang="en-US" sz="25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 100-page contract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0610850" y="4866084"/>
            <a:ext cx="6286500" cy="434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1429"/>
              </a:lnSpc>
              <a:buNone/>
            </a:pPr>
            <a:r>
              <a:rPr lang="en-US" sz="24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(long context window)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047750" y="5693833"/>
            <a:ext cx="16192500" cy="916252"/>
          </a:xfrm>
          <a:prstGeom prst="roundRect">
            <a:avLst>
              <a:gd name="adj" fmla="val 16633"/>
            </a:avLst>
          </a:prstGeom>
          <a:solidFill>
            <a:srgbClr val="0F1E3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1390650" y="5941483"/>
            <a:ext cx="10456545" cy="4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11"/>
              </a:lnSpc>
              <a:buNone/>
            </a:pPr>
            <a:r>
              <a:rPr lang="en-US" sz="25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a board presentation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0610850" y="5953787"/>
            <a:ext cx="6286500" cy="434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1429"/>
              </a:lnSpc>
              <a:buNone/>
            </a:pPr>
            <a:r>
              <a:rPr lang="en-US" sz="24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+ Copilot in PowerPoint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047750" y="6781535"/>
            <a:ext cx="16192500" cy="916252"/>
          </a:xfrm>
          <a:prstGeom prst="roundRect">
            <a:avLst>
              <a:gd name="adj" fmla="val 16633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1390650" y="7029185"/>
            <a:ext cx="10456545" cy="4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11"/>
              </a:lnSpc>
              <a:buNone/>
            </a:pPr>
            <a:r>
              <a:rPr lang="en-US" sz="25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my competitors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0610850" y="7041489"/>
            <a:ext cx="6286500" cy="434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1429"/>
              </a:lnSpc>
              <a:buNone/>
            </a:pPr>
            <a:r>
              <a:rPr lang="en-US" sz="24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Perplexity (Deep Research mode)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1047750" y="7869238"/>
            <a:ext cx="16192500" cy="916252"/>
          </a:xfrm>
          <a:prstGeom prst="roundRect">
            <a:avLst>
              <a:gd name="adj" fmla="val 16633"/>
            </a:avLst>
          </a:prstGeom>
          <a:solidFill>
            <a:srgbClr val="0F1E3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1390650" y="8116888"/>
            <a:ext cx="10456545" cy="4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11"/>
              </a:lnSpc>
              <a:buNone/>
            </a:pPr>
            <a:r>
              <a:rPr lang="en-US" sz="25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company knowledge base from SOPs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10610850" y="8129190"/>
            <a:ext cx="6286500" cy="434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1429"/>
              </a:lnSpc>
              <a:buNone/>
            </a:pPr>
            <a:r>
              <a:rPr lang="en-US" sz="24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NotebookLM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1047750" y="8956940"/>
            <a:ext cx="16192500" cy="916252"/>
          </a:xfrm>
          <a:prstGeom prst="roundRect">
            <a:avLst>
              <a:gd name="adj" fmla="val 16633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1390650" y="9204590"/>
            <a:ext cx="10456545" cy="4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11"/>
              </a:lnSpc>
              <a:buNone/>
            </a:pPr>
            <a:r>
              <a:rPr lang="en-US" sz="25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product descriptions at scale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10610850" y="9216893"/>
            <a:ext cx="6286500" cy="434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1429"/>
              </a:lnSpc>
              <a:buNone/>
            </a:pPr>
            <a:r>
              <a:rPr lang="en-US" sz="24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or Gemini in Sheets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1047750" y="9873192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1047750" y="10156825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4829631" y="10156825"/>
            <a:ext cx="265168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APPLIED AI</a:t>
            </a:r>
            <a:endParaRPr lang="en-US" sz="21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E1220">
                  <a:alpha val="100000"/>
                </a:srgbClr>
              </a:gs>
              <a:gs pos="60000">
                <a:srgbClr val="0A1526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752600" y="762000"/>
            <a:ext cx="282863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LAB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495535" y="762000"/>
            <a:ext cx="114194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 عملي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47750" y="1276350"/>
            <a:ext cx="8805466" cy="834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969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&amp; Refine an Email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14564558" y="1527837"/>
            <a:ext cx="2675692" cy="582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2895"/>
              </a:lnSpc>
              <a:buNone/>
            </a:pPr>
            <a:r>
              <a:rPr lang="en-US" sz="330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وحسّن إيميل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1047750" y="2396464"/>
            <a:ext cx="3712898" cy="628650"/>
          </a:xfrm>
          <a:prstGeom prst="roundRect">
            <a:avLst>
              <a:gd name="adj" fmla="val 18182"/>
            </a:avLst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295400" y="2567914"/>
            <a:ext cx="332898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dirty="0">
                <a:solidFill>
                  <a:srgbClr val="2E0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TOOL: ChatGPT/Claude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4970198" y="2396464"/>
            <a:ext cx="2098807" cy="628650"/>
          </a:xfrm>
          <a:prstGeom prst="roundRect">
            <a:avLst>
              <a:gd name="adj" fmla="val 18182"/>
            </a:avLst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217848" y="2567914"/>
            <a:ext cx="167970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dirty="0">
                <a:solidFill>
                  <a:srgbClr val="2E0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 8 min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7278555" y="2396464"/>
            <a:ext cx="2829190" cy="628650"/>
          </a:xfrm>
          <a:prstGeom prst="roundRect">
            <a:avLst>
              <a:gd name="adj" fmla="val 18182"/>
            </a:avLst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7526205" y="2567914"/>
            <a:ext cx="241876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dirty="0">
                <a:solidFill>
                  <a:srgbClr val="2E0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LEVEL: Beginner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047750" y="3329914"/>
            <a:ext cx="16192500" cy="1653381"/>
          </a:xfrm>
          <a:prstGeom prst="roundRect">
            <a:avLst>
              <a:gd name="adj" fmla="val 10370"/>
            </a:avLst>
          </a:prstGeom>
          <a:solidFill>
            <a:srgbClr val="2A122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1390650" y="3615664"/>
            <a:ext cx="17057370" cy="518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38"/>
              </a:lnSpc>
              <a:buNone/>
            </a:pPr>
            <a:r>
              <a:rPr lang="en-US" sz="2700" b="1" dirty="0">
                <a:solidFill>
                  <a:srgbClr val="FFD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 Produce a polished, ready-to-send email in under 5 minutes.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-160020" y="4209918"/>
            <a:ext cx="17057370" cy="525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7143"/>
              </a:lnSpc>
              <a:buNone/>
            </a:pPr>
            <a:r>
              <a:rPr lang="en-US" sz="2400" dirty="0">
                <a:solidFill>
                  <a:srgbClr val="D5A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أنتج إيميلاً جاهزاً للإرسال في أقل من ٥ دقائق.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047750" y="5249995"/>
            <a:ext cx="7972425" cy="2449777"/>
          </a:xfrm>
          <a:prstGeom prst="roundRect">
            <a:avLst>
              <a:gd name="adj" fmla="val 6999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390650" y="5535745"/>
            <a:ext cx="801528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kern="0" spc="315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390650" y="5935795"/>
            <a:ext cx="7505224" cy="944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705"/>
              </a:lnSpc>
              <a:buNone/>
            </a:pPr>
            <a:r>
              <a:rPr lang="en-US" sz="25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client is upset about a delayed delivery and emailed you directly.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172051" y="6956822"/>
            <a:ext cx="750522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عميل غاضب من تأخير التسليم وبعتلك إيميل مباشرة.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267825" y="5249995"/>
            <a:ext cx="7972425" cy="2449777"/>
          </a:xfrm>
          <a:prstGeom prst="roundRect">
            <a:avLst>
              <a:gd name="adj" fmla="val 6999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9610725" y="5535745"/>
            <a:ext cx="801528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kern="0" spc="315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OUTPUT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9610725" y="5935795"/>
            <a:ext cx="7505224" cy="944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705"/>
              </a:lnSpc>
              <a:buNone/>
            </a:pPr>
            <a:r>
              <a:rPr lang="en-US" sz="25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client-ready email you would genuinely feel comfortable sending.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9392126" y="6956822"/>
            <a:ext cx="750522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إيميل جاهز تحس إنك مرتاح فعلاً لإرساله للعميل.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047750" y="7966472"/>
            <a:ext cx="28101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kern="0" spc="270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6415014" y="7966472"/>
            <a:ext cx="90143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kern="0" spc="270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التعليمات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1047750" y="8423672"/>
            <a:ext cx="3890962" cy="2203450"/>
          </a:xfrm>
          <a:prstGeom prst="roundRect">
            <a:avLst>
              <a:gd name="adj" fmla="val 6916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1047750" y="8423672"/>
            <a:ext cx="3890962" cy="50800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1314450" y="8722122"/>
            <a:ext cx="369331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375"/>
              </a:lnSpc>
              <a:buNone/>
            </a:pPr>
            <a:r>
              <a:rPr lang="en-US" sz="30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1314450" y="9213189"/>
            <a:ext cx="3239046" cy="759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the (sample) client email into your AI tool</a:t>
            </a:r>
            <a:endParaRPr lang="en-US" sz="2250" dirty="0"/>
          </a:p>
        </p:txBody>
      </p:sp>
      <p:sp>
        <p:nvSpPr>
          <p:cNvPr id="31" name="Shape 29"/>
          <p:cNvSpPr/>
          <p:nvPr/>
        </p:nvSpPr>
        <p:spPr>
          <a:xfrm>
            <a:off x="5148263" y="8423672"/>
            <a:ext cx="3890962" cy="2203450"/>
          </a:xfrm>
          <a:prstGeom prst="roundRect">
            <a:avLst>
              <a:gd name="adj" fmla="val 6916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5148263" y="8423672"/>
            <a:ext cx="3890962" cy="50800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5414963" y="8722122"/>
            <a:ext cx="369331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375"/>
              </a:lnSpc>
              <a:buNone/>
            </a:pPr>
            <a:r>
              <a:rPr lang="en-US" sz="30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5414963" y="9213189"/>
            <a:ext cx="2912021" cy="759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a professional, empathetic reply</a:t>
            </a:r>
            <a:endParaRPr lang="en-US" sz="2250" dirty="0"/>
          </a:p>
        </p:txBody>
      </p:sp>
      <p:sp>
        <p:nvSpPr>
          <p:cNvPr id="35" name="Shape 33"/>
          <p:cNvSpPr/>
          <p:nvPr/>
        </p:nvSpPr>
        <p:spPr>
          <a:xfrm>
            <a:off x="9248775" y="8423672"/>
            <a:ext cx="3890962" cy="2203450"/>
          </a:xfrm>
          <a:prstGeom prst="roundRect">
            <a:avLst>
              <a:gd name="adj" fmla="val 6916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9248775" y="8423672"/>
            <a:ext cx="3890962" cy="50800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9515475" y="8722122"/>
            <a:ext cx="369331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375"/>
              </a:lnSpc>
              <a:buNone/>
            </a:pPr>
            <a:r>
              <a:rPr lang="en-US" sz="30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9515475" y="9213189"/>
            <a:ext cx="3288373" cy="759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Specify tone: firm but warm, propose a solution</a:t>
            </a:r>
            <a:endParaRPr lang="en-US" sz="2250" dirty="0"/>
          </a:p>
        </p:txBody>
      </p:sp>
      <p:sp>
        <p:nvSpPr>
          <p:cNvPr id="39" name="Shape 37"/>
          <p:cNvSpPr/>
          <p:nvPr/>
        </p:nvSpPr>
        <p:spPr>
          <a:xfrm>
            <a:off x="13349288" y="8423672"/>
            <a:ext cx="3890962" cy="2203450"/>
          </a:xfrm>
          <a:prstGeom prst="roundRect">
            <a:avLst>
              <a:gd name="adj" fmla="val 6916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13349288" y="8423672"/>
            <a:ext cx="3890962" cy="50800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13615988" y="8722122"/>
            <a:ext cx="369331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375"/>
              </a:lnSpc>
              <a:buNone/>
            </a:pPr>
            <a:r>
              <a:rPr lang="en-US" sz="30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13615988" y="9213189"/>
            <a:ext cx="2928372" cy="1159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the draft with your own judgement before sending</a:t>
            </a:r>
            <a:endParaRPr lang="en-US" sz="2250" dirty="0"/>
          </a:p>
        </p:txBody>
      </p:sp>
      <p:sp>
        <p:nvSpPr>
          <p:cNvPr id="43" name="Shape 41"/>
          <p:cNvSpPr/>
          <p:nvPr/>
        </p:nvSpPr>
        <p:spPr>
          <a:xfrm>
            <a:off x="1047750" y="10627122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1047750" y="10910755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45" name="Text 43"/>
          <p:cNvSpPr/>
          <p:nvPr/>
        </p:nvSpPr>
        <p:spPr>
          <a:xfrm>
            <a:off x="14829631" y="10910755"/>
            <a:ext cx="265168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APPLIED AI</a:t>
            </a:r>
            <a:endParaRPr lang="en-US" sz="21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E1220">
                  <a:alpha val="100000"/>
                </a:srgbClr>
              </a:gs>
              <a:gs pos="60000">
                <a:srgbClr val="0A1526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752600" y="762000"/>
            <a:ext cx="282863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LAB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495535" y="762000"/>
            <a:ext cx="114194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 عملي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47750" y="1276350"/>
            <a:ext cx="11601066" cy="834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969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a Spreadsheet With AI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12051850" y="1552575"/>
            <a:ext cx="5188400" cy="558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1682"/>
              </a:lnSpc>
              <a:buNone/>
            </a:pPr>
            <a:r>
              <a:rPr lang="en-US" sz="315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حلّل جدول بيانات بالذكاء الاصطناعي</a:t>
            </a:r>
            <a:endParaRPr lang="en-US" sz="3150" dirty="0"/>
          </a:p>
        </p:txBody>
      </p:sp>
      <p:sp>
        <p:nvSpPr>
          <p:cNvPr id="8" name="Shape 6"/>
          <p:cNvSpPr/>
          <p:nvPr/>
        </p:nvSpPr>
        <p:spPr>
          <a:xfrm>
            <a:off x="1047750" y="2396464"/>
            <a:ext cx="3744119" cy="628650"/>
          </a:xfrm>
          <a:prstGeom prst="roundRect">
            <a:avLst>
              <a:gd name="adj" fmla="val 18182"/>
            </a:avLst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295400" y="2567914"/>
            <a:ext cx="336114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dirty="0">
                <a:solidFill>
                  <a:srgbClr val="2E0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TOOL: ChatGPT/Copilot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5001419" y="2396464"/>
            <a:ext cx="2257690" cy="628650"/>
          </a:xfrm>
          <a:prstGeom prst="roundRect">
            <a:avLst>
              <a:gd name="adj" fmla="val 18182"/>
            </a:avLst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249069" y="2567914"/>
            <a:ext cx="183859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dirty="0">
                <a:solidFill>
                  <a:srgbClr val="2E0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 12 min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7468659" y="2396464"/>
            <a:ext cx="3289961" cy="628650"/>
          </a:xfrm>
          <a:prstGeom prst="roundRect">
            <a:avLst>
              <a:gd name="adj" fmla="val 18182"/>
            </a:avLst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7716309" y="2567914"/>
            <a:ext cx="28933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dirty="0">
                <a:solidFill>
                  <a:srgbClr val="2E0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LEVEL: Intermediate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047750" y="3329914"/>
            <a:ext cx="16192500" cy="1653381"/>
          </a:xfrm>
          <a:prstGeom prst="roundRect">
            <a:avLst>
              <a:gd name="adj" fmla="val 10370"/>
            </a:avLst>
          </a:prstGeom>
          <a:solidFill>
            <a:srgbClr val="2A122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1390650" y="3615664"/>
            <a:ext cx="17057370" cy="518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38"/>
              </a:lnSpc>
              <a:buNone/>
            </a:pPr>
            <a:r>
              <a:rPr lang="en-US" sz="2700" b="1" dirty="0">
                <a:solidFill>
                  <a:srgbClr val="FFD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 Extract insights from raw data without writing a single formula.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-160020" y="4209918"/>
            <a:ext cx="17057370" cy="525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7143"/>
              </a:lnSpc>
              <a:buNone/>
            </a:pPr>
            <a:r>
              <a:rPr lang="en-US" sz="2400" dirty="0">
                <a:solidFill>
                  <a:srgbClr val="D5A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استخرج رؤى من بيانات خام من غير ما تكتب أي معادلة.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047750" y="5249995"/>
            <a:ext cx="7972425" cy="2449777"/>
          </a:xfrm>
          <a:prstGeom prst="roundRect">
            <a:avLst>
              <a:gd name="adj" fmla="val 6999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390650" y="5535745"/>
            <a:ext cx="801528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kern="0" spc="315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390650" y="5935795"/>
            <a:ext cx="7505224" cy="944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705"/>
              </a:lnSpc>
              <a:buNone/>
            </a:pPr>
            <a:r>
              <a:rPr lang="en-US" sz="25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 a messy spreadsheet of monthly numbers by department.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172051" y="6956822"/>
            <a:ext cx="750522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عندك جدول بيانات فيه أرقام شهرية لكل قسم بشكل غير منظم.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267825" y="5249995"/>
            <a:ext cx="7972425" cy="2449777"/>
          </a:xfrm>
          <a:prstGeom prst="roundRect">
            <a:avLst>
              <a:gd name="adj" fmla="val 6999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9610725" y="5535745"/>
            <a:ext cx="801528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kern="0" spc="315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OUTPUT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9610725" y="5935795"/>
            <a:ext cx="7505224" cy="944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705"/>
              </a:lnSpc>
              <a:buNone/>
            </a:pPr>
            <a:r>
              <a:rPr lang="en-US" sz="25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one-paragraph insight summary plus 3 concrete recommendations.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9392126" y="6956822"/>
            <a:ext cx="750522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ملخص رؤى من فقرة واحدة مع ٣ توصيات ملموسة.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047750" y="7966472"/>
            <a:ext cx="28101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kern="0" spc="270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6415014" y="7966472"/>
            <a:ext cx="90143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kern="0" spc="270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التعليمات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1047750" y="8423672"/>
            <a:ext cx="3890962" cy="2203450"/>
          </a:xfrm>
          <a:prstGeom prst="roundRect">
            <a:avLst>
              <a:gd name="adj" fmla="val 6916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1047750" y="8423672"/>
            <a:ext cx="3890962" cy="50800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1314450" y="8722122"/>
            <a:ext cx="369331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375"/>
              </a:lnSpc>
              <a:buNone/>
            </a:pPr>
            <a:r>
              <a:rPr lang="en-US" sz="30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1314450" y="9213189"/>
            <a:ext cx="2945133" cy="1159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the (sample) spreadsheet to your AI tool</a:t>
            </a:r>
            <a:endParaRPr lang="en-US" sz="2250" dirty="0"/>
          </a:p>
        </p:txBody>
      </p:sp>
      <p:sp>
        <p:nvSpPr>
          <p:cNvPr id="31" name="Shape 29"/>
          <p:cNvSpPr/>
          <p:nvPr/>
        </p:nvSpPr>
        <p:spPr>
          <a:xfrm>
            <a:off x="5148263" y="8423672"/>
            <a:ext cx="3890962" cy="2203450"/>
          </a:xfrm>
          <a:prstGeom prst="roundRect">
            <a:avLst>
              <a:gd name="adj" fmla="val 6916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5148263" y="8423672"/>
            <a:ext cx="3890962" cy="50800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5414963" y="8722122"/>
            <a:ext cx="369331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375"/>
              </a:lnSpc>
              <a:buNone/>
            </a:pPr>
            <a:r>
              <a:rPr lang="en-US" sz="30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5414963" y="9213189"/>
            <a:ext cx="3228554" cy="759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"summarize the key trends by department"</a:t>
            </a:r>
            <a:endParaRPr lang="en-US" sz="2250" dirty="0"/>
          </a:p>
        </p:txBody>
      </p:sp>
      <p:sp>
        <p:nvSpPr>
          <p:cNvPr id="35" name="Shape 33"/>
          <p:cNvSpPr/>
          <p:nvPr/>
        </p:nvSpPr>
        <p:spPr>
          <a:xfrm>
            <a:off x="9248775" y="8423672"/>
            <a:ext cx="3890962" cy="2203450"/>
          </a:xfrm>
          <a:prstGeom prst="roundRect">
            <a:avLst>
              <a:gd name="adj" fmla="val 6916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9248775" y="8423672"/>
            <a:ext cx="3890962" cy="50800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9515475" y="8722122"/>
            <a:ext cx="369331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375"/>
              </a:lnSpc>
              <a:buNone/>
            </a:pPr>
            <a:r>
              <a:rPr lang="en-US" sz="30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9515475" y="9213189"/>
            <a:ext cx="3223104" cy="1159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3 recommendations based on the data</a:t>
            </a:r>
            <a:endParaRPr lang="en-US" sz="2250" dirty="0"/>
          </a:p>
        </p:txBody>
      </p:sp>
      <p:sp>
        <p:nvSpPr>
          <p:cNvPr id="39" name="Shape 37"/>
          <p:cNvSpPr/>
          <p:nvPr/>
        </p:nvSpPr>
        <p:spPr>
          <a:xfrm>
            <a:off x="13349288" y="8423672"/>
            <a:ext cx="3890962" cy="2203450"/>
          </a:xfrm>
          <a:prstGeom prst="roundRect">
            <a:avLst>
              <a:gd name="adj" fmla="val 6916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13349288" y="8423672"/>
            <a:ext cx="3890962" cy="50800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13615988" y="8722122"/>
            <a:ext cx="369331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375"/>
              </a:lnSpc>
              <a:buNone/>
            </a:pPr>
            <a:r>
              <a:rPr lang="en-US" sz="30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13615988" y="9213189"/>
            <a:ext cx="3337563" cy="759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Sanity-check one number manually</a:t>
            </a:r>
            <a:endParaRPr lang="en-US" sz="2250" dirty="0"/>
          </a:p>
        </p:txBody>
      </p:sp>
      <p:sp>
        <p:nvSpPr>
          <p:cNvPr id="43" name="Shape 41"/>
          <p:cNvSpPr/>
          <p:nvPr/>
        </p:nvSpPr>
        <p:spPr>
          <a:xfrm>
            <a:off x="1047750" y="10627122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1047750" y="10910755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45" name="Text 43"/>
          <p:cNvSpPr/>
          <p:nvPr/>
        </p:nvSpPr>
        <p:spPr>
          <a:xfrm>
            <a:off x="14829631" y="10910755"/>
            <a:ext cx="265168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APPLIED AI</a:t>
            </a:r>
            <a:endParaRPr lang="en-US" sz="21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3A1C2C">
                  <a:alpha val="100000"/>
                </a:srgbClr>
              </a:gs>
              <a:gs pos="60000">
                <a:srgbClr val="0A1526">
                  <a:alpha val="100000"/>
                </a:srgbClr>
              </a:gs>
            </a:gsLst>
            <a:path path="circle">
              <a:fillToRect l="80000" t="20000" r="20000" b="8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752600" y="762000"/>
            <a:ext cx="368153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CHALLENGE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270897" y="762000"/>
            <a:ext cx="123666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تحدي جماعي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47750" y="1276350"/>
            <a:ext cx="5601097" cy="960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526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Battle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14292435" y="1628775"/>
            <a:ext cx="2947816" cy="607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2125"/>
              </a:lnSpc>
              <a:buNone/>
            </a:pPr>
            <a:r>
              <a:rPr lang="en-US" sz="345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تحدي AI Battle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1047750" y="2541191"/>
            <a:ext cx="14716125" cy="1087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505"/>
              </a:lnSpc>
              <a:buNone/>
            </a:pPr>
            <a:r>
              <a:rPr lang="en-US" sz="28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into two teams. Team A solves a task manually. Team B solves the SAME task with AI. Both are timed.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1047750" y="4067043"/>
            <a:ext cx="5232400" cy="3390635"/>
          </a:xfrm>
          <a:prstGeom prst="roundRect">
            <a:avLst>
              <a:gd name="adj" fmla="val 5618"/>
            </a:avLst>
          </a:prstGeom>
          <a:solidFill>
            <a:srgbClr val="2A122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371600" y="4448043"/>
            <a:ext cx="504317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3679"/>
              </a:lnSpc>
              <a:buNone/>
            </a:pPr>
            <a:r>
              <a:rPr lang="en-US" sz="75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0" dirty="0"/>
          </a:p>
        </p:txBody>
      </p:sp>
      <p:sp>
        <p:nvSpPr>
          <p:cNvPr id="11" name="Text 9"/>
          <p:cNvSpPr/>
          <p:nvPr/>
        </p:nvSpPr>
        <p:spPr>
          <a:xfrm>
            <a:off x="1371600" y="5476743"/>
            <a:ext cx="4722241" cy="978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418"/>
              </a:lnSpc>
              <a:buNone/>
            </a:pPr>
            <a:r>
              <a:rPr lang="en-US" sz="2850" b="1" dirty="0">
                <a:solidFill>
                  <a:srgbClr val="FFD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a client email response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913130" y="6589051"/>
            <a:ext cx="5043170" cy="525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7143"/>
              </a:lnSpc>
              <a:buNone/>
            </a:pPr>
            <a:r>
              <a:rPr lang="en-US" sz="2400" dirty="0">
                <a:solidFill>
                  <a:srgbClr val="D5A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صياغة رد إيميل لعميل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527800" y="4067043"/>
            <a:ext cx="5232400" cy="3390635"/>
          </a:xfrm>
          <a:prstGeom prst="roundRect">
            <a:avLst>
              <a:gd name="adj" fmla="val 5618"/>
            </a:avLst>
          </a:prstGeom>
          <a:solidFill>
            <a:srgbClr val="2A122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851650" y="4448043"/>
            <a:ext cx="504317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3679"/>
              </a:lnSpc>
              <a:buNone/>
            </a:pPr>
            <a:r>
              <a:rPr lang="en-US" sz="75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0" dirty="0"/>
          </a:p>
        </p:txBody>
      </p:sp>
      <p:sp>
        <p:nvSpPr>
          <p:cNvPr id="15" name="Text 13"/>
          <p:cNvSpPr/>
          <p:nvPr/>
        </p:nvSpPr>
        <p:spPr>
          <a:xfrm>
            <a:off x="6851650" y="5476743"/>
            <a:ext cx="4722241" cy="978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418"/>
              </a:lnSpc>
              <a:buNone/>
            </a:pPr>
            <a:r>
              <a:rPr lang="en-US" sz="2850" b="1" dirty="0">
                <a:solidFill>
                  <a:srgbClr val="FFD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a 3-page document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6393180" y="6589051"/>
            <a:ext cx="5043170" cy="525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7143"/>
              </a:lnSpc>
              <a:buNone/>
            </a:pPr>
            <a:r>
              <a:rPr lang="en-US" sz="2400" dirty="0">
                <a:solidFill>
                  <a:srgbClr val="D5A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تلخيص مستند من ٣ صفحات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2007850" y="4067043"/>
            <a:ext cx="5232400" cy="3390635"/>
          </a:xfrm>
          <a:prstGeom prst="roundRect">
            <a:avLst>
              <a:gd name="adj" fmla="val 5618"/>
            </a:avLst>
          </a:prstGeom>
          <a:solidFill>
            <a:srgbClr val="2A122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2331700" y="4448043"/>
            <a:ext cx="504317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3679"/>
              </a:lnSpc>
              <a:buNone/>
            </a:pPr>
            <a:r>
              <a:rPr lang="en-US" sz="7500" b="1" dirty="0">
                <a:solidFill>
                  <a:srgbClr val="FF6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0" dirty="0"/>
          </a:p>
        </p:txBody>
      </p:sp>
      <p:sp>
        <p:nvSpPr>
          <p:cNvPr id="19" name="Text 17"/>
          <p:cNvSpPr/>
          <p:nvPr/>
        </p:nvSpPr>
        <p:spPr>
          <a:xfrm>
            <a:off x="12331700" y="5476743"/>
            <a:ext cx="4722241" cy="978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418"/>
              </a:lnSpc>
              <a:buNone/>
            </a:pPr>
            <a:r>
              <a:rPr lang="en-US" sz="2850" b="1" dirty="0">
                <a:solidFill>
                  <a:srgbClr val="FFD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5-point meeting agenda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11873230" y="6589051"/>
            <a:ext cx="5043170" cy="525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7143"/>
              </a:lnSpc>
              <a:buNone/>
            </a:pPr>
            <a:r>
              <a:rPr lang="en-US" sz="2400" dirty="0">
                <a:solidFill>
                  <a:srgbClr val="D5A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بناء أجندة اجتماع من ٥ نقاط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047750" y="7876778"/>
            <a:ext cx="16192500" cy="962025"/>
          </a:xfrm>
          <a:prstGeom prst="roundRect">
            <a:avLst>
              <a:gd name="adj" fmla="val 17822"/>
            </a:avLst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1428750" y="8143478"/>
            <a:ext cx="1042424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11"/>
              </a:lnSpc>
              <a:buNone/>
            </a:pPr>
            <a:r>
              <a:rPr lang="en-US" sz="2550" b="1" dirty="0">
                <a:solidFill>
                  <a:srgbClr val="2E0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isn't just 'fastest' — quality is judged by the room too.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10911813" y="8143478"/>
            <a:ext cx="594743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4A0E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الفوز مش بالسرعة بس — الجودة بتتحكم عليها القاعة كمان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1047750" y="9069917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1047750" y="9353550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4829631" y="9353550"/>
            <a:ext cx="265168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APPLIED AI</a:t>
            </a:r>
            <a:endParaRPr lang="en-US" sz="21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60841" cy="10287000"/>
          </a:xfrm>
          <a:prstGeom prst="rect">
            <a:avLst/>
          </a:prstGeom>
          <a:gradFill rotWithShape="1">
            <a:gsLst>
              <a:gs pos="0">
                <a:srgbClr val="E0805C">
                  <a:alpha val="100000"/>
                </a:srgbClr>
              </a:gs>
              <a:gs pos="100000">
                <a:srgbClr val="A9502F">
                  <a:alpha val="100000"/>
                </a:srgbClr>
              </a:gs>
            </a:gsLst>
            <a:lin ang="420000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71500" y="762000"/>
            <a:ext cx="2974843" cy="869950"/>
          </a:xfrm>
          <a:prstGeom prst="roundRect">
            <a:avLst>
              <a:gd name="adj" fmla="val 19708"/>
            </a:avLst>
          </a:prstGeom>
          <a:ln w="25400">
            <a:solidFill>
              <a:srgbClr val="5A2A16">
                <a:alpha val="60000"/>
              </a:srgbClr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825500" y="939800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87400" y="93980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9255"/>
              </a:lnSpc>
              <a:buNone/>
            </a:pPr>
            <a:r>
              <a:rPr lang="en-US" sz="225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511300" y="1048411"/>
            <a:ext cx="1959147" cy="335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364"/>
              </a:lnSpc>
              <a:buNone/>
            </a:pPr>
            <a:r>
              <a:rPr lang="en-US" sz="1950" b="1" kern="0" spc="234" dirty="0">
                <a:solidFill>
                  <a:srgbClr val="431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LOGO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571500" y="4302125"/>
            <a:ext cx="6839625" cy="2305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0169"/>
              </a:lnSpc>
              <a:buNone/>
            </a:pPr>
            <a:r>
              <a:rPr lang="en-US" sz="21000" b="1" dirty="0">
                <a:solidFill>
                  <a:srgbClr val="0A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1000" dirty="0"/>
          </a:p>
        </p:txBody>
      </p:sp>
      <p:sp>
        <p:nvSpPr>
          <p:cNvPr id="8" name="Text 6"/>
          <p:cNvSpPr/>
          <p:nvPr/>
        </p:nvSpPr>
        <p:spPr>
          <a:xfrm>
            <a:off x="571500" y="9239250"/>
            <a:ext cx="683962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kern="0" spc="450" dirty="0">
                <a:solidFill>
                  <a:srgbClr val="431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6 / 7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8313341" y="2467107"/>
            <a:ext cx="99243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2400" b="1" kern="0" spc="576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313341" y="3057657"/>
            <a:ext cx="9924375" cy="960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526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Claude</a:t>
            </a:r>
            <a:endParaRPr lang="en-US" sz="6600" dirty="0"/>
          </a:p>
        </p:txBody>
      </p:sp>
      <p:sp>
        <p:nvSpPr>
          <p:cNvPr id="11" name="Text 9"/>
          <p:cNvSpPr/>
          <p:nvPr/>
        </p:nvSpPr>
        <p:spPr>
          <a:xfrm>
            <a:off x="7411125" y="4265348"/>
            <a:ext cx="9924375" cy="731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2239"/>
              </a:lnSpc>
              <a:buNone/>
            </a:pPr>
            <a:r>
              <a:rPr lang="en-US" sz="3900" b="1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إتقان الذكاء الاصطناعي Claude</a:t>
            </a:r>
            <a:endParaRPr lang="en-US" sz="3900" dirty="0"/>
          </a:p>
        </p:txBody>
      </p:sp>
      <p:sp>
        <p:nvSpPr>
          <p:cNvPr id="12" name="Shape 10"/>
          <p:cNvSpPr/>
          <p:nvPr/>
        </p:nvSpPr>
        <p:spPr>
          <a:xfrm>
            <a:off x="8313341" y="5244439"/>
            <a:ext cx="2095500" cy="57150"/>
          </a:xfrm>
          <a:prstGeom prst="roundRect">
            <a:avLst>
              <a:gd name="adj" fmla="val 50000"/>
            </a:avLst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8313341" y="5587339"/>
            <a:ext cx="8829675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398"/>
              </a:lnSpc>
              <a:buNone/>
            </a:pPr>
            <a:r>
              <a:rPr lang="en-US" sz="25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· Projects · Cowork · Skills · Artifacts · Connectors · MCP · Plugins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8056166" y="6844639"/>
            <a:ext cx="8829675" cy="10133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7143"/>
              </a:lnSpc>
              <a:buNone/>
            </a:pPr>
            <a:r>
              <a:rPr lang="en-US" sz="24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الموديلز · المشاريع · Cowork · المهارات · المخرجات · الموصلات · MCP · الإضافات</a:t>
            </a:r>
            <a:endParaRPr lang="en-US" sz="24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475300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CLAUDE ECOSYSTEM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244961" y="762000"/>
            <a:ext cx="179063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منظومة Claude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2945421" cy="1546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806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Every Layer Extends What Claude Can Do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3507396" y="1844146"/>
            <a:ext cx="3732854" cy="978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3418"/>
              </a:lnSpc>
              <a:buNone/>
            </a:pPr>
            <a:r>
              <a:rPr lang="en-US" sz="285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تُوسّع كل طبقة قدرات Claude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666750" y="3261254"/>
            <a:ext cx="16954500" cy="1173427"/>
          </a:xfrm>
          <a:prstGeom prst="roundRect">
            <a:avLst>
              <a:gd name="adj" fmla="val 14611"/>
            </a:avLst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047750" y="3585104"/>
            <a:ext cx="5337268" cy="563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068"/>
              </a:lnSpc>
              <a:buNone/>
            </a:pPr>
            <a:r>
              <a:rPr lang="en-US" sz="3450" b="1" dirty="0">
                <a:solidFill>
                  <a:srgbClr val="2A0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(Core Model)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15348083" y="3625056"/>
            <a:ext cx="2081385" cy="483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21"/>
              </a:lnSpc>
              <a:buNone/>
            </a:pPr>
            <a:r>
              <a:rPr lang="en-US" sz="2700" b="1" dirty="0">
                <a:solidFill>
                  <a:srgbClr val="431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النموذج الأساسي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289050" y="4625181"/>
            <a:ext cx="15709900" cy="1140354"/>
          </a:xfrm>
          <a:prstGeom prst="roundRect">
            <a:avLst>
              <a:gd name="adj" fmla="val 15035"/>
            </a:avLst>
          </a:prstGeom>
          <a:solidFill>
            <a:srgbClr val="2E1A14"/>
          </a:solidFill>
          <a:ln w="25400">
            <a:solidFill>
              <a:srgbClr val="E080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695450" y="4955381"/>
            <a:ext cx="7907311" cy="518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091"/>
              </a:lnSpc>
              <a:buNone/>
            </a:pPr>
            <a:r>
              <a:rPr lang="en-US" sz="3150" b="1" dirty="0">
                <a:solidFill>
                  <a:srgbClr val="F7D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Capabilities — Skills · Artifacts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11340174" y="4968611"/>
            <a:ext cx="5777614" cy="491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705"/>
              </a:lnSpc>
              <a:buNone/>
            </a:pPr>
            <a:r>
              <a:rPr lang="en-US" sz="2550" dirty="0">
                <a:solidFill>
                  <a:srgbClr val="C9A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القدرات المدمجة — المهارات، المخرجات التفاعلية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936750" y="5956035"/>
            <a:ext cx="14414500" cy="1140354"/>
          </a:xfrm>
          <a:prstGeom prst="roundRect">
            <a:avLst>
              <a:gd name="adj" fmla="val 15035"/>
            </a:avLst>
          </a:prstGeom>
          <a:solidFill>
            <a:srgbClr val="122340"/>
          </a:solidFill>
          <a:ln w="25400">
            <a:solidFill>
              <a:srgbClr val="3E56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2343150" y="6286235"/>
            <a:ext cx="11492217" cy="518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091"/>
              </a:lnSpc>
              <a:buNone/>
            </a:pPr>
            <a:r>
              <a:rPr lang="en-US" sz="3150" b="1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Capabilities — Projects · Connectors · MCP</a:t>
            </a:r>
            <a:endParaRPr lang="en-US" sz="3150" dirty="0"/>
          </a:p>
        </p:txBody>
      </p:sp>
      <p:sp>
        <p:nvSpPr>
          <p:cNvPr id="15" name="Text 13"/>
          <p:cNvSpPr/>
          <p:nvPr/>
        </p:nvSpPr>
        <p:spPr>
          <a:xfrm>
            <a:off x="14266730" y="6299465"/>
            <a:ext cx="1845932" cy="491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705"/>
              </a:lnSpc>
              <a:buNone/>
            </a:pPr>
            <a:r>
              <a:rPr lang="en-US" sz="25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القدرات المتصلة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2584450" y="7286890"/>
            <a:ext cx="13119100" cy="1140354"/>
          </a:xfrm>
          <a:prstGeom prst="roundRect">
            <a:avLst>
              <a:gd name="adj" fmla="val 15035"/>
            </a:avLst>
          </a:prstGeom>
          <a:solidFill>
            <a:srgbClr val="0F1E37"/>
          </a:solidFill>
          <a:ln w="25400">
            <a:solidFill>
              <a:srgbClr val="3E5680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2990850" y="7617090"/>
            <a:ext cx="6872076" cy="518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091"/>
              </a:lnSpc>
              <a:buNone/>
            </a:pPr>
            <a:r>
              <a:rPr lang="en-US" sz="315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Systems — data &amp; tools</a:t>
            </a:r>
            <a:endParaRPr lang="en-US" sz="3150" dirty="0"/>
          </a:p>
        </p:txBody>
      </p:sp>
      <p:sp>
        <p:nvSpPr>
          <p:cNvPr id="18" name="Text 16"/>
          <p:cNvSpPr/>
          <p:nvPr/>
        </p:nvSpPr>
        <p:spPr>
          <a:xfrm>
            <a:off x="11572213" y="7630319"/>
            <a:ext cx="4097430" cy="491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705"/>
              </a:lnSpc>
              <a:buNone/>
            </a:pPr>
            <a:r>
              <a:rPr lang="en-US" sz="25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الأنظمة الخارجية — بيانات وأدوات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1047750" y="8808244"/>
            <a:ext cx="16192500" cy="1390650"/>
          </a:xfrm>
          <a:custGeom>
            <a:avLst/>
            <a:gdLst/>
            <a:ahLst/>
            <a:cxnLst/>
            <a:rect l="l" t="t" r="r" b="b"/>
            <a:pathLst>
              <a:path w="16192500" h="1390650">
                <a:moveTo>
                  <a:pt x="0" y="0"/>
                </a:moveTo>
                <a:lnTo>
                  <a:pt x="16021050" y="0"/>
                </a:lnTo>
                <a:arcTo wR="171450" hR="171450" stAng="16200000" swAng="5400000"/>
                <a:lnTo>
                  <a:pt x="16192500" y="1219200"/>
                </a:lnTo>
                <a:arcTo wR="171450" hR="171450" stAng="0" swAng="5400000"/>
                <a:lnTo>
                  <a:pt x="0" y="1390650"/>
                </a:lnTo>
                <a:lnTo>
                  <a:pt x="0" y="0"/>
                </a:lnTo>
                <a:close/>
              </a:path>
            </a:pathLst>
          </a:cu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1047750" y="8808244"/>
            <a:ext cx="93133" cy="1390650"/>
          </a:xfrm>
          <a:prstGeom prst="rect">
            <a:avLst/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1483783" y="9074944"/>
            <a:ext cx="935959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 extend Claude Code specifically — bundles of commands, agents, Skills &amp; MCP servers.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773398" y="9074944"/>
            <a:ext cx="612395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الإضافات (Plugins) خاصة بـ Claude Code — حزم أوامر ووكلاء ومهارات وخوادم MCP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1047750" y="10198894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1047750" y="10482528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3360930" y="10482528"/>
            <a:ext cx="42672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MASTERING CLAUDE</a:t>
            </a:r>
            <a:endParaRPr lang="en-US" sz="21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32270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TOUR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857750" y="762000"/>
            <a:ext cx="163419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جولة في الواجهة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2626407" cy="834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969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Claude Interface, At a Glance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3413925" y="1552575"/>
            <a:ext cx="3826325" cy="558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1682"/>
              </a:lnSpc>
              <a:buNone/>
            </a:pPr>
            <a:r>
              <a:rPr lang="en-US" sz="315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واجهة Claude في لمحة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1047750" y="2548864"/>
            <a:ext cx="16192500" cy="845741"/>
          </a:xfrm>
          <a:prstGeom prst="rect">
            <a:avLst/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352550" y="2777464"/>
            <a:ext cx="5394579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4318"/>
              </a:lnSpc>
              <a:buNone/>
            </a:pPr>
            <a:r>
              <a:rPr lang="en-US" sz="2550" b="1" dirty="0">
                <a:solidFill>
                  <a:srgbClr val="2A0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7181850" y="2777464"/>
            <a:ext cx="10064496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4318"/>
              </a:lnSpc>
              <a:buNone/>
            </a:pPr>
            <a:r>
              <a:rPr lang="en-US" sz="2550" b="1" dirty="0">
                <a:solidFill>
                  <a:srgbClr val="2A0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047750" y="3394604"/>
            <a:ext cx="16192500" cy="1458516"/>
          </a:xfrm>
          <a:prstGeom prst="rect">
            <a:avLst/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047750" y="4827720"/>
            <a:ext cx="5829300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352550" y="3705754"/>
            <a:ext cx="1334029" cy="427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21"/>
              </a:lnSpc>
              <a:buNone/>
            </a:pPr>
            <a:r>
              <a:rPr lang="en-US" sz="270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830580" y="4126045"/>
            <a:ext cx="574167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الشريط الجانبي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6877050" y="4827720"/>
            <a:ext cx="10363200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7181850" y="3680354"/>
            <a:ext cx="10064496" cy="899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1705"/>
              </a:lnSpc>
              <a:buNone/>
            </a:pPr>
            <a:r>
              <a:rPr lang="en-US" sz="25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history and Projects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047750" y="4853120"/>
            <a:ext cx="16192500" cy="1471216"/>
          </a:xfrm>
          <a:prstGeom prst="rect">
            <a:avLst/>
          </a:prstGeom>
          <a:solidFill>
            <a:srgbClr val="0F1E3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1047750" y="6298935"/>
            <a:ext cx="5829300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352550" y="5176970"/>
            <a:ext cx="2515262" cy="427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21"/>
              </a:lnSpc>
              <a:buNone/>
            </a:pPr>
            <a:r>
              <a:rPr lang="en-US" sz="270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Selector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830580" y="5597261"/>
            <a:ext cx="574167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اختيار الموديل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6877050" y="6298935"/>
            <a:ext cx="10363200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7181850" y="5138870"/>
            <a:ext cx="10064496" cy="912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1705"/>
              </a:lnSpc>
              <a:buNone/>
            </a:pPr>
            <a:r>
              <a:rPr lang="en-US" sz="25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Opus / Sonnet / Haiku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1047750" y="6324335"/>
            <a:ext cx="16192500" cy="1471216"/>
          </a:xfrm>
          <a:prstGeom prst="rect">
            <a:avLst/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1047750" y="7770151"/>
            <a:ext cx="5829300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1352550" y="6648185"/>
            <a:ext cx="1683279" cy="427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21"/>
              </a:lnSpc>
              <a:buNone/>
            </a:pPr>
            <a:r>
              <a:rPr lang="en-US" sz="270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Area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830580" y="7068476"/>
            <a:ext cx="574167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منطقة المحادثة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6877050" y="7770151"/>
            <a:ext cx="10363200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7181850" y="6610085"/>
            <a:ext cx="10064496" cy="912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1705"/>
              </a:lnSpc>
              <a:buNone/>
            </a:pPr>
            <a:r>
              <a:rPr lang="en-US" sz="25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conversation itself</a:t>
            </a:r>
            <a:endParaRPr lang="en-US" sz="2550" dirty="0"/>
          </a:p>
        </p:txBody>
      </p:sp>
      <p:sp>
        <p:nvSpPr>
          <p:cNvPr id="28" name="Shape 26"/>
          <p:cNvSpPr/>
          <p:nvPr/>
        </p:nvSpPr>
        <p:spPr>
          <a:xfrm>
            <a:off x="1047750" y="7795551"/>
            <a:ext cx="16192500" cy="1490927"/>
          </a:xfrm>
          <a:prstGeom prst="rect">
            <a:avLst/>
          </a:prstGeom>
          <a:solidFill>
            <a:srgbClr val="0F1E3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1352550" y="8135541"/>
            <a:ext cx="2268008" cy="427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21"/>
              </a:lnSpc>
              <a:buNone/>
            </a:pPr>
            <a:r>
              <a:rPr lang="en-US" sz="270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Box</a:t>
            </a:r>
            <a:endParaRPr lang="en-US" sz="2700" dirty="0"/>
          </a:p>
        </p:txBody>
      </p:sp>
      <p:sp>
        <p:nvSpPr>
          <p:cNvPr id="30" name="Text 28"/>
          <p:cNvSpPr/>
          <p:nvPr/>
        </p:nvSpPr>
        <p:spPr>
          <a:xfrm>
            <a:off x="830580" y="8555831"/>
            <a:ext cx="574167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صندوق الرسائل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7181850" y="8081301"/>
            <a:ext cx="10064496" cy="957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1705"/>
              </a:lnSpc>
              <a:buNone/>
            </a:pPr>
            <a:r>
              <a:rPr lang="en-US" sz="25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Paperclip to attach files; Tools toggle for Web Search; Send button (or press Enter; Shift+Enter for a new line)</a:t>
            </a:r>
            <a:endParaRPr lang="en-US" sz="2550" dirty="0"/>
          </a:p>
        </p:txBody>
      </p:sp>
      <p:sp>
        <p:nvSpPr>
          <p:cNvPr id="32" name="Shape 30"/>
          <p:cNvSpPr/>
          <p:nvPr/>
        </p:nvSpPr>
        <p:spPr>
          <a:xfrm>
            <a:off x="1047750" y="9286478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1047750" y="9570112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13360930" y="9570112"/>
            <a:ext cx="42672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MASTERING CLAUDE</a:t>
            </a:r>
            <a:endParaRPr lang="en-US" sz="21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51489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CLAUDE IS DIFFERENT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604926" y="762000"/>
            <a:ext cx="216869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يختلف Claude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1947551" cy="834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969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a Simple Chat Interface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3177454" y="1552575"/>
            <a:ext cx="4062796" cy="558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1682"/>
              </a:lnSpc>
              <a:buNone/>
            </a:pPr>
            <a:r>
              <a:rPr lang="en-US" sz="315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أبعد من مجرد واجهة محادثة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1047750" y="2529814"/>
            <a:ext cx="16192500" cy="1891506"/>
          </a:xfrm>
          <a:prstGeom prst="roundRect">
            <a:avLst>
              <a:gd name="adj" fmla="val 9064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428750" y="3132667"/>
            <a:ext cx="685800" cy="685800"/>
          </a:xfrm>
          <a:prstGeom prst="roundRect">
            <a:avLst>
              <a:gd name="adj" fmla="val 25000"/>
            </a:avLst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390650" y="3132667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9655"/>
              </a:lnSpc>
              <a:buNone/>
            </a:pPr>
            <a:r>
              <a:rPr lang="en-US" sz="2700" b="1" dirty="0">
                <a:solidFill>
                  <a:srgbClr val="2A0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2438400" y="2815564"/>
            <a:ext cx="14853476" cy="9294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21"/>
              </a:lnSpc>
              <a:buNone/>
            </a:pPr>
            <a:r>
              <a:rPr lang="en-US" sz="27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Long, reliable context — tracks large documents &amp; multi-step work without losing the thread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96315" y="3706945"/>
            <a:ext cx="1586293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سياق طويل وموثوق — يتابع المستندات الكبيرة والمهام متعددة الخطوات دون فقد الترابط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047750" y="4630870"/>
            <a:ext cx="16192500" cy="1445816"/>
          </a:xfrm>
          <a:prstGeom prst="roundRect">
            <a:avLst>
              <a:gd name="adj" fmla="val 11858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1428750" y="5010812"/>
            <a:ext cx="685800" cy="685800"/>
          </a:xfrm>
          <a:prstGeom prst="roundRect">
            <a:avLst>
              <a:gd name="adj" fmla="val 25000"/>
            </a:avLst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390650" y="5010812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9655"/>
              </a:lnSpc>
              <a:buNone/>
            </a:pPr>
            <a:r>
              <a:rPr lang="en-US" sz="2700" b="1" dirty="0">
                <a:solidFill>
                  <a:srgbClr val="2A0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2438400" y="4916620"/>
            <a:ext cx="15862935" cy="483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21"/>
              </a:lnSpc>
              <a:buNone/>
            </a:pPr>
            <a:r>
              <a:rPr lang="en-US" sz="27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reasoning — works through problems step-by-step before answering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96315" y="5362310"/>
            <a:ext cx="1586293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استدلال منظم — يحلل المشكلة خطوة بخطوة قبل تقديم الإجابة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047750" y="6286235"/>
            <a:ext cx="16192500" cy="1445816"/>
          </a:xfrm>
          <a:prstGeom prst="roundRect">
            <a:avLst>
              <a:gd name="adj" fmla="val 11858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1428750" y="6666177"/>
            <a:ext cx="685800" cy="685800"/>
          </a:xfrm>
          <a:prstGeom prst="roundRect">
            <a:avLst>
              <a:gd name="adj" fmla="val 25000"/>
            </a:avLst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390650" y="6666177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9655"/>
              </a:lnSpc>
              <a:buNone/>
            </a:pPr>
            <a:r>
              <a:rPr lang="en-US" sz="2700" b="1" dirty="0">
                <a:solidFill>
                  <a:srgbClr val="2A0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2438400" y="6571985"/>
            <a:ext cx="15862935" cy="483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21"/>
              </a:lnSpc>
              <a:buNone/>
            </a:pPr>
            <a:r>
              <a:rPr lang="en-US" sz="27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tool use — calls code execution, search, and files as part of one answer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996315" y="7017676"/>
            <a:ext cx="1586293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استخدام أدوات مدمج — يستدعي تنفيذ الأكواد والبحث والملفات ضمن إجابة واحدة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047750" y="7941601"/>
            <a:ext cx="16192500" cy="1445816"/>
          </a:xfrm>
          <a:prstGeom prst="roundRect">
            <a:avLst>
              <a:gd name="adj" fmla="val 11858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1428750" y="8321543"/>
            <a:ext cx="685800" cy="685800"/>
          </a:xfrm>
          <a:prstGeom prst="roundRect">
            <a:avLst>
              <a:gd name="adj" fmla="val 25000"/>
            </a:avLst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1390650" y="8321543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9655"/>
              </a:lnSpc>
              <a:buNone/>
            </a:pPr>
            <a:r>
              <a:rPr lang="en-US" sz="2700" b="1" dirty="0">
                <a:solidFill>
                  <a:srgbClr val="2A0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2438400" y="8227351"/>
            <a:ext cx="15862935" cy="483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21"/>
              </a:lnSpc>
              <a:buNone/>
            </a:pPr>
            <a:r>
              <a:rPr lang="en-US" sz="27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Projects — keeps instructions &amp; files ready across many conversations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996315" y="8673042"/>
            <a:ext cx="1586293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مشاريع دائمة — يحتفظ بالتعليمات والملفات جاهزة عبر محادثات متعددة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1047750" y="9596967"/>
            <a:ext cx="16192500" cy="1445816"/>
          </a:xfrm>
          <a:prstGeom prst="roundRect">
            <a:avLst>
              <a:gd name="adj" fmla="val 11858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1428750" y="9976908"/>
            <a:ext cx="685800" cy="685800"/>
          </a:xfrm>
          <a:prstGeom prst="roundRect">
            <a:avLst>
              <a:gd name="adj" fmla="val 25000"/>
            </a:avLst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1390650" y="9976908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9655"/>
              </a:lnSpc>
              <a:buNone/>
            </a:pPr>
            <a:r>
              <a:rPr lang="en-US" sz="2700" b="1" dirty="0">
                <a:solidFill>
                  <a:srgbClr val="2A0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700" dirty="0"/>
          </a:p>
        </p:txBody>
      </p:sp>
      <p:sp>
        <p:nvSpPr>
          <p:cNvPr id="30" name="Text 28"/>
          <p:cNvSpPr/>
          <p:nvPr/>
        </p:nvSpPr>
        <p:spPr>
          <a:xfrm>
            <a:off x="2438400" y="9882717"/>
            <a:ext cx="15862935" cy="483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21"/>
              </a:lnSpc>
              <a:buNone/>
            </a:pPr>
            <a:r>
              <a:rPr lang="en-US" sz="27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 security — granular permissions on every connected data source</a:t>
            </a:r>
            <a:endParaRPr lang="en-US" sz="2700" dirty="0"/>
          </a:p>
        </p:txBody>
      </p:sp>
      <p:sp>
        <p:nvSpPr>
          <p:cNvPr id="31" name="Text 29"/>
          <p:cNvSpPr/>
          <p:nvPr/>
        </p:nvSpPr>
        <p:spPr>
          <a:xfrm>
            <a:off x="996315" y="10328408"/>
            <a:ext cx="1586293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أمان بمستوى المؤسسات — صلاحيات دقيقة على كل مصدر بيانات متصل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1047750" y="11042783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1047750" y="11326416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13360930" y="11326416"/>
            <a:ext cx="42672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MASTERING CLAUDE</a:t>
            </a:r>
            <a:endParaRPr lang="en-US" sz="21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1536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321050" y="762000"/>
            <a:ext cx="76927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الموديلز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9779873" cy="834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969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Has 3 Model Sizes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2864148" y="1552575"/>
            <a:ext cx="4376102" cy="558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1682"/>
              </a:lnSpc>
              <a:buNone/>
            </a:pPr>
            <a:r>
              <a:rPr lang="en-US" sz="315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كلود عنده ٣ أحجام من النماذج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1047750" y="2567914"/>
            <a:ext cx="5219700" cy="4308607"/>
          </a:xfrm>
          <a:prstGeom prst="roundRect">
            <a:avLst>
              <a:gd name="adj" fmla="val 4421"/>
            </a:avLst>
          </a:prstGeom>
          <a:solidFill>
            <a:srgbClr val="2E1A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047750" y="2567914"/>
            <a:ext cx="5219700" cy="93133"/>
          </a:xfrm>
          <a:prstGeom prst="rect">
            <a:avLst/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390650" y="3042047"/>
            <a:ext cx="498729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58"/>
              </a:lnSpc>
              <a:buNone/>
            </a:pPr>
            <a:r>
              <a:rPr lang="en-US" sz="450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937260" y="3823097"/>
            <a:ext cx="4987290" cy="491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705"/>
              </a:lnSpc>
              <a:buNone/>
            </a:pPr>
            <a:r>
              <a:rPr lang="en-US" sz="2550" b="1" dirty="0">
                <a:solidFill>
                  <a:srgbClr val="F7D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أوبس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390650" y="4428860"/>
            <a:ext cx="4669917" cy="944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705"/>
              </a:lnSpc>
              <a:buNone/>
            </a:pPr>
            <a:r>
              <a:rPr lang="en-US" sz="2550" dirty="0">
                <a:solidFill>
                  <a:srgbClr val="F7D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powerful — for the hardest, most complex tasks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390650" y="5487988"/>
            <a:ext cx="4533900" cy="16933"/>
          </a:xfrm>
          <a:prstGeom prst="rect">
            <a:avLst/>
          </a:prstGeom>
          <a:solidFill>
            <a:srgbClr val="5A32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390650" y="5695421"/>
            <a:ext cx="466991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a deep, complex report or hard strategic problem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6534150" y="2567914"/>
            <a:ext cx="5219700" cy="4308607"/>
          </a:xfrm>
          <a:prstGeom prst="roundRect">
            <a:avLst>
              <a:gd name="adj" fmla="val 4421"/>
            </a:avLst>
          </a:prstGeom>
          <a:solidFill>
            <a:srgbClr val="2E1A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6534150" y="2567914"/>
            <a:ext cx="5219700" cy="93133"/>
          </a:xfrm>
          <a:prstGeom prst="rect">
            <a:avLst/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877050" y="3042047"/>
            <a:ext cx="498729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58"/>
              </a:lnSpc>
              <a:buNone/>
            </a:pPr>
            <a:r>
              <a:rPr lang="en-US" sz="450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</a:t>
            </a:r>
            <a:endParaRPr lang="en-US" sz="4500" dirty="0"/>
          </a:p>
        </p:txBody>
      </p:sp>
      <p:sp>
        <p:nvSpPr>
          <p:cNvPr id="17" name="Text 15"/>
          <p:cNvSpPr/>
          <p:nvPr/>
        </p:nvSpPr>
        <p:spPr>
          <a:xfrm>
            <a:off x="6423660" y="3823097"/>
            <a:ext cx="4987290" cy="491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705"/>
              </a:lnSpc>
              <a:buNone/>
            </a:pPr>
            <a:r>
              <a:rPr lang="en-US" sz="2550" b="1" dirty="0">
                <a:solidFill>
                  <a:srgbClr val="F7D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سونيت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6877050" y="4428860"/>
            <a:ext cx="4669917" cy="944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705"/>
              </a:lnSpc>
              <a:buNone/>
            </a:pPr>
            <a:r>
              <a:rPr lang="en-US" sz="2550" dirty="0">
                <a:solidFill>
                  <a:srgbClr val="F7D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balanced choice — great quality at everyday speed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877050" y="5487988"/>
            <a:ext cx="4533900" cy="16933"/>
          </a:xfrm>
          <a:prstGeom prst="rect">
            <a:avLst/>
          </a:prstGeom>
          <a:solidFill>
            <a:srgbClr val="5A32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877050" y="5695421"/>
            <a:ext cx="466991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everyday writing, analysis, and coding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12020550" y="2567914"/>
            <a:ext cx="5219700" cy="4308607"/>
          </a:xfrm>
          <a:prstGeom prst="roundRect">
            <a:avLst>
              <a:gd name="adj" fmla="val 4421"/>
            </a:avLst>
          </a:prstGeom>
          <a:solidFill>
            <a:srgbClr val="2E1A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12020550" y="2567914"/>
            <a:ext cx="5219700" cy="93133"/>
          </a:xfrm>
          <a:prstGeom prst="rect">
            <a:avLst/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12363450" y="3042047"/>
            <a:ext cx="498729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58"/>
              </a:lnSpc>
              <a:buNone/>
            </a:pPr>
            <a:r>
              <a:rPr lang="en-US" sz="450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Haiku</a:t>
            </a:r>
            <a:endParaRPr lang="en-US" sz="4500" dirty="0"/>
          </a:p>
        </p:txBody>
      </p:sp>
      <p:sp>
        <p:nvSpPr>
          <p:cNvPr id="24" name="Text 22"/>
          <p:cNvSpPr/>
          <p:nvPr/>
        </p:nvSpPr>
        <p:spPr>
          <a:xfrm>
            <a:off x="11910060" y="3823097"/>
            <a:ext cx="4987290" cy="491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705"/>
              </a:lnSpc>
              <a:buNone/>
            </a:pPr>
            <a:r>
              <a:rPr lang="en-US" sz="2550" b="1" dirty="0">
                <a:solidFill>
                  <a:srgbClr val="F7D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هايكو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12363450" y="4428860"/>
            <a:ext cx="4669917" cy="944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705"/>
              </a:lnSpc>
              <a:buNone/>
            </a:pPr>
            <a:r>
              <a:rPr lang="en-US" sz="2550" dirty="0">
                <a:solidFill>
                  <a:srgbClr val="F7D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fastest and lightest — for quick, simple tasks</a:t>
            </a:r>
            <a:endParaRPr lang="en-US" sz="2550" dirty="0"/>
          </a:p>
        </p:txBody>
      </p:sp>
      <p:sp>
        <p:nvSpPr>
          <p:cNvPr id="26" name="Shape 24"/>
          <p:cNvSpPr/>
          <p:nvPr/>
        </p:nvSpPr>
        <p:spPr>
          <a:xfrm>
            <a:off x="12363450" y="5487988"/>
            <a:ext cx="4533900" cy="16933"/>
          </a:xfrm>
          <a:prstGeom prst="rect">
            <a:avLst/>
          </a:prstGeom>
          <a:solidFill>
            <a:srgbClr val="5A32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12363450" y="5695421"/>
            <a:ext cx="466991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quick questions, simple edits, fast replies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1047750" y="7295621"/>
            <a:ext cx="16192500" cy="1390650"/>
          </a:xfrm>
          <a:prstGeom prst="roundRect">
            <a:avLst>
              <a:gd name="adj" fmla="val 12329"/>
            </a:avLst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1428750" y="7562321"/>
            <a:ext cx="12206889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11"/>
              </a:lnSpc>
              <a:buNone/>
            </a:pPr>
            <a:r>
              <a:rPr lang="en-US" sz="2550" b="1" dirty="0">
                <a:solidFill>
                  <a:srgbClr val="2A0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as: Opus = power, Sonnet = balance, Haiku = speed. Switch anytime from the model selector.</a:t>
            </a:r>
            <a:endParaRPr lang="en-US" sz="2550" dirty="0"/>
          </a:p>
        </p:txBody>
      </p:sp>
      <p:sp>
        <p:nvSpPr>
          <p:cNvPr id="30" name="Text 28"/>
          <p:cNvSpPr/>
          <p:nvPr/>
        </p:nvSpPr>
        <p:spPr>
          <a:xfrm>
            <a:off x="13565154" y="7562321"/>
            <a:ext cx="329409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431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أوبس = قوة، سونيت = توازن، هايكو = سرعة</a:t>
            </a:r>
            <a:endParaRPr lang="en-US" sz="2250" dirty="0"/>
          </a:p>
        </p:txBody>
      </p:sp>
      <p:sp>
        <p:nvSpPr>
          <p:cNvPr id="31" name="Shape 29"/>
          <p:cNvSpPr/>
          <p:nvPr/>
        </p:nvSpPr>
        <p:spPr>
          <a:xfrm>
            <a:off x="1047750" y="9069917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1047750" y="9353550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3360930" y="9353550"/>
            <a:ext cx="42672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MASTERING CLAUDE</a:t>
            </a:r>
            <a:endParaRPr lang="en-US" sz="21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19568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702976" y="762000"/>
            <a:ext cx="84481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المشاريع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2481318" cy="1630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969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— A Persistent Workspace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3043293" y="1828800"/>
            <a:ext cx="4196957" cy="1078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1682"/>
              </a:lnSpc>
              <a:buNone/>
            </a:pPr>
            <a:r>
              <a:rPr lang="en-US" sz="315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المشاريع — مساحة عمل دائمة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047750" y="3116527"/>
            <a:ext cx="17811750" cy="535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947"/>
              </a:lnSpc>
              <a:buNone/>
            </a:pPr>
            <a:r>
              <a:rPr lang="en-US" sz="27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dedicated space that remembers context across many conversations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1047750" y="4051829"/>
            <a:ext cx="5219700" cy="4248944"/>
          </a:xfrm>
          <a:prstGeom prst="roundRect">
            <a:avLst>
              <a:gd name="adj" fmla="val 4483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047750" y="4051829"/>
            <a:ext cx="5219700" cy="76200"/>
          </a:xfrm>
          <a:prstGeom prst="rect">
            <a:avLst/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371600" y="4489979"/>
            <a:ext cx="502920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4173"/>
              </a:lnSpc>
              <a:buNone/>
            </a:pPr>
            <a:r>
              <a:rPr lang="en-US" sz="675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750" dirty="0"/>
          </a:p>
        </p:txBody>
      </p:sp>
      <p:sp>
        <p:nvSpPr>
          <p:cNvPr id="11" name="Text 9"/>
          <p:cNvSpPr/>
          <p:nvPr/>
        </p:nvSpPr>
        <p:spPr>
          <a:xfrm>
            <a:off x="1371600" y="5413904"/>
            <a:ext cx="5029200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56"/>
              </a:lnSpc>
              <a:buNone/>
            </a:pPr>
            <a:r>
              <a:rPr lang="en-US" sz="285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Instructions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371600" y="6018742"/>
            <a:ext cx="4709160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Claude should behave in this project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34440" y="7024423"/>
            <a:ext cx="470916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تعليمات المشروع — إزاي كلود يتصرف جوه المشروع ده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6534150" y="4051829"/>
            <a:ext cx="5219700" cy="4248944"/>
          </a:xfrm>
          <a:prstGeom prst="roundRect">
            <a:avLst>
              <a:gd name="adj" fmla="val 4483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6534150" y="4051829"/>
            <a:ext cx="5219700" cy="76200"/>
          </a:xfrm>
          <a:prstGeom prst="rect">
            <a:avLst/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858000" y="4489979"/>
            <a:ext cx="502920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4173"/>
              </a:lnSpc>
              <a:buNone/>
            </a:pPr>
            <a:r>
              <a:rPr lang="en-US" sz="675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750" dirty="0"/>
          </a:p>
        </p:txBody>
      </p:sp>
      <p:sp>
        <p:nvSpPr>
          <p:cNvPr id="17" name="Text 15"/>
          <p:cNvSpPr/>
          <p:nvPr/>
        </p:nvSpPr>
        <p:spPr>
          <a:xfrm>
            <a:off x="6858000" y="5413904"/>
            <a:ext cx="5029200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56"/>
              </a:lnSpc>
              <a:buNone/>
            </a:pPr>
            <a:r>
              <a:rPr lang="en-US" sz="285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Knowledge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6858000" y="6018742"/>
            <a:ext cx="4709160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files, briefs, brand &amp; style guides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720840" y="7024423"/>
            <a:ext cx="470916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معرفة المشروع — ملفات مرجعية وموجزات وأدلة العلامة والأسلوب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12020550" y="4051829"/>
            <a:ext cx="5219700" cy="4248944"/>
          </a:xfrm>
          <a:prstGeom prst="roundRect">
            <a:avLst>
              <a:gd name="adj" fmla="val 4483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12020550" y="4051829"/>
            <a:ext cx="5219700" cy="76200"/>
          </a:xfrm>
          <a:prstGeom prst="rect">
            <a:avLst/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12344400" y="4489979"/>
            <a:ext cx="502920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4173"/>
              </a:lnSpc>
              <a:buNone/>
            </a:pPr>
            <a:r>
              <a:rPr lang="en-US" sz="675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750" dirty="0"/>
          </a:p>
        </p:txBody>
      </p:sp>
      <p:sp>
        <p:nvSpPr>
          <p:cNvPr id="23" name="Text 21"/>
          <p:cNvSpPr/>
          <p:nvPr/>
        </p:nvSpPr>
        <p:spPr>
          <a:xfrm>
            <a:off x="12344400" y="5413904"/>
            <a:ext cx="5029200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56"/>
              </a:lnSpc>
              <a:buNone/>
            </a:pPr>
            <a:r>
              <a:rPr lang="en-US" sz="285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History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12344400" y="6018742"/>
            <a:ext cx="4709160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conversation adds to shared context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2207240" y="7024423"/>
            <a:ext cx="470916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السجل المشترك — كل محادثة تضيف إلى السياق المشترك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1047750" y="8719873"/>
            <a:ext cx="16192500" cy="1996281"/>
          </a:xfrm>
          <a:custGeom>
            <a:avLst/>
            <a:gdLst/>
            <a:ahLst/>
            <a:cxnLst/>
            <a:rect l="l" t="t" r="r" b="b"/>
            <a:pathLst>
              <a:path w="16192500" h="1996281">
                <a:moveTo>
                  <a:pt x="0" y="0"/>
                </a:moveTo>
                <a:lnTo>
                  <a:pt x="16021050" y="0"/>
                </a:lnTo>
                <a:arcTo wR="171450" hR="171450" stAng="16200000" swAng="5400000"/>
                <a:lnTo>
                  <a:pt x="16192500" y="1824831"/>
                </a:lnTo>
                <a:arcTo wR="171450" hR="171450" stAng="0" swAng="5400000"/>
                <a:lnTo>
                  <a:pt x="0" y="1996281"/>
                </a:lnTo>
                <a:lnTo>
                  <a:pt x="0" y="0"/>
                </a:lnTo>
                <a:close/>
              </a:path>
            </a:pathLst>
          </a:custGeom>
          <a:solidFill>
            <a:srgbClr val="2E1A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1047750" y="8719873"/>
            <a:ext cx="93133" cy="1996281"/>
          </a:xfrm>
          <a:prstGeom prst="rect">
            <a:avLst/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1521883" y="9005623"/>
            <a:ext cx="15797488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7D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create: sidebar → Projects → + New Project → name it &amp; add instructions → upload reference files.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061762" y="9973204"/>
            <a:ext cx="1579748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C9A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إزاي تعمل مشروع: الشريط الجانبي ← Projects ← + New Project ← سمّيه وأضف تعليمات ← ارفع الملفات المرجعية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1047750" y="10716154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1047750" y="10999788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13360930" y="10999788"/>
            <a:ext cx="42672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MASTERING CLAUDE</a:t>
            </a:r>
            <a:endParaRPr lang="en-US" sz="21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3282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COWORK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047750" y="1276350"/>
            <a:ext cx="12037109" cy="1630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969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Cowork — An Agentic Workspace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12599084" y="1878277"/>
            <a:ext cx="4641166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2500"/>
              </a:lnSpc>
              <a:buNone/>
            </a:pPr>
            <a:r>
              <a:rPr lang="en-US" sz="300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Cowork — مساحة عمل ذكية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47750" y="3116527"/>
            <a:ext cx="17811750" cy="535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947"/>
              </a:lnSpc>
              <a:buNone/>
            </a:pPr>
            <a:r>
              <a:rPr lang="en-US" sz="27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Claude a real assignment, not just a single question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047750" y="4051829"/>
            <a:ext cx="3876675" cy="3849820"/>
          </a:xfrm>
          <a:prstGeom prst="roundRect">
            <a:avLst>
              <a:gd name="adj" fmla="val 4948"/>
            </a:avLst>
          </a:prstGeom>
          <a:solidFill>
            <a:srgbClr val="2E1A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371600" y="4375679"/>
            <a:ext cx="3551873" cy="758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3947"/>
              </a:lnSpc>
              <a:buNone/>
            </a:pPr>
            <a:r>
              <a:rPr lang="en-US" sz="630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300" dirty="0"/>
          </a:p>
        </p:txBody>
      </p:sp>
      <p:sp>
        <p:nvSpPr>
          <p:cNvPr id="9" name="Text 7"/>
          <p:cNvSpPr/>
          <p:nvPr/>
        </p:nvSpPr>
        <p:spPr>
          <a:xfrm>
            <a:off x="1371600" y="5248143"/>
            <a:ext cx="3325844" cy="1300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11"/>
              </a:lnSpc>
              <a:buNone/>
            </a:pPr>
            <a:r>
              <a:rPr lang="en-US" sz="2550" b="1" dirty="0">
                <a:solidFill>
                  <a:srgbClr val="F7D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Cowork tab in the Claude desktop app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274731" y="6663399"/>
            <a:ext cx="332584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C9A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افتح تبويب Cowork في تطبيق كلود لسطح المكتب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5153025" y="4051829"/>
            <a:ext cx="3876675" cy="3849820"/>
          </a:xfrm>
          <a:prstGeom prst="roundRect">
            <a:avLst>
              <a:gd name="adj" fmla="val 4948"/>
            </a:avLst>
          </a:prstGeom>
          <a:solidFill>
            <a:srgbClr val="2E1A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476875" y="4375679"/>
            <a:ext cx="3551873" cy="758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3947"/>
              </a:lnSpc>
              <a:buNone/>
            </a:pPr>
            <a:r>
              <a:rPr lang="en-US" sz="630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300" dirty="0"/>
          </a:p>
        </p:txBody>
      </p:sp>
      <p:sp>
        <p:nvSpPr>
          <p:cNvPr id="13" name="Text 11"/>
          <p:cNvSpPr/>
          <p:nvPr/>
        </p:nvSpPr>
        <p:spPr>
          <a:xfrm>
            <a:off x="5476875" y="5248143"/>
            <a:ext cx="3325844" cy="1300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11"/>
              </a:lnSpc>
              <a:buNone/>
            </a:pPr>
            <a:r>
              <a:rPr lang="en-US" sz="2550" b="1" dirty="0">
                <a:solidFill>
                  <a:srgbClr val="F7D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outcome you want, in plain language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5380006" y="6663399"/>
            <a:ext cx="332584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C9A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اشرح النتيجة اللي عايزها بلغة عادية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258300" y="4051829"/>
            <a:ext cx="3876675" cy="3849820"/>
          </a:xfrm>
          <a:prstGeom prst="roundRect">
            <a:avLst>
              <a:gd name="adj" fmla="val 4948"/>
            </a:avLst>
          </a:prstGeom>
          <a:solidFill>
            <a:srgbClr val="2E1A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9582150" y="4375679"/>
            <a:ext cx="3551873" cy="758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3947"/>
              </a:lnSpc>
              <a:buNone/>
            </a:pPr>
            <a:r>
              <a:rPr lang="en-US" sz="630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300" dirty="0"/>
          </a:p>
        </p:txBody>
      </p:sp>
      <p:sp>
        <p:nvSpPr>
          <p:cNvPr id="17" name="Text 15"/>
          <p:cNvSpPr/>
          <p:nvPr/>
        </p:nvSpPr>
        <p:spPr>
          <a:xfrm>
            <a:off x="9582150" y="5248143"/>
            <a:ext cx="3325844" cy="1300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11"/>
              </a:lnSpc>
              <a:buNone/>
            </a:pPr>
            <a:r>
              <a:rPr lang="en-US" sz="2550" b="1" dirty="0">
                <a:solidFill>
                  <a:srgbClr val="F7D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plans steps and works across files/tools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9485281" y="6663399"/>
            <a:ext cx="332584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C9A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كلود يخطط الخطوات ويبدأ الشغل عبر ملفاتك وأدواتك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3363575" y="4051829"/>
            <a:ext cx="3876675" cy="3849820"/>
          </a:xfrm>
          <a:prstGeom prst="roundRect">
            <a:avLst>
              <a:gd name="adj" fmla="val 4948"/>
            </a:avLst>
          </a:prstGeom>
          <a:solidFill>
            <a:srgbClr val="2E1A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13687425" y="4375679"/>
            <a:ext cx="3551873" cy="758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3947"/>
              </a:lnSpc>
              <a:buNone/>
            </a:pPr>
            <a:r>
              <a:rPr lang="en-US" sz="630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300" dirty="0"/>
          </a:p>
        </p:txBody>
      </p:sp>
      <p:sp>
        <p:nvSpPr>
          <p:cNvPr id="21" name="Text 19"/>
          <p:cNvSpPr/>
          <p:nvPr/>
        </p:nvSpPr>
        <p:spPr>
          <a:xfrm>
            <a:off x="13687425" y="5248143"/>
            <a:ext cx="3325844" cy="1300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11"/>
              </a:lnSpc>
              <a:buNone/>
            </a:pPr>
            <a:r>
              <a:rPr lang="en-US" sz="2550" b="1" dirty="0">
                <a:solidFill>
                  <a:srgbClr val="F7D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check progress and approve or redirect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13590556" y="6663399"/>
            <a:ext cx="332584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C9A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تتابع التقدّم وتوافق أو توجّه في الطريق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1047750" y="8320749"/>
            <a:ext cx="16192500" cy="1510506"/>
          </a:xfrm>
          <a:custGeom>
            <a:avLst/>
            <a:gdLst/>
            <a:ahLst/>
            <a:cxnLst/>
            <a:rect l="l" t="t" r="r" b="b"/>
            <a:pathLst>
              <a:path w="16192500" h="1510506">
                <a:moveTo>
                  <a:pt x="0" y="0"/>
                </a:moveTo>
                <a:lnTo>
                  <a:pt x="16021050" y="0"/>
                </a:lnTo>
                <a:arcTo wR="171450" hR="171450" stAng="16200000" swAng="5400000"/>
                <a:lnTo>
                  <a:pt x="16192500" y="1339056"/>
                </a:lnTo>
                <a:arcTo wR="171450" hR="171450" stAng="0" swAng="5400000"/>
                <a:lnTo>
                  <a:pt x="0" y="1510506"/>
                </a:lnTo>
                <a:lnTo>
                  <a:pt x="0" y="0"/>
                </a:lnTo>
                <a:close/>
              </a:path>
            </a:pathLst>
          </a:cu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1047750" y="8320749"/>
            <a:ext cx="93133" cy="1510506"/>
          </a:xfrm>
          <a:prstGeom prst="rect">
            <a:avLst/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1521883" y="8606499"/>
            <a:ext cx="15823142" cy="977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51"/>
              </a:lnSpc>
              <a:buNone/>
            </a:pPr>
            <a:r>
              <a:rPr lang="en-US" sz="25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"Research our top 3 competitors and build a comparison one-pager." Claude searches, organizes, and drafts the document — one request, one finished draft.</a:t>
            </a:r>
            <a:endParaRPr lang="en-US" sz="2550" dirty="0"/>
          </a:p>
        </p:txBody>
      </p:sp>
      <p:sp>
        <p:nvSpPr>
          <p:cNvPr id="26" name="Shape 24"/>
          <p:cNvSpPr/>
          <p:nvPr/>
        </p:nvSpPr>
        <p:spPr>
          <a:xfrm>
            <a:off x="1047750" y="9831256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1047750" y="10114888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3360930" y="10114888"/>
            <a:ext cx="42672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MASTERING CLAUDE</a:t>
            </a:r>
            <a:endParaRPr lang="en-US" sz="21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13248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128433" y="762000"/>
            <a:ext cx="8364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المهارات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0666386" cy="834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969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— Reusable Expertise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1412286" y="1552575"/>
            <a:ext cx="5827964" cy="558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1682"/>
              </a:lnSpc>
              <a:buNone/>
            </a:pPr>
            <a:r>
              <a:rPr lang="en-US" sz="315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المهارات — خبرة قابلة لإعادة الاستخدام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1047750" y="2358364"/>
            <a:ext cx="16192500" cy="2082006"/>
          </a:xfrm>
          <a:prstGeom prst="roundRect">
            <a:avLst>
              <a:gd name="adj" fmla="val 8235"/>
            </a:avLst>
          </a:prstGeom>
          <a:solidFill>
            <a:srgbClr val="2E1A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428750" y="2644114"/>
            <a:ext cx="15893415" cy="977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51"/>
              </a:lnSpc>
              <a:buNone/>
            </a:pPr>
            <a:r>
              <a:rPr lang="en-US" sz="2550" dirty="0">
                <a:solidFill>
                  <a:srgbClr val="F7D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Skill packages instructions for one task or workflow. Claude reads a short description of every Skill, then loads the full one only when relevant — keeping responses fast.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65835" y="3697420"/>
            <a:ext cx="1589341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C9A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تحزم المهارة تعليمات لمهمة أو سير عمل واحد. يقرأ Claude وصفاً موجزاً لكل مهارة، ثم يحمّل التفاصيل الكاملة فقط عند الحاجة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047750" y="4802320"/>
            <a:ext cx="5232400" cy="3800210"/>
          </a:xfrm>
          <a:prstGeom prst="roundRect">
            <a:avLst>
              <a:gd name="adj" fmla="val 4512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047750" y="4802320"/>
            <a:ext cx="5232400" cy="76200"/>
          </a:xfrm>
          <a:prstGeom prst="rect">
            <a:avLst/>
          </a:prstGeom>
          <a:solidFill>
            <a:srgbClr val="3E56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371600" y="5202370"/>
            <a:ext cx="5043170" cy="5200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7979"/>
              </a:lnSpc>
              <a:buNone/>
            </a:pPr>
            <a:r>
              <a:rPr lang="en-US" sz="3450" b="1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913130" y="5817658"/>
            <a:ext cx="504317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مطالبة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0" y="6377649"/>
            <a:ext cx="4722241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One-off instructions, this conversation only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34059" y="7364280"/>
            <a:ext cx="472224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تعليمات لمرة واحدة، لهذه المحادثة فقط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6527800" y="4802320"/>
            <a:ext cx="5232400" cy="3800210"/>
          </a:xfrm>
          <a:prstGeom prst="roundRect">
            <a:avLst>
              <a:gd name="adj" fmla="val 4512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6527800" y="4802320"/>
            <a:ext cx="5232400" cy="76200"/>
          </a:xfrm>
          <a:prstGeom prst="rect">
            <a:avLst/>
          </a:prstGeom>
          <a:solidFill>
            <a:srgbClr val="3E56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851650" y="5202370"/>
            <a:ext cx="5043170" cy="5200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7979"/>
              </a:lnSpc>
              <a:buNone/>
            </a:pPr>
            <a:r>
              <a:rPr lang="en-US" sz="3450" b="1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3450" dirty="0"/>
          </a:p>
        </p:txBody>
      </p:sp>
      <p:sp>
        <p:nvSpPr>
          <p:cNvPr id="19" name="Text 17"/>
          <p:cNvSpPr/>
          <p:nvPr/>
        </p:nvSpPr>
        <p:spPr>
          <a:xfrm>
            <a:off x="6393180" y="5817658"/>
            <a:ext cx="504317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مشروع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851650" y="6377649"/>
            <a:ext cx="4722241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Standing context for a team, client, or theme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714109" y="7364280"/>
            <a:ext cx="472224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سياق ثابت لفريق أو عميل أو موضوع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2007850" y="4802320"/>
            <a:ext cx="5232400" cy="3800210"/>
          </a:xfrm>
          <a:prstGeom prst="roundRect">
            <a:avLst>
              <a:gd name="adj" fmla="val 4512"/>
            </a:avLst>
          </a:prstGeom>
          <a:solidFill>
            <a:srgbClr val="2E1A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12007850" y="4802320"/>
            <a:ext cx="5232400" cy="76200"/>
          </a:xfrm>
          <a:prstGeom prst="rect">
            <a:avLst/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12331700" y="5202370"/>
            <a:ext cx="5043170" cy="5200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7979"/>
              </a:lnSpc>
              <a:buNone/>
            </a:pPr>
            <a:r>
              <a:rPr lang="en-US" sz="345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3450" dirty="0"/>
          </a:p>
        </p:txBody>
      </p:sp>
      <p:sp>
        <p:nvSpPr>
          <p:cNvPr id="25" name="Text 23"/>
          <p:cNvSpPr/>
          <p:nvPr/>
        </p:nvSpPr>
        <p:spPr>
          <a:xfrm>
            <a:off x="11873230" y="5817658"/>
            <a:ext cx="504317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7D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مهارة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2331700" y="6377649"/>
            <a:ext cx="4722241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F7D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know-how, auto-applied across any chat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2194159" y="7364280"/>
            <a:ext cx="4722241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C9A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خبرة قابلة لإعادة الاستخدام، تُطبَّق تلقائياً في أي محادثة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1047750" y="8983530"/>
            <a:ext cx="16192500" cy="1958181"/>
          </a:xfrm>
          <a:custGeom>
            <a:avLst/>
            <a:gdLst/>
            <a:ahLst/>
            <a:cxnLst/>
            <a:rect l="l" t="t" r="r" b="b"/>
            <a:pathLst>
              <a:path w="16192500" h="1958181">
                <a:moveTo>
                  <a:pt x="0" y="0"/>
                </a:moveTo>
                <a:lnTo>
                  <a:pt x="16021050" y="0"/>
                </a:lnTo>
                <a:arcTo wR="171450" hR="171450" stAng="16200000" swAng="5400000"/>
                <a:lnTo>
                  <a:pt x="16192500" y="1786731"/>
                </a:lnTo>
                <a:arcTo wR="171450" hR="171450" stAng="0" swAng="5400000"/>
                <a:lnTo>
                  <a:pt x="0" y="1958181"/>
                </a:lnTo>
                <a:lnTo>
                  <a:pt x="0" y="0"/>
                </a:lnTo>
                <a:close/>
              </a:path>
            </a:pathLst>
          </a:cu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1047750" y="8983530"/>
            <a:ext cx="93133" cy="1958181"/>
          </a:xfrm>
          <a:prstGeom prst="rect">
            <a:avLst/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1521883" y="9250230"/>
            <a:ext cx="15797488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Skill: Settings → Capabilities → Skills → Create Skill → write instructions → turn it on in any chat/Project.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061762" y="10217811"/>
            <a:ext cx="1579748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لإنشاء مهارة: Settings ← Capabilities ← Skills ← Create Skill ← اكتب التعليمات ← فعّلها في أي محادثة أو مشروع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1047750" y="10941711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1047750" y="11225345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13360930" y="11225345"/>
            <a:ext cx="42672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MASTERING CLAUDE</a:t>
            </a:r>
            <a:endParaRPr lang="en-US" sz="21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560706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FOR BUSINESS TEAMS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021380" y="762000"/>
            <a:ext cx="18296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مهارات لفرق العمل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2091613" cy="1546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806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Expertise Into a Repeatable Asset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2653588" y="1844146"/>
            <a:ext cx="4586662" cy="978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3418"/>
              </a:lnSpc>
              <a:buNone/>
            </a:pPr>
            <a:r>
              <a:rPr lang="en-US" sz="285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تحويل الخبرة إلى أصل قابل لإعادة الاستخدام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1047750" y="3356504"/>
            <a:ext cx="5207000" cy="2724018"/>
          </a:xfrm>
          <a:prstGeom prst="roundRect">
            <a:avLst>
              <a:gd name="adj" fmla="val 6993"/>
            </a:avLst>
          </a:prstGeom>
          <a:solidFill>
            <a:srgbClr val="2E1A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409700" y="3775604"/>
            <a:ext cx="493141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3780"/>
              </a:lnSpc>
              <a:buNone/>
            </a:pPr>
            <a:r>
              <a:rPr lang="en-US" sz="600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1409700" y="4594754"/>
            <a:ext cx="4931410" cy="518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091"/>
              </a:lnSpc>
              <a:buNone/>
            </a:pPr>
            <a:r>
              <a:rPr lang="en-US" sz="3150" b="1" dirty="0">
                <a:solidFill>
                  <a:srgbClr val="F7D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Writer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961390" y="5208058"/>
            <a:ext cx="4931410" cy="491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705"/>
              </a:lnSpc>
              <a:buNone/>
            </a:pPr>
            <a:r>
              <a:rPr lang="en-US" sz="2550" b="1" dirty="0">
                <a:solidFill>
                  <a:srgbClr val="C9A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كاتب العروض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6540500" y="3356504"/>
            <a:ext cx="5207000" cy="2724018"/>
          </a:xfrm>
          <a:prstGeom prst="roundRect">
            <a:avLst>
              <a:gd name="adj" fmla="val 6993"/>
            </a:avLst>
          </a:prstGeom>
          <a:solidFill>
            <a:srgbClr val="2E1A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902450" y="3775604"/>
            <a:ext cx="493141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3780"/>
              </a:lnSpc>
              <a:buNone/>
            </a:pPr>
            <a:r>
              <a:rPr lang="en-US" sz="600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6902450" y="4594754"/>
            <a:ext cx="4931410" cy="518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091"/>
              </a:lnSpc>
              <a:buNone/>
            </a:pPr>
            <a:r>
              <a:rPr lang="en-US" sz="3150" b="1" dirty="0">
                <a:solidFill>
                  <a:srgbClr val="F7D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Tender Analyzer</a:t>
            </a:r>
            <a:endParaRPr lang="en-US" sz="3150" dirty="0"/>
          </a:p>
        </p:txBody>
      </p:sp>
      <p:sp>
        <p:nvSpPr>
          <p:cNvPr id="14" name="Text 12"/>
          <p:cNvSpPr/>
          <p:nvPr/>
        </p:nvSpPr>
        <p:spPr>
          <a:xfrm>
            <a:off x="6454140" y="5208058"/>
            <a:ext cx="4931410" cy="491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705"/>
              </a:lnSpc>
              <a:buNone/>
            </a:pPr>
            <a:r>
              <a:rPr lang="en-US" sz="2550" b="1" dirty="0">
                <a:solidFill>
                  <a:srgbClr val="C9A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محلل المناقصات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2033250" y="3356504"/>
            <a:ext cx="5207000" cy="2724018"/>
          </a:xfrm>
          <a:prstGeom prst="roundRect">
            <a:avLst>
              <a:gd name="adj" fmla="val 6993"/>
            </a:avLst>
          </a:prstGeom>
          <a:solidFill>
            <a:srgbClr val="2E1A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2395200" y="3775604"/>
            <a:ext cx="493141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3780"/>
              </a:lnSpc>
              <a:buNone/>
            </a:pPr>
            <a:r>
              <a:rPr lang="en-US" sz="600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12395200" y="4594754"/>
            <a:ext cx="4931410" cy="518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091"/>
              </a:lnSpc>
              <a:buNone/>
            </a:pPr>
            <a:r>
              <a:rPr lang="en-US" sz="3150" b="1" dirty="0">
                <a:solidFill>
                  <a:srgbClr val="F7D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Expert</a:t>
            </a:r>
            <a:endParaRPr lang="en-US" sz="3150" dirty="0"/>
          </a:p>
        </p:txBody>
      </p:sp>
      <p:sp>
        <p:nvSpPr>
          <p:cNvPr id="18" name="Text 16"/>
          <p:cNvSpPr/>
          <p:nvPr/>
        </p:nvSpPr>
        <p:spPr>
          <a:xfrm>
            <a:off x="11946890" y="5208058"/>
            <a:ext cx="4931410" cy="491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705"/>
              </a:lnSpc>
              <a:buNone/>
            </a:pPr>
            <a:r>
              <a:rPr lang="en-US" sz="2550" b="1" dirty="0">
                <a:solidFill>
                  <a:srgbClr val="C9A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خبير SEO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1047750" y="6366272"/>
            <a:ext cx="5207000" cy="2724018"/>
          </a:xfrm>
          <a:prstGeom prst="roundRect">
            <a:avLst>
              <a:gd name="adj" fmla="val 6993"/>
            </a:avLst>
          </a:prstGeom>
          <a:solidFill>
            <a:srgbClr val="2E1A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1409700" y="6785372"/>
            <a:ext cx="493141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3780"/>
              </a:lnSpc>
              <a:buNone/>
            </a:pPr>
            <a:r>
              <a:rPr lang="en-US" sz="600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0" dirty="0"/>
          </a:p>
        </p:txBody>
      </p:sp>
      <p:sp>
        <p:nvSpPr>
          <p:cNvPr id="21" name="Text 19"/>
          <p:cNvSpPr/>
          <p:nvPr/>
        </p:nvSpPr>
        <p:spPr>
          <a:xfrm>
            <a:off x="1409700" y="7604522"/>
            <a:ext cx="4931410" cy="518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091"/>
              </a:lnSpc>
              <a:buNone/>
            </a:pPr>
            <a:r>
              <a:rPr lang="en-US" sz="3150" b="1" dirty="0">
                <a:solidFill>
                  <a:srgbClr val="F7D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Recruiter</a:t>
            </a:r>
            <a:endParaRPr lang="en-US" sz="3150" dirty="0"/>
          </a:p>
        </p:txBody>
      </p:sp>
      <p:sp>
        <p:nvSpPr>
          <p:cNvPr id="22" name="Text 20"/>
          <p:cNvSpPr/>
          <p:nvPr/>
        </p:nvSpPr>
        <p:spPr>
          <a:xfrm>
            <a:off x="961390" y="8217826"/>
            <a:ext cx="4931410" cy="491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705"/>
              </a:lnSpc>
              <a:buNone/>
            </a:pPr>
            <a:r>
              <a:rPr lang="en-US" sz="2550" b="1" dirty="0">
                <a:solidFill>
                  <a:srgbClr val="C9A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مسؤول توظيف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6540500" y="6366272"/>
            <a:ext cx="5207000" cy="2724018"/>
          </a:xfrm>
          <a:prstGeom prst="roundRect">
            <a:avLst>
              <a:gd name="adj" fmla="val 6993"/>
            </a:avLst>
          </a:prstGeom>
          <a:solidFill>
            <a:srgbClr val="2E1A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902450" y="6785372"/>
            <a:ext cx="493141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3780"/>
              </a:lnSpc>
              <a:buNone/>
            </a:pPr>
            <a:r>
              <a:rPr lang="en-US" sz="600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000" dirty="0"/>
          </a:p>
        </p:txBody>
      </p:sp>
      <p:sp>
        <p:nvSpPr>
          <p:cNvPr id="25" name="Text 23"/>
          <p:cNvSpPr/>
          <p:nvPr/>
        </p:nvSpPr>
        <p:spPr>
          <a:xfrm>
            <a:off x="6902450" y="7604522"/>
            <a:ext cx="4931410" cy="518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091"/>
              </a:lnSpc>
              <a:buNone/>
            </a:pPr>
            <a:r>
              <a:rPr lang="en-US" sz="3150" b="1" dirty="0">
                <a:solidFill>
                  <a:srgbClr val="F7D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Assistant</a:t>
            </a:r>
            <a:endParaRPr lang="en-US" sz="3150" dirty="0"/>
          </a:p>
        </p:txBody>
      </p:sp>
      <p:sp>
        <p:nvSpPr>
          <p:cNvPr id="26" name="Text 24"/>
          <p:cNvSpPr/>
          <p:nvPr/>
        </p:nvSpPr>
        <p:spPr>
          <a:xfrm>
            <a:off x="6454140" y="8217826"/>
            <a:ext cx="4931410" cy="491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705"/>
              </a:lnSpc>
              <a:buNone/>
            </a:pPr>
            <a:r>
              <a:rPr lang="en-US" sz="2550" b="1" dirty="0">
                <a:solidFill>
                  <a:srgbClr val="C9A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مساعد قانوني</a:t>
            </a:r>
            <a:endParaRPr lang="en-US" sz="2550" dirty="0"/>
          </a:p>
        </p:txBody>
      </p:sp>
      <p:sp>
        <p:nvSpPr>
          <p:cNvPr id="27" name="Shape 25"/>
          <p:cNvSpPr/>
          <p:nvPr/>
        </p:nvSpPr>
        <p:spPr>
          <a:xfrm>
            <a:off x="12033250" y="6366272"/>
            <a:ext cx="5207000" cy="2724018"/>
          </a:xfrm>
          <a:prstGeom prst="roundRect">
            <a:avLst>
              <a:gd name="adj" fmla="val 6993"/>
            </a:avLst>
          </a:prstGeom>
          <a:solidFill>
            <a:srgbClr val="2E1A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12395200" y="6785372"/>
            <a:ext cx="493141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3780"/>
              </a:lnSpc>
              <a:buNone/>
            </a:pPr>
            <a:r>
              <a:rPr lang="en-US" sz="600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000" dirty="0"/>
          </a:p>
        </p:txBody>
      </p:sp>
      <p:sp>
        <p:nvSpPr>
          <p:cNvPr id="29" name="Text 27"/>
          <p:cNvSpPr/>
          <p:nvPr/>
        </p:nvSpPr>
        <p:spPr>
          <a:xfrm>
            <a:off x="12395200" y="7604522"/>
            <a:ext cx="4931410" cy="518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091"/>
              </a:lnSpc>
              <a:buNone/>
            </a:pPr>
            <a:r>
              <a:rPr lang="en-US" sz="3150" b="1" dirty="0">
                <a:solidFill>
                  <a:srgbClr val="F7D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Analyst</a:t>
            </a:r>
            <a:endParaRPr lang="en-US" sz="3150" dirty="0"/>
          </a:p>
        </p:txBody>
      </p:sp>
      <p:sp>
        <p:nvSpPr>
          <p:cNvPr id="30" name="Text 28"/>
          <p:cNvSpPr/>
          <p:nvPr/>
        </p:nvSpPr>
        <p:spPr>
          <a:xfrm>
            <a:off x="11946890" y="8217826"/>
            <a:ext cx="4931410" cy="491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705"/>
              </a:lnSpc>
              <a:buNone/>
            </a:pPr>
            <a:r>
              <a:rPr lang="en-US" sz="2550" b="1" dirty="0">
                <a:solidFill>
                  <a:srgbClr val="C9A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محلل مالي</a:t>
            </a:r>
            <a:endParaRPr lang="en-US" sz="2550" dirty="0"/>
          </a:p>
        </p:txBody>
      </p:sp>
      <p:sp>
        <p:nvSpPr>
          <p:cNvPr id="31" name="Shape 29"/>
          <p:cNvSpPr/>
          <p:nvPr/>
        </p:nvSpPr>
        <p:spPr>
          <a:xfrm>
            <a:off x="1047750" y="9090290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1047750" y="9373923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3360930" y="9373923"/>
            <a:ext cx="42672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MASTERING CLAUDE</a:t>
            </a:r>
            <a:endParaRPr lang="en-US" sz="21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206857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04576" y="762000"/>
            <a:ext cx="183370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المخرجات التفاعلية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1591810" cy="1630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969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Artifacts — Interactive, Real Output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2153785" y="1828800"/>
            <a:ext cx="5086465" cy="1078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1682"/>
              </a:lnSpc>
              <a:buNone/>
            </a:pPr>
            <a:r>
              <a:rPr lang="en-US" sz="315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Artifacts — مخرجات تفاعلية حقيقية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047750" y="3116527"/>
            <a:ext cx="17811750" cy="535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947"/>
              </a:lnSpc>
              <a:buNone/>
            </a:pPr>
            <a:r>
              <a:rPr lang="en-US" sz="27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standalone piece of work Claude creates alongside the chat — real, downloadable files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1047750" y="4089929"/>
            <a:ext cx="7962900" cy="1695318"/>
          </a:xfrm>
          <a:prstGeom prst="roundRect">
            <a:avLst>
              <a:gd name="adj" fmla="val 11237"/>
            </a:avLst>
          </a:prstGeom>
          <a:solidFill>
            <a:srgbClr val="2E1A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428750" y="4556522"/>
            <a:ext cx="762000" cy="762000"/>
          </a:xfrm>
          <a:prstGeom prst="roundRect">
            <a:avLst>
              <a:gd name="adj" fmla="val 25000"/>
            </a:avLst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390650" y="4556522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625"/>
              </a:lnSpc>
              <a:buNone/>
            </a:pPr>
            <a:r>
              <a:rPr lang="en-US" sz="3000" b="1" dirty="0">
                <a:solidFill>
                  <a:srgbClr val="2A0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76500" y="4470929"/>
            <a:ext cx="4621305" cy="518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091"/>
              </a:lnSpc>
              <a:buNone/>
            </a:pPr>
            <a:r>
              <a:rPr lang="en-US" sz="3150" b="1" dirty="0">
                <a:solidFill>
                  <a:srgbClr val="F7D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&amp; Reports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2056381" y="4950883"/>
            <a:ext cx="4621305" cy="491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705"/>
              </a:lnSpc>
              <a:buNone/>
            </a:pPr>
            <a:r>
              <a:rPr lang="en-US" sz="2550" b="1" dirty="0">
                <a:solidFill>
                  <a:srgbClr val="C9A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مستندات وتقارير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277350" y="4089929"/>
            <a:ext cx="7962900" cy="1695318"/>
          </a:xfrm>
          <a:prstGeom prst="roundRect">
            <a:avLst>
              <a:gd name="adj" fmla="val 11237"/>
            </a:avLst>
          </a:prstGeom>
          <a:solidFill>
            <a:srgbClr val="2E1A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9658350" y="4556522"/>
            <a:ext cx="762000" cy="762000"/>
          </a:xfrm>
          <a:prstGeom prst="roundRect">
            <a:avLst>
              <a:gd name="adj" fmla="val 25000"/>
            </a:avLst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9620250" y="4556522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625"/>
              </a:lnSpc>
              <a:buNone/>
            </a:pPr>
            <a:r>
              <a:rPr lang="en-US" sz="3000" b="1" dirty="0">
                <a:solidFill>
                  <a:srgbClr val="2A0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0706100" y="4470929"/>
            <a:ext cx="3789508" cy="518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091"/>
              </a:lnSpc>
              <a:buNone/>
            </a:pPr>
            <a:r>
              <a:rPr lang="en-US" sz="3150" b="1" dirty="0">
                <a:solidFill>
                  <a:srgbClr val="F7D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&amp; Web Apps</a:t>
            </a:r>
            <a:endParaRPr lang="en-US" sz="3150" dirty="0"/>
          </a:p>
        </p:txBody>
      </p:sp>
      <p:sp>
        <p:nvSpPr>
          <p:cNvPr id="17" name="Text 15"/>
          <p:cNvSpPr/>
          <p:nvPr/>
        </p:nvSpPr>
        <p:spPr>
          <a:xfrm>
            <a:off x="10361599" y="4950883"/>
            <a:ext cx="3789508" cy="491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705"/>
              </a:lnSpc>
              <a:buNone/>
            </a:pPr>
            <a:r>
              <a:rPr lang="en-US" sz="2550" b="1" dirty="0">
                <a:solidFill>
                  <a:srgbClr val="C9A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أكواد وتطبيقات ويب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047750" y="6051947"/>
            <a:ext cx="7962900" cy="1695318"/>
          </a:xfrm>
          <a:prstGeom prst="roundRect">
            <a:avLst>
              <a:gd name="adj" fmla="val 11237"/>
            </a:avLst>
          </a:prstGeom>
          <a:solidFill>
            <a:srgbClr val="2E1A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1428750" y="6518540"/>
            <a:ext cx="762000" cy="762000"/>
          </a:xfrm>
          <a:prstGeom prst="roundRect">
            <a:avLst>
              <a:gd name="adj" fmla="val 25000"/>
            </a:avLst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1390650" y="6518540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625"/>
              </a:lnSpc>
              <a:buNone/>
            </a:pPr>
            <a:r>
              <a:rPr lang="en-US" sz="3000" b="1" dirty="0">
                <a:solidFill>
                  <a:srgbClr val="2A0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2476500" y="6432947"/>
            <a:ext cx="4499504" cy="518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091"/>
              </a:lnSpc>
              <a:buNone/>
            </a:pPr>
            <a:r>
              <a:rPr lang="en-US" sz="3150" b="1" dirty="0">
                <a:solidFill>
                  <a:srgbClr val="F7D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&amp; Charts</a:t>
            </a:r>
            <a:endParaRPr lang="en-US" sz="3150" dirty="0"/>
          </a:p>
        </p:txBody>
      </p:sp>
      <p:sp>
        <p:nvSpPr>
          <p:cNvPr id="22" name="Text 20"/>
          <p:cNvSpPr/>
          <p:nvPr/>
        </p:nvSpPr>
        <p:spPr>
          <a:xfrm>
            <a:off x="2067454" y="6912901"/>
            <a:ext cx="4499504" cy="491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705"/>
              </a:lnSpc>
              <a:buNone/>
            </a:pPr>
            <a:r>
              <a:rPr lang="en-US" sz="2550" b="1" dirty="0">
                <a:solidFill>
                  <a:srgbClr val="C9A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لوحات بيانات ورسوم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9277350" y="6051947"/>
            <a:ext cx="7962900" cy="1695318"/>
          </a:xfrm>
          <a:prstGeom prst="roundRect">
            <a:avLst>
              <a:gd name="adj" fmla="val 11237"/>
            </a:avLst>
          </a:prstGeom>
          <a:solidFill>
            <a:srgbClr val="2E1A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9658350" y="6518540"/>
            <a:ext cx="762000" cy="762000"/>
          </a:xfrm>
          <a:prstGeom prst="roundRect">
            <a:avLst>
              <a:gd name="adj" fmla="val 25000"/>
            </a:avLst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9620250" y="6518540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625"/>
              </a:lnSpc>
              <a:buNone/>
            </a:pPr>
            <a:r>
              <a:rPr lang="en-US" sz="3000" b="1" dirty="0">
                <a:solidFill>
                  <a:srgbClr val="2A0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10706100" y="6432947"/>
            <a:ext cx="4768863" cy="518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091"/>
              </a:lnSpc>
              <a:buNone/>
            </a:pPr>
            <a:r>
              <a:rPr lang="en-US" sz="3150" b="1" dirty="0">
                <a:solidFill>
                  <a:srgbClr val="F7D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&amp; Presentations</a:t>
            </a:r>
            <a:endParaRPr lang="en-US" sz="3150" dirty="0"/>
          </a:p>
        </p:txBody>
      </p:sp>
      <p:sp>
        <p:nvSpPr>
          <p:cNvPr id="27" name="Text 25"/>
          <p:cNvSpPr/>
          <p:nvPr/>
        </p:nvSpPr>
        <p:spPr>
          <a:xfrm>
            <a:off x="10272567" y="6912901"/>
            <a:ext cx="4768863" cy="491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705"/>
              </a:lnSpc>
              <a:buNone/>
            </a:pPr>
            <a:r>
              <a:rPr lang="en-US" sz="2550" b="1" dirty="0">
                <a:solidFill>
                  <a:srgbClr val="C9A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شرائح وعروض تقديمية</a:t>
            </a:r>
            <a:endParaRPr lang="en-US" sz="2550" dirty="0"/>
          </a:p>
        </p:txBody>
      </p:sp>
      <p:sp>
        <p:nvSpPr>
          <p:cNvPr id="28" name="Shape 26"/>
          <p:cNvSpPr/>
          <p:nvPr/>
        </p:nvSpPr>
        <p:spPr>
          <a:xfrm>
            <a:off x="1047750" y="8128265"/>
            <a:ext cx="16192500" cy="954352"/>
          </a:xfrm>
          <a:prstGeom prst="roundRect">
            <a:avLst>
              <a:gd name="adj" fmla="val 17965"/>
            </a:avLst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1428750" y="8394965"/>
            <a:ext cx="15916275" cy="4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11"/>
              </a:lnSpc>
              <a:buNone/>
            </a:pPr>
            <a:r>
              <a:rPr lang="en-US" sz="2550" b="1" dirty="0">
                <a:solidFill>
                  <a:srgbClr val="2A0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deck was built exactly this way — as an Artifact.</a:t>
            </a:r>
            <a:endParaRPr lang="en-US" sz="2550" dirty="0"/>
          </a:p>
        </p:txBody>
      </p:sp>
      <p:sp>
        <p:nvSpPr>
          <p:cNvPr id="30" name="Shape 28"/>
          <p:cNvSpPr/>
          <p:nvPr/>
        </p:nvSpPr>
        <p:spPr>
          <a:xfrm>
            <a:off x="1047750" y="9082617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1047750" y="9366250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13360930" y="9366250"/>
            <a:ext cx="42672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MASTERING CLAUDE</a:t>
            </a:r>
            <a:endParaRPr lang="en-US" sz="21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45876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ARTIFACTS IN PRACTICE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094677" y="762000"/>
            <a:ext cx="22410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المخرجات في الممارسة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2095292" cy="1630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969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Request to Finished Deliverable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2657267" y="1878277"/>
            <a:ext cx="4582983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2500"/>
              </a:lnSpc>
              <a:buNone/>
            </a:pPr>
            <a:r>
              <a:rPr lang="en-US" sz="300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الطلب إلى مخرج نهائي قابل للتطوير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047750" y="3402277"/>
            <a:ext cx="3070754" cy="4261379"/>
          </a:xfrm>
          <a:prstGeom prst="roundRect">
            <a:avLst>
              <a:gd name="adj" fmla="val 5583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047750" y="3402277"/>
            <a:ext cx="3070754" cy="76200"/>
          </a:xfrm>
          <a:prstGeom prst="rect">
            <a:avLst/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314450" y="3783277"/>
            <a:ext cx="2791090" cy="689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4125"/>
              </a:lnSpc>
              <a:buNone/>
            </a:pPr>
            <a:r>
              <a:rPr lang="en-US" sz="570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700" dirty="0"/>
          </a:p>
        </p:txBody>
      </p:sp>
      <p:sp>
        <p:nvSpPr>
          <p:cNvPr id="10" name="Text 8"/>
          <p:cNvSpPr/>
          <p:nvPr/>
        </p:nvSpPr>
        <p:spPr>
          <a:xfrm>
            <a:off x="1314450" y="4568031"/>
            <a:ext cx="2791090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665"/>
              </a:lnSpc>
              <a:buNone/>
            </a:pPr>
            <a:r>
              <a:rPr lang="en-US" sz="255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314450" y="5106194"/>
            <a:ext cx="261355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describe what you need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238250" y="6039644"/>
            <a:ext cx="261355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الطلب — تشرح المطلوب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4328054" y="3402277"/>
            <a:ext cx="3070886" cy="4261379"/>
          </a:xfrm>
          <a:prstGeom prst="roundRect">
            <a:avLst>
              <a:gd name="adj" fmla="val 5583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328054" y="3402277"/>
            <a:ext cx="3070886" cy="76200"/>
          </a:xfrm>
          <a:prstGeom prst="rect">
            <a:avLst/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594754" y="3783277"/>
            <a:ext cx="2791235" cy="689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4125"/>
              </a:lnSpc>
              <a:buNone/>
            </a:pPr>
            <a:r>
              <a:rPr lang="en-US" sz="570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700" dirty="0"/>
          </a:p>
        </p:txBody>
      </p:sp>
      <p:sp>
        <p:nvSpPr>
          <p:cNvPr id="16" name="Text 14"/>
          <p:cNvSpPr/>
          <p:nvPr/>
        </p:nvSpPr>
        <p:spPr>
          <a:xfrm>
            <a:off x="4594754" y="4568031"/>
            <a:ext cx="2791235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665"/>
              </a:lnSpc>
              <a:buNone/>
            </a:pPr>
            <a:r>
              <a:rPr lang="en-US" sz="255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4594754" y="5106194"/>
            <a:ext cx="261368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creates a first version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4518554" y="6039644"/>
            <a:ext cx="261368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المسودة — كلود ينشئ نسخة أولى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7608491" y="3402277"/>
            <a:ext cx="3070886" cy="4261379"/>
          </a:xfrm>
          <a:prstGeom prst="roundRect">
            <a:avLst>
              <a:gd name="adj" fmla="val 5583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7608491" y="3402277"/>
            <a:ext cx="3070886" cy="76200"/>
          </a:xfrm>
          <a:prstGeom prst="rect">
            <a:avLst/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7875191" y="3783277"/>
            <a:ext cx="2791235" cy="689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4125"/>
              </a:lnSpc>
              <a:buNone/>
            </a:pPr>
            <a:r>
              <a:rPr lang="en-US" sz="570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700" dirty="0"/>
          </a:p>
        </p:txBody>
      </p:sp>
      <p:sp>
        <p:nvSpPr>
          <p:cNvPr id="22" name="Text 20"/>
          <p:cNvSpPr/>
          <p:nvPr/>
        </p:nvSpPr>
        <p:spPr>
          <a:xfrm>
            <a:off x="7875191" y="4568031"/>
            <a:ext cx="2791235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665"/>
              </a:lnSpc>
              <a:buNone/>
            </a:pPr>
            <a:r>
              <a:rPr lang="en-US" sz="255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Preview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7875191" y="5106194"/>
            <a:ext cx="261368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see it rendered immediately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7798991" y="6039644"/>
            <a:ext cx="261368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معاينة حية — تشوفها فوراً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10888927" y="3402277"/>
            <a:ext cx="3070886" cy="4261379"/>
          </a:xfrm>
          <a:prstGeom prst="roundRect">
            <a:avLst>
              <a:gd name="adj" fmla="val 5583"/>
            </a:avLst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10888927" y="3402277"/>
            <a:ext cx="3070886" cy="76200"/>
          </a:xfrm>
          <a:prstGeom prst="rect">
            <a:avLst/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11155627" y="3783277"/>
            <a:ext cx="2791235" cy="689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4125"/>
              </a:lnSpc>
              <a:buNone/>
            </a:pPr>
            <a:r>
              <a:rPr lang="en-US" sz="570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700" dirty="0"/>
          </a:p>
        </p:txBody>
      </p:sp>
      <p:sp>
        <p:nvSpPr>
          <p:cNvPr id="28" name="Text 26"/>
          <p:cNvSpPr/>
          <p:nvPr/>
        </p:nvSpPr>
        <p:spPr>
          <a:xfrm>
            <a:off x="11155627" y="4568031"/>
            <a:ext cx="2791235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665"/>
              </a:lnSpc>
              <a:buNone/>
            </a:pPr>
            <a:r>
              <a:rPr lang="en-US" sz="255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</a:t>
            </a:r>
            <a:endParaRPr lang="en-US" sz="2550" dirty="0"/>
          </a:p>
        </p:txBody>
      </p:sp>
      <p:sp>
        <p:nvSpPr>
          <p:cNvPr id="29" name="Text 27"/>
          <p:cNvSpPr/>
          <p:nvPr/>
        </p:nvSpPr>
        <p:spPr>
          <a:xfrm>
            <a:off x="11155627" y="5106194"/>
            <a:ext cx="261368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changes, in plain language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11079427" y="6039644"/>
            <a:ext cx="261368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تطوير — اطلب تعديلات بلغة عادية</a:t>
            </a:r>
            <a:endParaRPr lang="en-US" sz="2250" dirty="0"/>
          </a:p>
        </p:txBody>
      </p:sp>
      <p:sp>
        <p:nvSpPr>
          <p:cNvPr id="31" name="Shape 29"/>
          <p:cNvSpPr/>
          <p:nvPr/>
        </p:nvSpPr>
        <p:spPr>
          <a:xfrm>
            <a:off x="14169364" y="3402277"/>
            <a:ext cx="3070886" cy="4261379"/>
          </a:xfrm>
          <a:prstGeom prst="roundRect">
            <a:avLst>
              <a:gd name="adj" fmla="val 5583"/>
            </a:avLst>
          </a:prstGeom>
          <a:solidFill>
            <a:srgbClr val="2E1A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14169364" y="3402277"/>
            <a:ext cx="3070886" cy="76200"/>
          </a:xfrm>
          <a:prstGeom prst="rect">
            <a:avLst/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14436064" y="3783277"/>
            <a:ext cx="2791235" cy="689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4125"/>
              </a:lnSpc>
              <a:buNone/>
            </a:pPr>
            <a:r>
              <a:rPr lang="en-US" sz="570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5700" dirty="0"/>
          </a:p>
        </p:txBody>
      </p:sp>
      <p:sp>
        <p:nvSpPr>
          <p:cNvPr id="34" name="Text 32"/>
          <p:cNvSpPr/>
          <p:nvPr/>
        </p:nvSpPr>
        <p:spPr>
          <a:xfrm>
            <a:off x="14436064" y="4568031"/>
            <a:ext cx="2613686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665"/>
              </a:lnSpc>
              <a:buNone/>
            </a:pPr>
            <a:r>
              <a:rPr lang="en-US" sz="2550" b="1" dirty="0">
                <a:solidFill>
                  <a:srgbClr val="F7D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Deliverable</a:t>
            </a:r>
            <a:endParaRPr lang="en-US" sz="2550" dirty="0"/>
          </a:p>
        </p:txBody>
      </p:sp>
      <p:sp>
        <p:nvSpPr>
          <p:cNvPr id="35" name="Text 33"/>
          <p:cNvSpPr/>
          <p:nvPr/>
        </p:nvSpPr>
        <p:spPr>
          <a:xfrm>
            <a:off x="14436064" y="5511006"/>
            <a:ext cx="261368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54"/>
              </a:lnSpc>
              <a:buNone/>
            </a:pPr>
            <a:r>
              <a:rPr lang="en-US" sz="2250" dirty="0">
                <a:solidFill>
                  <a:srgbClr val="F7D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or keep editing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14359864" y="6444456"/>
            <a:ext cx="261368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C9A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المخرج النهائي — حمّله أو كمّل تعديل</a:t>
            </a:r>
            <a:endParaRPr lang="en-US" sz="2250" dirty="0"/>
          </a:p>
        </p:txBody>
      </p:sp>
      <p:sp>
        <p:nvSpPr>
          <p:cNvPr id="37" name="Shape 35"/>
          <p:cNvSpPr/>
          <p:nvPr/>
        </p:nvSpPr>
        <p:spPr>
          <a:xfrm>
            <a:off x="1047750" y="8101806"/>
            <a:ext cx="16192500" cy="1510506"/>
          </a:xfrm>
          <a:custGeom>
            <a:avLst/>
            <a:gdLst/>
            <a:ahLst/>
            <a:cxnLst/>
            <a:rect l="l" t="t" r="r" b="b"/>
            <a:pathLst>
              <a:path w="16192500" h="1510506">
                <a:moveTo>
                  <a:pt x="0" y="0"/>
                </a:moveTo>
                <a:lnTo>
                  <a:pt x="16021050" y="0"/>
                </a:lnTo>
                <a:arcTo wR="171450" hR="171450" stAng="16200000" swAng="5400000"/>
                <a:lnTo>
                  <a:pt x="16192500" y="1339056"/>
                </a:lnTo>
                <a:arcTo wR="171450" hR="171450" stAng="0" swAng="5400000"/>
                <a:lnTo>
                  <a:pt x="0" y="1510506"/>
                </a:lnTo>
                <a:lnTo>
                  <a:pt x="0" y="0"/>
                </a:lnTo>
                <a:close/>
              </a:path>
            </a:pathLst>
          </a:cu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1047750" y="8101806"/>
            <a:ext cx="93133" cy="1510506"/>
          </a:xfrm>
          <a:prstGeom prst="rect">
            <a:avLst/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1521883" y="8387556"/>
            <a:ext cx="15823142" cy="977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51"/>
              </a:lnSpc>
              <a:buNone/>
            </a:pPr>
            <a:r>
              <a:rPr lang="en-US" sz="25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examples: an interactive pricing calculator, an executive KPI dashboard, a client-ready proposal edited live in the meeting.</a:t>
            </a:r>
            <a:endParaRPr lang="en-US" sz="2550" dirty="0"/>
          </a:p>
        </p:txBody>
      </p:sp>
      <p:sp>
        <p:nvSpPr>
          <p:cNvPr id="40" name="Shape 38"/>
          <p:cNvSpPr/>
          <p:nvPr/>
        </p:nvSpPr>
        <p:spPr>
          <a:xfrm>
            <a:off x="1047750" y="9612313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1047750" y="9895946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42" name="Text 40"/>
          <p:cNvSpPr/>
          <p:nvPr/>
        </p:nvSpPr>
        <p:spPr>
          <a:xfrm>
            <a:off x="13360930" y="9895946"/>
            <a:ext cx="42672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MASTERING CLAUDE</a:t>
            </a:r>
            <a:endParaRPr lang="en-US" sz="21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255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242594" y="762000"/>
            <a:ext cx="9509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الموصلات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1696049" cy="1630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969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Connectors — Verified App Links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2258024" y="1828800"/>
            <a:ext cx="4982226" cy="1078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1682"/>
              </a:lnSpc>
              <a:buNone/>
            </a:pPr>
            <a:r>
              <a:rPr lang="en-US" sz="315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الموصلات — روابط موثقة للتطبيقات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047750" y="3116527"/>
            <a:ext cx="17811750" cy="535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947"/>
              </a:lnSpc>
              <a:buNone/>
            </a:pPr>
            <a:r>
              <a:rPr lang="en-US" sz="27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Anthropic-vetted bridges to your everyday tools — built on MCP under the hood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1047750" y="4089929"/>
            <a:ext cx="7962900" cy="2374371"/>
          </a:xfrm>
          <a:prstGeom prst="roundRect">
            <a:avLst>
              <a:gd name="adj" fmla="val 8023"/>
            </a:avLst>
          </a:prstGeom>
          <a:solidFill>
            <a:srgbClr val="2E1A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409700" y="4451879"/>
            <a:ext cx="7962900" cy="541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524"/>
              </a:lnSpc>
              <a:buNone/>
            </a:pPr>
            <a:r>
              <a:rPr lang="en-US" sz="345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&amp; Storage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1409700" y="5088996"/>
            <a:ext cx="7962900" cy="491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705"/>
              </a:lnSpc>
              <a:buNone/>
            </a:pPr>
            <a:r>
              <a:rPr lang="en-US" sz="2550" dirty="0">
                <a:solidFill>
                  <a:srgbClr val="F7D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Drive, Notion, SharePoint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685800" y="5675709"/>
            <a:ext cx="796290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C9A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المستندات والتخزين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277350" y="4089929"/>
            <a:ext cx="7962900" cy="2374371"/>
          </a:xfrm>
          <a:prstGeom prst="roundRect">
            <a:avLst>
              <a:gd name="adj" fmla="val 8023"/>
            </a:avLst>
          </a:prstGeom>
          <a:solidFill>
            <a:srgbClr val="2E1A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9639300" y="4451879"/>
            <a:ext cx="7962900" cy="541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524"/>
              </a:lnSpc>
              <a:buNone/>
            </a:pPr>
            <a:r>
              <a:rPr lang="en-US" sz="345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3450" dirty="0"/>
          </a:p>
        </p:txBody>
      </p:sp>
      <p:sp>
        <p:nvSpPr>
          <p:cNvPr id="14" name="Text 12"/>
          <p:cNvSpPr/>
          <p:nvPr/>
        </p:nvSpPr>
        <p:spPr>
          <a:xfrm>
            <a:off x="9639300" y="5088996"/>
            <a:ext cx="7962900" cy="491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705"/>
              </a:lnSpc>
              <a:buNone/>
            </a:pPr>
            <a:r>
              <a:rPr lang="en-US" sz="2550" dirty="0">
                <a:solidFill>
                  <a:srgbClr val="F7D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Gmail, Slack, Outlook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8915400" y="5675709"/>
            <a:ext cx="796290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C9A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التواصل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047750" y="6731000"/>
            <a:ext cx="7962900" cy="2374371"/>
          </a:xfrm>
          <a:prstGeom prst="roundRect">
            <a:avLst>
              <a:gd name="adj" fmla="val 8023"/>
            </a:avLst>
          </a:prstGeom>
          <a:solidFill>
            <a:srgbClr val="2E1A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1409700" y="7092950"/>
            <a:ext cx="7962900" cy="541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524"/>
              </a:lnSpc>
              <a:buNone/>
            </a:pPr>
            <a:r>
              <a:rPr lang="en-US" sz="345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&amp; Product</a:t>
            </a:r>
            <a:endParaRPr lang="en-US" sz="3450" dirty="0"/>
          </a:p>
        </p:txBody>
      </p:sp>
      <p:sp>
        <p:nvSpPr>
          <p:cNvPr id="18" name="Text 16"/>
          <p:cNvSpPr/>
          <p:nvPr/>
        </p:nvSpPr>
        <p:spPr>
          <a:xfrm>
            <a:off x="1409700" y="7730067"/>
            <a:ext cx="7962900" cy="491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705"/>
              </a:lnSpc>
              <a:buNone/>
            </a:pPr>
            <a:r>
              <a:rPr lang="en-US" sz="2550" dirty="0">
                <a:solidFill>
                  <a:srgbClr val="F7D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GitHub, Jira, Figma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685800" y="8316780"/>
            <a:ext cx="796290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C9A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التطوير والمنتج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277350" y="6731000"/>
            <a:ext cx="7962900" cy="2374371"/>
          </a:xfrm>
          <a:prstGeom prst="roundRect">
            <a:avLst>
              <a:gd name="adj" fmla="val 8023"/>
            </a:avLst>
          </a:prstGeom>
          <a:solidFill>
            <a:srgbClr val="2E1A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9639300" y="7092950"/>
            <a:ext cx="7962900" cy="541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524"/>
              </a:lnSpc>
              <a:buNone/>
            </a:pPr>
            <a:r>
              <a:rPr lang="en-US" sz="345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&amp; Sales</a:t>
            </a:r>
            <a:endParaRPr lang="en-US" sz="3450" dirty="0"/>
          </a:p>
        </p:txBody>
      </p:sp>
      <p:sp>
        <p:nvSpPr>
          <p:cNvPr id="22" name="Text 20"/>
          <p:cNvSpPr/>
          <p:nvPr/>
        </p:nvSpPr>
        <p:spPr>
          <a:xfrm>
            <a:off x="9639300" y="7730067"/>
            <a:ext cx="7962900" cy="491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705"/>
              </a:lnSpc>
              <a:buNone/>
            </a:pPr>
            <a:r>
              <a:rPr lang="en-US" sz="2550" dirty="0">
                <a:solidFill>
                  <a:srgbClr val="F7D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HubSpot, Salesforce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8915400" y="8316780"/>
            <a:ext cx="796290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C9A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العملاء والمبيعات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1047750" y="9524471"/>
            <a:ext cx="16192500" cy="1041003"/>
          </a:xfrm>
          <a:custGeom>
            <a:avLst/>
            <a:gdLst/>
            <a:ahLst/>
            <a:cxnLst/>
            <a:rect l="l" t="t" r="r" b="b"/>
            <a:pathLst>
              <a:path w="16192500" h="1041003">
                <a:moveTo>
                  <a:pt x="0" y="0"/>
                </a:moveTo>
                <a:lnTo>
                  <a:pt x="16021050" y="0"/>
                </a:lnTo>
                <a:arcTo wR="171450" hR="171450" stAng="16200000" swAng="5400000"/>
                <a:lnTo>
                  <a:pt x="16192500" y="869553"/>
                </a:lnTo>
                <a:arcTo wR="171450" hR="171450" stAng="0" swAng="5400000"/>
                <a:lnTo>
                  <a:pt x="0" y="1041003"/>
                </a:lnTo>
                <a:lnTo>
                  <a:pt x="0" y="0"/>
                </a:lnTo>
                <a:close/>
              </a:path>
            </a:pathLst>
          </a:cu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1047750" y="9524471"/>
            <a:ext cx="93133" cy="1041003"/>
          </a:xfrm>
          <a:prstGeom prst="rect">
            <a:avLst/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1521883" y="9810221"/>
            <a:ext cx="15823142" cy="507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51"/>
              </a:lnSpc>
              <a:buNone/>
            </a:pPr>
            <a:r>
              <a:rPr lang="en-US" sz="25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note: permissions are granular — read-only or read/write, scoped per Connector, per user.</a:t>
            </a:r>
            <a:endParaRPr lang="en-US" sz="2550" dirty="0"/>
          </a:p>
        </p:txBody>
      </p:sp>
      <p:sp>
        <p:nvSpPr>
          <p:cNvPr id="27" name="Shape 25"/>
          <p:cNvSpPr/>
          <p:nvPr/>
        </p:nvSpPr>
        <p:spPr>
          <a:xfrm>
            <a:off x="1047750" y="10565474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1047750" y="10849108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3360930" y="10849108"/>
            <a:ext cx="42672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MASTERING CLAUDE</a:t>
            </a:r>
            <a:endParaRPr lang="en-US" sz="21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530845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CONTEXT PROTOCOL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749918" y="762000"/>
            <a:ext cx="23270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بروتوكول سياق النموذج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6678275" cy="1571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519"/>
              </a:lnSpc>
              <a:buNone/>
            </a:pPr>
            <a:r>
              <a:rPr lang="en-US" sz="5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— The Open Standard Behind Every Connector</a:t>
            </a:r>
            <a:endParaRPr lang="en-US" sz="5250" dirty="0"/>
          </a:p>
        </p:txBody>
      </p:sp>
      <p:sp>
        <p:nvSpPr>
          <p:cNvPr id="6" name="Text 4"/>
          <p:cNvSpPr/>
          <p:nvPr/>
        </p:nvSpPr>
        <p:spPr>
          <a:xfrm>
            <a:off x="-571500" y="2943225"/>
            <a:ext cx="178117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154"/>
              </a:lnSpc>
              <a:buNone/>
            </a:pPr>
            <a:r>
              <a:rPr lang="en-US" sz="300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— المعيار المفتوح خلف كل موصل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047750" y="3762375"/>
            <a:ext cx="16192500" cy="2082006"/>
          </a:xfrm>
          <a:prstGeom prst="roundRect">
            <a:avLst>
              <a:gd name="adj" fmla="val 8235"/>
            </a:avLst>
          </a:prstGeom>
          <a:solidFill>
            <a:srgbClr val="2E1A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428750" y="4048125"/>
            <a:ext cx="15893415" cy="977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51"/>
              </a:lnSpc>
              <a:buNone/>
            </a:pPr>
            <a:r>
              <a:rPr lang="en-US" sz="2550" dirty="0">
                <a:solidFill>
                  <a:srgbClr val="F7D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"USB-C for AI" — an open protocol, created by Anthropic, for AI apps to reach tools and data with one standard interface instead of a custom integration per system.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65835" y="5101431"/>
            <a:ext cx="1589341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C9A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«USB-C للذكاء الاصطناعي» — بروتوكول مفتوح ابتكرته Anthropic ليصل تطبيقات الذكاء الاصطناعي بالأدوات والبيانات بواجهة موحّدة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047750" y="6225381"/>
            <a:ext cx="4826000" cy="1555750"/>
          </a:xfrm>
          <a:prstGeom prst="roundRect">
            <a:avLst>
              <a:gd name="adj" fmla="val 11020"/>
            </a:avLst>
          </a:prstGeom>
          <a:solidFill>
            <a:srgbClr val="122340"/>
          </a:solidFill>
          <a:ln w="25400">
            <a:solidFill>
              <a:srgbClr val="E080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148715" y="6536531"/>
            <a:ext cx="462407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84375"/>
              </a:lnSpc>
              <a:buNone/>
            </a:pPr>
            <a:r>
              <a:rPr lang="en-US" sz="300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(Client)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148715" y="7069931"/>
            <a:ext cx="46240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1154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(العميل)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6064250" y="6765131"/>
            <a:ext cx="552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1203"/>
              </a:lnSpc>
              <a:buNone/>
            </a:pPr>
            <a:r>
              <a:rPr lang="en-US" sz="375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750" dirty="0"/>
          </a:p>
        </p:txBody>
      </p:sp>
      <p:sp>
        <p:nvSpPr>
          <p:cNvPr id="14" name="Shape 12"/>
          <p:cNvSpPr/>
          <p:nvPr/>
        </p:nvSpPr>
        <p:spPr>
          <a:xfrm>
            <a:off x="6731000" y="6225381"/>
            <a:ext cx="4826000" cy="1555750"/>
          </a:xfrm>
          <a:prstGeom prst="roundRect">
            <a:avLst>
              <a:gd name="adj" fmla="val 11020"/>
            </a:avLst>
          </a:prstGeom>
          <a:solidFill>
            <a:srgbClr val="122340"/>
          </a:solidFill>
          <a:ln w="25400">
            <a:solidFill>
              <a:srgbClr val="3E5680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831965" y="6536531"/>
            <a:ext cx="462407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84375"/>
              </a:lnSpc>
              <a:buNone/>
            </a:pPr>
            <a:r>
              <a:rPr lang="en-US" sz="3000" b="1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831965" y="7069931"/>
            <a:ext cx="46240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1154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طبقة النقل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1747500" y="6765131"/>
            <a:ext cx="552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1203"/>
              </a:lnSpc>
              <a:buNone/>
            </a:pPr>
            <a:r>
              <a:rPr lang="en-US" sz="375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750" dirty="0"/>
          </a:p>
        </p:txBody>
      </p:sp>
      <p:sp>
        <p:nvSpPr>
          <p:cNvPr id="18" name="Shape 16"/>
          <p:cNvSpPr/>
          <p:nvPr/>
        </p:nvSpPr>
        <p:spPr>
          <a:xfrm>
            <a:off x="12414250" y="6225381"/>
            <a:ext cx="4826000" cy="1555750"/>
          </a:xfrm>
          <a:prstGeom prst="roundRect">
            <a:avLst>
              <a:gd name="adj" fmla="val 11020"/>
            </a:avLst>
          </a:prstGeom>
          <a:solidFill>
            <a:srgbClr val="122340"/>
          </a:solidFill>
          <a:ln w="25400">
            <a:solidFill>
              <a:srgbClr val="E080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2515215" y="6536531"/>
            <a:ext cx="462407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84375"/>
              </a:lnSpc>
              <a:buNone/>
            </a:pPr>
            <a:r>
              <a:rPr lang="en-US" sz="300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2515215" y="7069931"/>
            <a:ext cx="46240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1154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خادم MCP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1047750" y="8028781"/>
            <a:ext cx="5257800" cy="878152"/>
          </a:xfrm>
          <a:prstGeom prst="roundRect">
            <a:avLst>
              <a:gd name="adj" fmla="val 17355"/>
            </a:avLst>
          </a:prstGeom>
          <a:solidFill>
            <a:srgbClr val="0F1E3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1197483" y="8257381"/>
            <a:ext cx="4958334" cy="4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3011"/>
              </a:lnSpc>
              <a:buNone/>
            </a:pPr>
            <a:r>
              <a:rPr lang="en-US" sz="2550" b="1" dirty="0">
                <a:solidFill>
                  <a:srgbClr val="C8D8EF"/>
                </a:solidFill>
                <a:highlight>
                  <a:srgbClr val="0F1E37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Tools </a:t>
            </a:r>
            <a:r>
              <a:rPr lang="en-US" sz="2550" b="1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أدوات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6515100" y="8028781"/>
            <a:ext cx="5257800" cy="878152"/>
          </a:xfrm>
          <a:prstGeom prst="roundRect">
            <a:avLst>
              <a:gd name="adj" fmla="val 17355"/>
            </a:avLst>
          </a:prstGeom>
          <a:solidFill>
            <a:srgbClr val="0F1E3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664833" y="8257381"/>
            <a:ext cx="4958334" cy="4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3011"/>
              </a:lnSpc>
              <a:buNone/>
            </a:pPr>
            <a:r>
              <a:rPr lang="en-US" sz="2550" b="1" dirty="0">
                <a:solidFill>
                  <a:srgbClr val="C8D8EF"/>
                </a:solidFill>
                <a:highlight>
                  <a:srgbClr val="0F1E37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Resources </a:t>
            </a:r>
            <a:r>
              <a:rPr lang="en-US" sz="2550" b="1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موارد</a:t>
            </a:r>
            <a:endParaRPr lang="en-US" sz="2550" dirty="0"/>
          </a:p>
        </p:txBody>
      </p:sp>
      <p:sp>
        <p:nvSpPr>
          <p:cNvPr id="25" name="Shape 23"/>
          <p:cNvSpPr/>
          <p:nvPr/>
        </p:nvSpPr>
        <p:spPr>
          <a:xfrm>
            <a:off x="11982450" y="8028781"/>
            <a:ext cx="5257800" cy="878152"/>
          </a:xfrm>
          <a:prstGeom prst="roundRect">
            <a:avLst>
              <a:gd name="adj" fmla="val 17355"/>
            </a:avLst>
          </a:prstGeom>
          <a:solidFill>
            <a:srgbClr val="0F1E3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12132183" y="8257381"/>
            <a:ext cx="4958334" cy="4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3011"/>
              </a:lnSpc>
              <a:buNone/>
            </a:pPr>
            <a:r>
              <a:rPr lang="en-US" sz="2550" b="1" dirty="0">
                <a:solidFill>
                  <a:srgbClr val="C8D8EF"/>
                </a:solidFill>
                <a:highlight>
                  <a:srgbClr val="0F1E37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Prompts </a:t>
            </a:r>
            <a:r>
              <a:rPr lang="en-US" sz="2550" b="1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قوالب</a:t>
            </a:r>
            <a:endParaRPr lang="en-US" sz="2550" dirty="0"/>
          </a:p>
        </p:txBody>
      </p:sp>
      <p:sp>
        <p:nvSpPr>
          <p:cNvPr id="27" name="Shape 25"/>
          <p:cNvSpPr/>
          <p:nvPr/>
        </p:nvSpPr>
        <p:spPr>
          <a:xfrm>
            <a:off x="1047750" y="9249834"/>
            <a:ext cx="16192500" cy="1958181"/>
          </a:xfrm>
          <a:custGeom>
            <a:avLst/>
            <a:gdLst/>
            <a:ahLst/>
            <a:cxnLst/>
            <a:rect l="l" t="t" r="r" b="b"/>
            <a:pathLst>
              <a:path w="16192500" h="1958181">
                <a:moveTo>
                  <a:pt x="0" y="0"/>
                </a:moveTo>
                <a:lnTo>
                  <a:pt x="16021050" y="0"/>
                </a:lnTo>
                <a:arcTo wR="171450" hR="171450" stAng="16200000" swAng="5400000"/>
                <a:lnTo>
                  <a:pt x="16192500" y="1786731"/>
                </a:lnTo>
                <a:arcTo wR="171450" hR="171450" stAng="0" swAng="5400000"/>
                <a:lnTo>
                  <a:pt x="0" y="1958181"/>
                </a:lnTo>
                <a:lnTo>
                  <a:pt x="0" y="0"/>
                </a:lnTo>
                <a:close/>
              </a:path>
            </a:pathLst>
          </a:cu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1047750" y="9249834"/>
            <a:ext cx="93133" cy="1958181"/>
          </a:xfrm>
          <a:prstGeom prst="rect">
            <a:avLst/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1521883" y="9516534"/>
            <a:ext cx="15797488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example: Claude queries live ERP stock/pricing data — with per-action approval — before drafting a customer quote.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061762" y="10484115"/>
            <a:ext cx="1579748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8462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 مؤسسي: كلود يستعلم عن بيانات المخزون والأسعار الحية من نظام ERP — بموافقة على كل إجراء — قبل صياغة عرض سعر للعميل</a:t>
            </a:r>
            <a:endParaRPr lang="en-US" sz="2250" dirty="0"/>
          </a:p>
        </p:txBody>
      </p:sp>
      <p:sp>
        <p:nvSpPr>
          <p:cNvPr id="31" name="Shape 29"/>
          <p:cNvSpPr/>
          <p:nvPr/>
        </p:nvSpPr>
        <p:spPr>
          <a:xfrm>
            <a:off x="1047750" y="11208015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1047750" y="11491649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3360930" y="11491649"/>
            <a:ext cx="42672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MASTERING CLAUDE</a:t>
            </a:r>
            <a:endParaRPr lang="en-US" sz="21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16325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408230" y="762000"/>
            <a:ext cx="84904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الإضافات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1564695" cy="1630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969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 — Claude Code Extensions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2126670" y="1828800"/>
            <a:ext cx="5113581" cy="1078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1682"/>
              </a:lnSpc>
              <a:buNone/>
            </a:pPr>
            <a:r>
              <a:rPr lang="en-US" sz="315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الإضافات — امتدادات Claude Code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047750" y="3116527"/>
            <a:ext cx="14716125" cy="1032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947"/>
              </a:lnSpc>
              <a:buNone/>
            </a:pPr>
            <a:r>
              <a:rPr lang="en-US" sz="270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Bundling commands, sub-agents, MCP servers, and Skills together — specific to Claude Code, the agentic coding tool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1047750" y="4644231"/>
            <a:ext cx="7953375" cy="4362318"/>
          </a:xfrm>
          <a:prstGeom prst="roundRect">
            <a:avLst>
              <a:gd name="adj" fmla="val 4367"/>
            </a:avLst>
          </a:prstGeom>
          <a:solidFill>
            <a:srgbClr val="2E1A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466850" y="5063331"/>
            <a:ext cx="7826692" cy="758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3947"/>
              </a:lnSpc>
              <a:buNone/>
            </a:pPr>
            <a:r>
              <a:rPr lang="en-US" sz="630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300" dirty="0"/>
          </a:p>
        </p:txBody>
      </p:sp>
      <p:sp>
        <p:nvSpPr>
          <p:cNvPr id="10" name="Text 8"/>
          <p:cNvSpPr/>
          <p:nvPr/>
        </p:nvSpPr>
        <p:spPr>
          <a:xfrm>
            <a:off x="1466850" y="5954845"/>
            <a:ext cx="732863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3000" b="1" dirty="0">
                <a:solidFill>
                  <a:srgbClr val="F7D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Installed with one command and shared across an engineering team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55333" y="7116895"/>
            <a:ext cx="7826692" cy="525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7143"/>
              </a:lnSpc>
              <a:buNone/>
            </a:pPr>
            <a:r>
              <a:rPr lang="en-US" sz="2400" dirty="0">
                <a:solidFill>
                  <a:srgbClr val="C9A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تُثبَّت بأمر واحد وتُشارَك عبر فريق الهندسة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286875" y="4644231"/>
            <a:ext cx="7953375" cy="4362318"/>
          </a:xfrm>
          <a:prstGeom prst="roundRect">
            <a:avLst>
              <a:gd name="adj" fmla="val 4367"/>
            </a:avLst>
          </a:prstGeom>
          <a:solidFill>
            <a:srgbClr val="2E1A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9705975" y="5063331"/>
            <a:ext cx="7826692" cy="758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3947"/>
              </a:lnSpc>
              <a:buNone/>
            </a:pPr>
            <a:r>
              <a:rPr lang="en-US" sz="630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300" dirty="0"/>
          </a:p>
        </p:txBody>
      </p:sp>
      <p:sp>
        <p:nvSpPr>
          <p:cNvPr id="14" name="Text 12"/>
          <p:cNvSpPr/>
          <p:nvPr/>
        </p:nvSpPr>
        <p:spPr>
          <a:xfrm>
            <a:off x="9705975" y="5954845"/>
            <a:ext cx="7328630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3000" b="1" dirty="0">
                <a:solidFill>
                  <a:srgbClr val="F7D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from a Connector: Plugins configure Claude Code's behavior, Connectors give data access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492520" y="7612195"/>
            <a:ext cx="7328630" cy="10133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7143"/>
              </a:lnSpc>
              <a:buNone/>
            </a:pPr>
            <a:r>
              <a:rPr lang="en-US" sz="2400" dirty="0">
                <a:solidFill>
                  <a:srgbClr val="C9A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تختلف عن الموصل: الإضافة تُهيّئ سلوك Claude Code، بينما الموصل يمنح الوصول للبيانات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047750" y="9069917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1047750" y="9353550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3360930" y="9353550"/>
            <a:ext cx="42672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MASTERING CLAUDE</a:t>
            </a:r>
            <a:endParaRPr lang="en-US" sz="21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657350" y="762000"/>
            <a:ext cx="49522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PILLARS SIDE BY SIDE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330818" y="762000"/>
            <a:ext cx="11882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الركائز الست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52500" y="1276350"/>
            <a:ext cx="13449181" cy="834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969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One to Reach For, and When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4209422" y="1552575"/>
            <a:ext cx="3126079" cy="558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1682"/>
              </a:lnSpc>
              <a:buNone/>
            </a:pPr>
            <a:r>
              <a:rPr lang="en-US" sz="315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متى تستخدم كل ركيزة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52500" y="2548864"/>
            <a:ext cx="16383000" cy="784754"/>
          </a:xfrm>
          <a:prstGeom prst="rect">
            <a:avLst/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099983" y="2758414"/>
            <a:ext cx="1904603" cy="403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2400" b="1" dirty="0">
                <a:solidFill>
                  <a:srgbClr val="2A0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23686" y="2758414"/>
            <a:ext cx="1793875" cy="403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2400" b="1" dirty="0">
                <a:solidFill>
                  <a:srgbClr val="2A0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636662" y="2758414"/>
            <a:ext cx="1753394" cy="403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2400" b="1" dirty="0">
                <a:solidFill>
                  <a:srgbClr val="2A0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809155" y="2758414"/>
            <a:ext cx="1769798" cy="403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2400" b="1" dirty="0">
                <a:solidFill>
                  <a:srgbClr val="2A0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998053" y="2758414"/>
            <a:ext cx="2244761" cy="403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2400" b="1" dirty="0">
                <a:solidFill>
                  <a:srgbClr val="2A0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5658306" y="2758414"/>
            <a:ext cx="1505744" cy="403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2400" b="1" dirty="0">
                <a:solidFill>
                  <a:srgbClr val="2A0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52500" y="3333618"/>
            <a:ext cx="16383000" cy="904214"/>
          </a:xfrm>
          <a:prstGeom prst="rect">
            <a:avLst/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952500" y="4212431"/>
            <a:ext cx="2899833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200150" y="3581268"/>
            <a:ext cx="2491528" cy="421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240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Persists?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3852333" y="4212431"/>
            <a:ext cx="2323703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099983" y="3581268"/>
            <a:ext cx="1904603" cy="421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2400" dirty="0">
                <a:solidFill>
                  <a:srgbClr val="4FE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176036" y="4212431"/>
            <a:ext cx="2212975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423686" y="3581268"/>
            <a:ext cx="1793875" cy="421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2400" dirty="0">
                <a:solidFill>
                  <a:srgbClr val="FF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8389012" y="4212431"/>
            <a:ext cx="2172494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8636662" y="3581268"/>
            <a:ext cx="1753394" cy="421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240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chat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10561505" y="4212431"/>
            <a:ext cx="2188898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10809155" y="3581268"/>
            <a:ext cx="1769798" cy="421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2400" dirty="0">
                <a:solidFill>
                  <a:srgbClr val="4FE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12750403" y="4212431"/>
            <a:ext cx="2660253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12998053" y="3581268"/>
            <a:ext cx="2244761" cy="421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240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15410656" y="4212431"/>
            <a:ext cx="1924844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15658306" y="3581268"/>
            <a:ext cx="1505744" cy="421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2400" dirty="0">
                <a:solidFill>
                  <a:srgbClr val="4FE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952500" y="4237831"/>
            <a:ext cx="16383000" cy="916914"/>
          </a:xfrm>
          <a:prstGeom prst="rect">
            <a:avLst/>
          </a:prstGeom>
          <a:solidFill>
            <a:srgbClr val="0F1E3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952500" y="5129345"/>
            <a:ext cx="2899833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1200150" y="4485481"/>
            <a:ext cx="2491528" cy="434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240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coding?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3852333" y="5129345"/>
            <a:ext cx="2323703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4099983" y="4485481"/>
            <a:ext cx="1904603" cy="434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2400" dirty="0">
                <a:solidFill>
                  <a:srgbClr val="4FE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6176036" y="5129345"/>
            <a:ext cx="2212975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6423686" y="4485481"/>
            <a:ext cx="1793875" cy="434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240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8389012" y="5129345"/>
            <a:ext cx="2172494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8636662" y="4485481"/>
            <a:ext cx="1753394" cy="434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2400" dirty="0">
                <a:solidFill>
                  <a:srgbClr val="4FE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2400" dirty="0"/>
          </a:p>
        </p:txBody>
      </p:sp>
      <p:sp>
        <p:nvSpPr>
          <p:cNvPr id="38" name="Shape 36"/>
          <p:cNvSpPr/>
          <p:nvPr/>
        </p:nvSpPr>
        <p:spPr>
          <a:xfrm>
            <a:off x="10561505" y="5129345"/>
            <a:ext cx="2188898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10809155" y="4485481"/>
            <a:ext cx="1769798" cy="434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2400" dirty="0">
                <a:solidFill>
                  <a:srgbClr val="4FE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2400" dirty="0"/>
          </a:p>
        </p:txBody>
      </p:sp>
      <p:sp>
        <p:nvSpPr>
          <p:cNvPr id="40" name="Shape 38"/>
          <p:cNvSpPr/>
          <p:nvPr/>
        </p:nvSpPr>
        <p:spPr>
          <a:xfrm>
            <a:off x="12750403" y="5129345"/>
            <a:ext cx="2660253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12998053" y="4485481"/>
            <a:ext cx="2244761" cy="434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2400" dirty="0">
                <a:solidFill>
                  <a:srgbClr val="FF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2400" dirty="0"/>
          </a:p>
        </p:txBody>
      </p:sp>
      <p:sp>
        <p:nvSpPr>
          <p:cNvPr id="42" name="Shape 40"/>
          <p:cNvSpPr/>
          <p:nvPr/>
        </p:nvSpPr>
        <p:spPr>
          <a:xfrm>
            <a:off x="15410656" y="5129345"/>
            <a:ext cx="1924844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15658306" y="4485481"/>
            <a:ext cx="1505744" cy="434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240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</a:t>
            </a:r>
            <a:endParaRPr lang="en-US" sz="2400" dirty="0"/>
          </a:p>
        </p:txBody>
      </p:sp>
      <p:sp>
        <p:nvSpPr>
          <p:cNvPr id="44" name="Shape 42"/>
          <p:cNvSpPr/>
          <p:nvPr/>
        </p:nvSpPr>
        <p:spPr>
          <a:xfrm>
            <a:off x="952500" y="5154745"/>
            <a:ext cx="16383000" cy="1313127"/>
          </a:xfrm>
          <a:prstGeom prst="rect">
            <a:avLst/>
          </a:pr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952500" y="6442472"/>
            <a:ext cx="2899833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1200150" y="5402395"/>
            <a:ext cx="2491528" cy="830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240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access?</a:t>
            </a:r>
            <a:endParaRPr lang="en-US" sz="2400" dirty="0"/>
          </a:p>
        </p:txBody>
      </p:sp>
      <p:sp>
        <p:nvSpPr>
          <p:cNvPr id="47" name="Shape 45"/>
          <p:cNvSpPr/>
          <p:nvPr/>
        </p:nvSpPr>
        <p:spPr>
          <a:xfrm>
            <a:off x="3852333" y="6442472"/>
            <a:ext cx="2323703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4099983" y="5402395"/>
            <a:ext cx="1904603" cy="830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2400" dirty="0">
                <a:solidFill>
                  <a:srgbClr val="FF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2400" dirty="0"/>
          </a:p>
        </p:txBody>
      </p:sp>
      <p:sp>
        <p:nvSpPr>
          <p:cNvPr id="49" name="Shape 47"/>
          <p:cNvSpPr/>
          <p:nvPr/>
        </p:nvSpPr>
        <p:spPr>
          <a:xfrm>
            <a:off x="6176036" y="6442472"/>
            <a:ext cx="2212975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6423686" y="5402395"/>
            <a:ext cx="1793875" cy="830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2400" dirty="0">
                <a:solidFill>
                  <a:srgbClr val="FF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2400" dirty="0"/>
          </a:p>
        </p:txBody>
      </p:sp>
      <p:sp>
        <p:nvSpPr>
          <p:cNvPr id="51" name="Shape 49"/>
          <p:cNvSpPr/>
          <p:nvPr/>
        </p:nvSpPr>
        <p:spPr>
          <a:xfrm>
            <a:off x="8389012" y="6442472"/>
            <a:ext cx="2172494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/>
          <p:nvPr/>
        </p:nvSpPr>
        <p:spPr>
          <a:xfrm>
            <a:off x="8636662" y="5402395"/>
            <a:ext cx="1753394" cy="830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2400" dirty="0">
                <a:solidFill>
                  <a:srgbClr val="FF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2400" dirty="0"/>
          </a:p>
        </p:txBody>
      </p:sp>
      <p:sp>
        <p:nvSpPr>
          <p:cNvPr id="53" name="Shape 51"/>
          <p:cNvSpPr/>
          <p:nvPr/>
        </p:nvSpPr>
        <p:spPr>
          <a:xfrm>
            <a:off x="10561505" y="6442472"/>
            <a:ext cx="2188898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4" name="Text 52"/>
          <p:cNvSpPr/>
          <p:nvPr/>
        </p:nvSpPr>
        <p:spPr>
          <a:xfrm>
            <a:off x="10809155" y="5402395"/>
            <a:ext cx="1769798" cy="830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2400" dirty="0">
                <a:solidFill>
                  <a:srgbClr val="4FE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2400" dirty="0"/>
          </a:p>
        </p:txBody>
      </p:sp>
      <p:sp>
        <p:nvSpPr>
          <p:cNvPr id="55" name="Shape 53"/>
          <p:cNvSpPr/>
          <p:nvPr/>
        </p:nvSpPr>
        <p:spPr>
          <a:xfrm>
            <a:off x="12750403" y="6442472"/>
            <a:ext cx="2660253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Text 54"/>
          <p:cNvSpPr/>
          <p:nvPr/>
        </p:nvSpPr>
        <p:spPr>
          <a:xfrm>
            <a:off x="12998053" y="5402395"/>
            <a:ext cx="2244761" cy="830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2400" dirty="0">
                <a:solidFill>
                  <a:srgbClr val="4FE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2400" dirty="0"/>
          </a:p>
        </p:txBody>
      </p:sp>
      <p:sp>
        <p:nvSpPr>
          <p:cNvPr id="57" name="Shape 55"/>
          <p:cNvSpPr/>
          <p:nvPr/>
        </p:nvSpPr>
        <p:spPr>
          <a:xfrm>
            <a:off x="15410656" y="6442472"/>
            <a:ext cx="1924844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/>
          <p:nvPr/>
        </p:nvSpPr>
        <p:spPr>
          <a:xfrm>
            <a:off x="15658306" y="5402395"/>
            <a:ext cx="1505744" cy="830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2400" dirty="0">
                <a:solidFill>
                  <a:srgbClr val="4FE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2400" dirty="0"/>
          </a:p>
        </p:txBody>
      </p:sp>
      <p:sp>
        <p:nvSpPr>
          <p:cNvPr id="59" name="Shape 57"/>
          <p:cNvSpPr/>
          <p:nvPr/>
        </p:nvSpPr>
        <p:spPr>
          <a:xfrm>
            <a:off x="952500" y="6467872"/>
            <a:ext cx="16383000" cy="1300427"/>
          </a:xfrm>
          <a:prstGeom prst="rect">
            <a:avLst/>
          </a:prstGeom>
          <a:solidFill>
            <a:srgbClr val="0F1E3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0" name="Text 58"/>
          <p:cNvSpPr/>
          <p:nvPr/>
        </p:nvSpPr>
        <p:spPr>
          <a:xfrm>
            <a:off x="1200150" y="6715522"/>
            <a:ext cx="2491528" cy="843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240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2400" dirty="0"/>
          </a:p>
        </p:txBody>
      </p:sp>
      <p:sp>
        <p:nvSpPr>
          <p:cNvPr id="61" name="Text 59"/>
          <p:cNvSpPr/>
          <p:nvPr/>
        </p:nvSpPr>
        <p:spPr>
          <a:xfrm>
            <a:off x="4099983" y="6715522"/>
            <a:ext cx="1904603" cy="843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240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work</a:t>
            </a:r>
            <a:endParaRPr lang="en-US" sz="2400" dirty="0"/>
          </a:p>
        </p:txBody>
      </p:sp>
      <p:sp>
        <p:nvSpPr>
          <p:cNvPr id="62" name="Text 60"/>
          <p:cNvSpPr/>
          <p:nvPr/>
        </p:nvSpPr>
        <p:spPr>
          <a:xfrm>
            <a:off x="6423686" y="6715522"/>
            <a:ext cx="1793875" cy="843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240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tasks</a:t>
            </a:r>
            <a:endParaRPr lang="en-US" sz="2400" dirty="0"/>
          </a:p>
        </p:txBody>
      </p:sp>
      <p:sp>
        <p:nvSpPr>
          <p:cNvPr id="63" name="Text 61"/>
          <p:cNvSpPr/>
          <p:nvPr/>
        </p:nvSpPr>
        <p:spPr>
          <a:xfrm>
            <a:off x="8636662" y="6715522"/>
            <a:ext cx="1753394" cy="843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240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</a:t>
            </a:r>
            <a:endParaRPr lang="en-US" sz="2400" dirty="0"/>
          </a:p>
        </p:txBody>
      </p:sp>
      <p:sp>
        <p:nvSpPr>
          <p:cNvPr id="64" name="Text 62"/>
          <p:cNvSpPr/>
          <p:nvPr/>
        </p:nvSpPr>
        <p:spPr>
          <a:xfrm>
            <a:off x="10809155" y="6715522"/>
            <a:ext cx="1769798" cy="843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240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apps</a:t>
            </a:r>
            <a:endParaRPr lang="en-US" sz="2400" dirty="0"/>
          </a:p>
        </p:txBody>
      </p:sp>
      <p:sp>
        <p:nvSpPr>
          <p:cNvPr id="65" name="Text 63"/>
          <p:cNvSpPr/>
          <p:nvPr/>
        </p:nvSpPr>
        <p:spPr>
          <a:xfrm>
            <a:off x="12998053" y="6715522"/>
            <a:ext cx="2244761" cy="843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240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systems</a:t>
            </a:r>
            <a:endParaRPr lang="en-US" sz="2400" dirty="0"/>
          </a:p>
        </p:txBody>
      </p:sp>
      <p:sp>
        <p:nvSpPr>
          <p:cNvPr id="66" name="Text 64"/>
          <p:cNvSpPr/>
          <p:nvPr/>
        </p:nvSpPr>
        <p:spPr>
          <a:xfrm>
            <a:off x="15658306" y="6715522"/>
            <a:ext cx="1505744" cy="843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240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teams</a:t>
            </a:r>
            <a:endParaRPr lang="en-US" sz="2400" dirty="0"/>
          </a:p>
        </p:txBody>
      </p:sp>
      <p:sp>
        <p:nvSpPr>
          <p:cNvPr id="67" name="Shape 65"/>
          <p:cNvSpPr/>
          <p:nvPr/>
        </p:nvSpPr>
        <p:spPr>
          <a:xfrm>
            <a:off x="952500" y="9069917"/>
            <a:ext cx="163830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8" name="Text 66"/>
          <p:cNvSpPr/>
          <p:nvPr/>
        </p:nvSpPr>
        <p:spPr>
          <a:xfrm>
            <a:off x="952500" y="9353550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69" name="Text 67"/>
          <p:cNvSpPr/>
          <p:nvPr/>
        </p:nvSpPr>
        <p:spPr>
          <a:xfrm>
            <a:off x="13456180" y="9353550"/>
            <a:ext cx="42672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MASTERING CLAUDE</a:t>
            </a:r>
            <a:endParaRPr lang="en-US" sz="21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354037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REFERENCE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142574" y="762000"/>
            <a:ext cx="188260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E08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ورقة كلود المرجعية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7478170" cy="834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969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Cheat Sheet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4416418" y="1552575"/>
            <a:ext cx="2823832" cy="558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1682"/>
              </a:lnSpc>
              <a:buNone/>
            </a:pPr>
            <a:r>
              <a:rPr lang="en-US" sz="315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ورقة كلود المرجعية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1047750" y="2548864"/>
            <a:ext cx="7972425" cy="1100138"/>
          </a:xfrm>
          <a:prstGeom prst="roundRect">
            <a:avLst>
              <a:gd name="adj" fmla="val 15584"/>
            </a:avLst>
          </a:prstGeom>
          <a:solidFill>
            <a:srgbClr val="2E1A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428750" y="2872714"/>
            <a:ext cx="2543850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56"/>
              </a:lnSpc>
              <a:buNone/>
            </a:pPr>
            <a:r>
              <a:rPr lang="en-US" sz="2850" b="1" dirty="0">
                <a:solidFill>
                  <a:srgbClr val="F7D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Model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5228312" y="2900759"/>
            <a:ext cx="3410863" cy="434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1429"/>
              </a:lnSpc>
              <a:buNone/>
            </a:pPr>
            <a:r>
              <a:rPr lang="en-US" sz="2400" dirty="0">
                <a:solidFill>
                  <a:srgbClr val="C9A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of the chat window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267825" y="2548864"/>
            <a:ext cx="7972425" cy="1100138"/>
          </a:xfrm>
          <a:prstGeom prst="roundRect">
            <a:avLst>
              <a:gd name="adj" fmla="val 15584"/>
            </a:avLst>
          </a:prstGeom>
          <a:solidFill>
            <a:srgbClr val="2E1A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9648825" y="2872714"/>
            <a:ext cx="1571334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56"/>
              </a:lnSpc>
              <a:buNone/>
            </a:pPr>
            <a:r>
              <a:rPr lang="en-US" sz="2850" b="1" dirty="0">
                <a:solidFill>
                  <a:srgbClr val="F7D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5107180" y="2900759"/>
            <a:ext cx="1752071" cy="434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1429"/>
              </a:lnSpc>
              <a:buNone/>
            </a:pPr>
            <a:r>
              <a:rPr lang="en-US" sz="2400" dirty="0">
                <a:solidFill>
                  <a:srgbClr val="C9A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sidebar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047750" y="3896651"/>
            <a:ext cx="7972425" cy="1100138"/>
          </a:xfrm>
          <a:prstGeom prst="roundRect">
            <a:avLst>
              <a:gd name="adj" fmla="val 15584"/>
            </a:avLst>
          </a:prstGeom>
          <a:solidFill>
            <a:srgbClr val="2E1A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428750" y="4220501"/>
            <a:ext cx="1021953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56"/>
              </a:lnSpc>
              <a:buNone/>
            </a:pPr>
            <a:r>
              <a:rPr lang="en-US" sz="2850" b="1" dirty="0">
                <a:solidFill>
                  <a:srgbClr val="F7D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5172869" y="4248547"/>
            <a:ext cx="3466306" cy="434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1429"/>
              </a:lnSpc>
              <a:buNone/>
            </a:pPr>
            <a:r>
              <a:rPr lang="en-US" sz="2400" dirty="0">
                <a:solidFill>
                  <a:srgbClr val="C9A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→ Capabilities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267825" y="3896651"/>
            <a:ext cx="7972425" cy="1100138"/>
          </a:xfrm>
          <a:prstGeom prst="roundRect">
            <a:avLst>
              <a:gd name="adj" fmla="val 15584"/>
            </a:avLst>
          </a:prstGeom>
          <a:solidFill>
            <a:srgbClr val="2E1A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9648825" y="4220501"/>
            <a:ext cx="2212208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56"/>
              </a:lnSpc>
              <a:buNone/>
            </a:pPr>
            <a:r>
              <a:rPr lang="en-US" sz="2850" b="1" dirty="0">
                <a:solidFill>
                  <a:srgbClr val="F7D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Connectors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13411571" y="4248547"/>
            <a:ext cx="3447680" cy="434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1429"/>
              </a:lnSpc>
              <a:buNone/>
            </a:pPr>
            <a:r>
              <a:rPr lang="en-US" sz="2400" dirty="0">
                <a:solidFill>
                  <a:srgbClr val="C9A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→ Connectors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047750" y="5244439"/>
            <a:ext cx="7972425" cy="1552575"/>
          </a:xfrm>
          <a:prstGeom prst="roundRect">
            <a:avLst>
              <a:gd name="adj" fmla="val 11043"/>
            </a:avLst>
          </a:prstGeom>
          <a:solidFill>
            <a:srgbClr val="2E1A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1428750" y="5568289"/>
            <a:ext cx="3216972" cy="942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56"/>
              </a:lnSpc>
              <a:buNone/>
            </a:pPr>
            <a:r>
              <a:rPr lang="en-US" sz="2850" b="1" dirty="0">
                <a:solidFill>
                  <a:srgbClr val="F7D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Search / Tools</a:t>
            </a:r>
            <a:endParaRPr lang="en-US" sz="2850" dirty="0"/>
          </a:p>
        </p:txBody>
      </p:sp>
      <p:sp>
        <p:nvSpPr>
          <p:cNvPr id="21" name="Text 19"/>
          <p:cNvSpPr/>
          <p:nvPr/>
        </p:nvSpPr>
        <p:spPr>
          <a:xfrm>
            <a:off x="4664867" y="5624513"/>
            <a:ext cx="3974308" cy="830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1429"/>
              </a:lnSpc>
              <a:buNone/>
            </a:pPr>
            <a:r>
              <a:rPr lang="en-US" sz="2400" dirty="0">
                <a:solidFill>
                  <a:srgbClr val="C9A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icon in the message box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267825" y="5244439"/>
            <a:ext cx="7972425" cy="1552575"/>
          </a:xfrm>
          <a:prstGeom prst="roundRect">
            <a:avLst>
              <a:gd name="adj" fmla="val 11043"/>
            </a:avLst>
          </a:prstGeom>
          <a:solidFill>
            <a:srgbClr val="2E1A1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9648825" y="5794507"/>
            <a:ext cx="1526805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56"/>
              </a:lnSpc>
              <a:buNone/>
            </a:pPr>
            <a:r>
              <a:rPr lang="en-US" sz="2850" b="1" dirty="0">
                <a:solidFill>
                  <a:srgbClr val="F7D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10857971" y="5822553"/>
            <a:ext cx="6001279" cy="434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1429"/>
              </a:lnSpc>
              <a:buNone/>
            </a:pPr>
            <a:r>
              <a:rPr lang="en-US" sz="2400" dirty="0">
                <a:solidFill>
                  <a:srgbClr val="C9A7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→ toggle on to recall past chats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1047750" y="9069917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1047750" y="9353550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3360930" y="9353550"/>
            <a:ext cx="42672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MASTERING CLAUDE</a:t>
            </a:r>
            <a:endParaRPr lang="en-US" sz="21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60841" cy="10287000"/>
          </a:xfrm>
          <a:prstGeom prst="rect">
            <a:avLst/>
          </a:prstGeom>
          <a:gradFill rotWithShape="1">
            <a:gsLst>
              <a:gs pos="0">
                <a:srgbClr val="14C8C8">
                  <a:alpha val="100000"/>
                </a:srgbClr>
              </a:gs>
              <a:gs pos="100000">
                <a:srgbClr val="0A7E82">
                  <a:alpha val="100000"/>
                </a:srgbClr>
              </a:gs>
            </a:gsLst>
            <a:lin ang="420000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71500" y="762000"/>
            <a:ext cx="2974843" cy="869950"/>
          </a:xfrm>
          <a:prstGeom prst="roundRect">
            <a:avLst>
              <a:gd name="adj" fmla="val 19708"/>
            </a:avLst>
          </a:prstGeom>
          <a:ln w="25400">
            <a:solidFill>
              <a:srgbClr val="033C3E">
                <a:alpha val="60000"/>
              </a:srgbClr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825500" y="939800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87400" y="93980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9255"/>
              </a:lnSpc>
              <a:buNone/>
            </a:pPr>
            <a:r>
              <a:rPr lang="en-US" sz="2250" b="1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511300" y="1048411"/>
            <a:ext cx="1959147" cy="335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364"/>
              </a:lnSpc>
              <a:buNone/>
            </a:pPr>
            <a:r>
              <a:rPr lang="en-US" sz="1950" b="1" kern="0" spc="234" dirty="0">
                <a:solidFill>
                  <a:srgbClr val="02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LOGO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571500" y="4302125"/>
            <a:ext cx="6839625" cy="2305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0169"/>
              </a:lnSpc>
              <a:buNone/>
            </a:pPr>
            <a:r>
              <a:rPr lang="en-US" sz="21000" b="1" dirty="0">
                <a:solidFill>
                  <a:srgbClr val="0A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1000" dirty="0"/>
          </a:p>
        </p:txBody>
      </p:sp>
      <p:sp>
        <p:nvSpPr>
          <p:cNvPr id="8" name="Text 6"/>
          <p:cNvSpPr/>
          <p:nvPr/>
        </p:nvSpPr>
        <p:spPr>
          <a:xfrm>
            <a:off x="571500" y="9239250"/>
            <a:ext cx="683962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38"/>
              </a:lnSpc>
              <a:buNone/>
            </a:pPr>
            <a:r>
              <a:rPr lang="en-US" sz="2250" b="1" kern="0" spc="450" dirty="0">
                <a:solidFill>
                  <a:srgbClr val="02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7 / 7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8313341" y="2326084"/>
            <a:ext cx="99243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2400" b="1" kern="0" spc="576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313341" y="2916634"/>
            <a:ext cx="9292824" cy="17563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836"/>
              </a:lnSpc>
              <a:buNone/>
            </a:pPr>
            <a:r>
              <a:rPr lang="en-US" sz="6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— Automating Your AI Workflows</a:t>
            </a:r>
            <a:endParaRPr lang="en-US" sz="6150" dirty="0"/>
          </a:p>
        </p:txBody>
      </p:sp>
      <p:sp>
        <p:nvSpPr>
          <p:cNvPr id="11" name="Text 9"/>
          <p:cNvSpPr/>
          <p:nvPr/>
        </p:nvSpPr>
        <p:spPr>
          <a:xfrm>
            <a:off x="7411125" y="4920589"/>
            <a:ext cx="992437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154"/>
              </a:lnSpc>
              <a:buNone/>
            </a:pPr>
            <a:r>
              <a:rPr lang="en-US" sz="3750" b="1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— أتمتة سير عمل الذكاء الاصطناعي</a:t>
            </a:r>
            <a:endParaRPr lang="en-US" sz="3750" dirty="0"/>
          </a:p>
        </p:txBody>
      </p:sp>
      <p:sp>
        <p:nvSpPr>
          <p:cNvPr id="12" name="Shape 10"/>
          <p:cNvSpPr/>
          <p:nvPr/>
        </p:nvSpPr>
        <p:spPr>
          <a:xfrm>
            <a:off x="8313341" y="5873089"/>
            <a:ext cx="2095500" cy="57150"/>
          </a:xfrm>
          <a:prstGeom prst="roundRect">
            <a:avLst>
              <a:gd name="adj" fmla="val 50000"/>
            </a:avLst>
          </a:prstGeom>
          <a:solidFill>
            <a:srgbClr val="14C8C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8313341" y="6215989"/>
            <a:ext cx="8829675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398"/>
              </a:lnSpc>
              <a:buNone/>
            </a:pPr>
            <a:r>
              <a:rPr lang="en-US" sz="25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visual automation platform that connects Claude to the rest of your business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7456091" y="7473289"/>
            <a:ext cx="9429750" cy="525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7143"/>
              </a:lnSpc>
              <a:buNone/>
            </a:pPr>
            <a:r>
              <a:rPr lang="en-US" sz="240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أتمتة بصرية تربط Claude بباقي أنظمة شركتك</a:t>
            </a:r>
            <a:endParaRPr lang="en-US" sz="24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14C8C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195143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98081" y="762000"/>
            <a:ext cx="9973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نظرة عامة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5215467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117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n8n?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5064859" y="1545034"/>
            <a:ext cx="2175391" cy="607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2125"/>
              </a:lnSpc>
              <a:buNone/>
            </a:pPr>
            <a:r>
              <a:rPr lang="en-US" sz="345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إيه هو n8n؟</a:t>
            </a:r>
            <a:endParaRPr lang="en-US" sz="3450" dirty="0"/>
          </a:p>
        </p:txBody>
      </p:sp>
      <p:sp>
        <p:nvSpPr>
          <p:cNvPr id="7" name="Shape 5"/>
          <p:cNvSpPr/>
          <p:nvPr/>
        </p:nvSpPr>
        <p:spPr>
          <a:xfrm>
            <a:off x="1047750" y="2647950"/>
            <a:ext cx="16192500" cy="3786981"/>
          </a:xfrm>
          <a:custGeom>
            <a:avLst/>
            <a:gdLst/>
            <a:ahLst/>
            <a:cxnLst/>
            <a:rect l="l" t="t" r="r" b="b"/>
            <a:pathLst>
              <a:path w="16192500" h="3786981">
                <a:moveTo>
                  <a:pt x="0" y="0"/>
                </a:moveTo>
                <a:lnTo>
                  <a:pt x="16002000" y="0"/>
                </a:lnTo>
                <a:arcTo wR="190500" hR="190500" stAng="16200000" swAng="5400000"/>
                <a:lnTo>
                  <a:pt x="16192500" y="3596481"/>
                </a:lnTo>
                <a:arcTo wR="190500" hR="190500" stAng="0" swAng="5400000"/>
                <a:lnTo>
                  <a:pt x="0" y="3786981"/>
                </a:lnTo>
                <a:lnTo>
                  <a:pt x="0" y="0"/>
                </a:lnTo>
                <a:close/>
              </a:path>
            </a:pathLst>
          </a:custGeom>
          <a:solidFill>
            <a:srgbClr val="0D2E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047750" y="2647950"/>
            <a:ext cx="93133" cy="3786981"/>
          </a:xfrm>
          <a:prstGeom prst="rect">
            <a:avLst/>
          </a:prstGeom>
          <a:solidFill>
            <a:srgbClr val="14C8C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598083" y="3067050"/>
            <a:ext cx="15640516" cy="16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481"/>
              </a:lnSpc>
              <a:buNone/>
            </a:pPr>
            <a:r>
              <a:rPr lang="en-US" sz="3000" dirty="0">
                <a:solidFill>
                  <a:srgbClr val="B5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visual automation platform — n8n connects apps and services on a visual canvas, no full coding required. You drag, connect, and configure boxes called "nodes" to build a working automation.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142534" y="4914900"/>
            <a:ext cx="15640516" cy="1139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47784"/>
              </a:lnSpc>
              <a:buNone/>
            </a:pPr>
            <a:r>
              <a:rPr lang="en-US" sz="2550" dirty="0">
                <a:solidFill>
                  <a:srgbClr val="8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أتمتة بصرية — n8n بيوصل التطبيقات والخدمات على لوحة بصرية من غير ما تحتاج تبرمج بالكامل. تسحب وتربط وتُعدّ صناديق اسمها «عُقد» عشان تبني أتمتة شغّالة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047750" y="6815931"/>
            <a:ext cx="16192500" cy="1550458"/>
          </a:xfrm>
          <a:prstGeom prst="roundRect">
            <a:avLst>
              <a:gd name="adj" fmla="val 11058"/>
            </a:avLst>
          </a:prstGeom>
          <a:solidFill>
            <a:srgbClr val="14C8C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466850" y="7120731"/>
            <a:ext cx="9966360" cy="978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418"/>
              </a:lnSpc>
              <a:buNone/>
            </a:pPr>
            <a:r>
              <a:rPr lang="en-US" sz="2850" b="1" dirty="0">
                <a:solidFill>
                  <a:srgbClr val="03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name is short for "nodemation" — node + automation.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11365010" y="7120731"/>
            <a:ext cx="5456140" cy="978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8571"/>
              </a:lnSpc>
              <a:buNone/>
            </a:pPr>
            <a:r>
              <a:rPr lang="en-US" sz="2400" dirty="0">
                <a:solidFill>
                  <a:srgbClr val="02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الاسم اختصار لكلمة "nodemation" — عُقدة + أتمتة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047750" y="9069917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1047750" y="9353550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4533563" y="9353550"/>
            <a:ext cx="297735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AUTOMATION</a:t>
            </a:r>
            <a:endParaRPr lang="en-US" sz="21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14C8C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32270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TOUR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857750" y="762000"/>
            <a:ext cx="163419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جولة في الواجهة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0073389" cy="834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969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n8n Canvas &amp; Top Bar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3273061" y="1552575"/>
            <a:ext cx="3967189" cy="558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1682"/>
              </a:lnSpc>
              <a:buNone/>
            </a:pPr>
            <a:r>
              <a:rPr lang="en-US" sz="315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العمل والشريط العلوي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1047750" y="2548864"/>
            <a:ext cx="16192500" cy="845741"/>
          </a:xfrm>
          <a:prstGeom prst="rect">
            <a:avLst/>
          </a:prstGeom>
          <a:solidFill>
            <a:srgbClr val="14C8C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352550" y="2777464"/>
            <a:ext cx="5061013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4318"/>
              </a:lnSpc>
              <a:buNone/>
            </a:pPr>
            <a:r>
              <a:rPr lang="en-US" sz="2550" b="1" dirty="0">
                <a:solidFill>
                  <a:srgbClr val="03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6858000" y="2777464"/>
            <a:ext cx="10398062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4318"/>
              </a:lnSpc>
              <a:buNone/>
            </a:pPr>
            <a:r>
              <a:rPr lang="en-US" sz="2550" b="1" dirty="0">
                <a:solidFill>
                  <a:srgbClr val="03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047750" y="3394604"/>
            <a:ext cx="16192500" cy="1458516"/>
          </a:xfrm>
          <a:prstGeom prst="rect">
            <a:avLst/>
          </a:prstGeom>
          <a:solidFill>
            <a:srgbClr val="0D2E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047750" y="4827720"/>
            <a:ext cx="5505450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352550" y="3705754"/>
            <a:ext cx="1346200" cy="427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21"/>
              </a:lnSpc>
              <a:buNone/>
            </a:pPr>
            <a:r>
              <a:rPr lang="en-US" sz="2700" b="1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Bar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862965" y="4126045"/>
            <a:ext cx="538543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8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الشريط العلوي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6553200" y="4827720"/>
            <a:ext cx="10687050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858000" y="3680354"/>
            <a:ext cx="10398062" cy="8997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1705"/>
              </a:lnSpc>
              <a:buNone/>
            </a:pPr>
            <a:r>
              <a:rPr lang="en-US" sz="2550" dirty="0">
                <a:solidFill>
                  <a:srgbClr val="B5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Save, activate, share, view executions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047750" y="4853120"/>
            <a:ext cx="16192500" cy="1471216"/>
          </a:xfrm>
          <a:prstGeom prst="rect">
            <a:avLst/>
          </a:prstGeom>
          <a:solidFill>
            <a:srgbClr val="0B232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1047750" y="6298935"/>
            <a:ext cx="5505450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352550" y="5176970"/>
            <a:ext cx="1296194" cy="427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21"/>
              </a:lnSpc>
              <a:buNone/>
            </a:pPr>
            <a:r>
              <a:rPr lang="en-US" sz="2700" b="1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862965" y="5597261"/>
            <a:ext cx="538543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8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العمل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6553200" y="6298935"/>
            <a:ext cx="10687050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858000" y="5138870"/>
            <a:ext cx="10398062" cy="912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1705"/>
              </a:lnSpc>
              <a:buNone/>
            </a:pPr>
            <a:r>
              <a:rPr lang="en-US" sz="2550" dirty="0">
                <a:solidFill>
                  <a:srgbClr val="B5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workflows visually by connecting nodes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1047750" y="6324335"/>
            <a:ext cx="16192500" cy="1471216"/>
          </a:xfrm>
          <a:prstGeom prst="rect">
            <a:avLst/>
          </a:prstGeom>
          <a:solidFill>
            <a:srgbClr val="0D2E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1047750" y="7770151"/>
            <a:ext cx="5505450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1352550" y="6648185"/>
            <a:ext cx="2134394" cy="427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21"/>
              </a:lnSpc>
              <a:buNone/>
            </a:pPr>
            <a:r>
              <a:rPr lang="en-US" sz="2700" b="1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 Panel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862965" y="7068476"/>
            <a:ext cx="538543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8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العُقد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6553200" y="7770151"/>
            <a:ext cx="10687050" cy="25400"/>
          </a:xfrm>
          <a:prstGeom prst="rect">
            <a:avLst/>
          </a:prstGeom>
          <a:solidFill>
            <a:srgbClr val="0A15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858000" y="6610085"/>
            <a:ext cx="10398062" cy="912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1705"/>
              </a:lnSpc>
              <a:buNone/>
            </a:pPr>
            <a:r>
              <a:rPr lang="en-US" sz="2550" dirty="0">
                <a:solidFill>
                  <a:srgbClr val="B5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"+" to search for and add any app node</a:t>
            </a:r>
            <a:endParaRPr lang="en-US" sz="2550" dirty="0"/>
          </a:p>
        </p:txBody>
      </p:sp>
      <p:sp>
        <p:nvSpPr>
          <p:cNvPr id="28" name="Shape 26"/>
          <p:cNvSpPr/>
          <p:nvPr/>
        </p:nvSpPr>
        <p:spPr>
          <a:xfrm>
            <a:off x="1047750" y="7795551"/>
            <a:ext cx="16192500" cy="1490927"/>
          </a:xfrm>
          <a:prstGeom prst="rect">
            <a:avLst/>
          </a:prstGeom>
          <a:solidFill>
            <a:srgbClr val="0B232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1352550" y="8135541"/>
            <a:ext cx="2629690" cy="427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21"/>
              </a:lnSpc>
              <a:buNone/>
            </a:pPr>
            <a:r>
              <a:rPr lang="en-US" sz="2700" b="1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Executions Log</a:t>
            </a:r>
            <a:endParaRPr lang="en-US" sz="2700" dirty="0"/>
          </a:p>
        </p:txBody>
      </p:sp>
      <p:sp>
        <p:nvSpPr>
          <p:cNvPr id="30" name="Text 28"/>
          <p:cNvSpPr/>
          <p:nvPr/>
        </p:nvSpPr>
        <p:spPr>
          <a:xfrm>
            <a:off x="862965" y="8555831"/>
            <a:ext cx="538543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8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سجلّ التنفيذ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6858000" y="8081301"/>
            <a:ext cx="10398062" cy="957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21705"/>
              </a:lnSpc>
              <a:buNone/>
            </a:pPr>
            <a:r>
              <a:rPr lang="en-US" sz="2550" dirty="0">
                <a:solidFill>
                  <a:srgbClr val="B5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every past run, success or failure, with the exact data that passed through</a:t>
            </a:r>
            <a:endParaRPr lang="en-US" sz="2550" dirty="0"/>
          </a:p>
        </p:txBody>
      </p:sp>
      <p:sp>
        <p:nvSpPr>
          <p:cNvPr id="32" name="Shape 30"/>
          <p:cNvSpPr/>
          <p:nvPr/>
        </p:nvSpPr>
        <p:spPr>
          <a:xfrm>
            <a:off x="1047750" y="9286478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1047750" y="9570112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14533563" y="9570112"/>
            <a:ext cx="297735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AUTOMATION</a:t>
            </a:r>
            <a:endParaRPr lang="en-US" sz="21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14C8C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31694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CONCEPTS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805363" y="762000"/>
            <a:ext cx="165588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المفاهيم الأساسية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1368961" cy="834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969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Workflow, Node &amp; Connection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3206849" y="1552575"/>
            <a:ext cx="4033401" cy="558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1682"/>
              </a:lnSpc>
              <a:buNone/>
            </a:pPr>
            <a:r>
              <a:rPr lang="en-US" sz="315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سير العمل، العُقدة، والاتصال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1047750" y="2606014"/>
            <a:ext cx="5219700" cy="3179101"/>
          </a:xfrm>
          <a:prstGeom prst="roundRect">
            <a:avLst>
              <a:gd name="adj" fmla="val 5992"/>
            </a:avLst>
          </a:prstGeom>
          <a:solidFill>
            <a:srgbClr val="0D2E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047750" y="2606014"/>
            <a:ext cx="5219700" cy="93133"/>
          </a:xfrm>
          <a:prstGeom prst="rect">
            <a:avLst/>
          </a:prstGeom>
          <a:solidFill>
            <a:srgbClr val="14C8C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409700" y="3118247"/>
            <a:ext cx="4945380" cy="582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476"/>
              </a:lnSpc>
              <a:buNone/>
            </a:pPr>
            <a:r>
              <a:rPr lang="en-US" sz="3900" b="1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960120" y="3834474"/>
            <a:ext cx="4945380" cy="491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705"/>
              </a:lnSpc>
              <a:buNone/>
            </a:pPr>
            <a:r>
              <a:rPr lang="en-US" sz="2550" b="1" dirty="0">
                <a:solidFill>
                  <a:srgbClr val="B5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سير العمل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409700" y="4459287"/>
            <a:ext cx="4630674" cy="944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705"/>
              </a:lnSpc>
              <a:buNone/>
            </a:pPr>
            <a:r>
              <a:rPr lang="en-US" sz="2550" dirty="0">
                <a:solidFill>
                  <a:srgbClr val="B5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automation — one saved canvas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6534150" y="2606014"/>
            <a:ext cx="5219700" cy="3179101"/>
          </a:xfrm>
          <a:prstGeom prst="roundRect">
            <a:avLst>
              <a:gd name="adj" fmla="val 5992"/>
            </a:avLst>
          </a:prstGeom>
          <a:solidFill>
            <a:srgbClr val="0D2E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534150" y="2606014"/>
            <a:ext cx="5219700" cy="93133"/>
          </a:xfrm>
          <a:prstGeom prst="rect">
            <a:avLst/>
          </a:prstGeom>
          <a:solidFill>
            <a:srgbClr val="14C8C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896100" y="3118247"/>
            <a:ext cx="4945380" cy="582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476"/>
              </a:lnSpc>
              <a:buNone/>
            </a:pPr>
            <a:r>
              <a:rPr lang="en-US" sz="3900" b="1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6446520" y="3834474"/>
            <a:ext cx="4945380" cy="491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705"/>
              </a:lnSpc>
              <a:buNone/>
            </a:pPr>
            <a:r>
              <a:rPr lang="en-US" sz="2550" b="1" dirty="0">
                <a:solidFill>
                  <a:srgbClr val="B5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العُقدة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6896100" y="4459287"/>
            <a:ext cx="4630674" cy="944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705"/>
              </a:lnSpc>
              <a:buNone/>
            </a:pPr>
            <a:r>
              <a:rPr lang="en-US" sz="2550" dirty="0">
                <a:solidFill>
                  <a:srgbClr val="B5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step or action — a single box on the canvas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12020550" y="2606014"/>
            <a:ext cx="5219700" cy="3179101"/>
          </a:xfrm>
          <a:prstGeom prst="roundRect">
            <a:avLst>
              <a:gd name="adj" fmla="val 5992"/>
            </a:avLst>
          </a:prstGeom>
          <a:solidFill>
            <a:srgbClr val="0D2E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12020550" y="2606014"/>
            <a:ext cx="5219700" cy="93133"/>
          </a:xfrm>
          <a:prstGeom prst="rect">
            <a:avLst/>
          </a:prstGeom>
          <a:solidFill>
            <a:srgbClr val="14C8C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2382500" y="3118247"/>
            <a:ext cx="4945380" cy="582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476"/>
              </a:lnSpc>
              <a:buNone/>
            </a:pPr>
            <a:r>
              <a:rPr lang="en-US" sz="3900" b="1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</a:t>
            </a:r>
            <a:endParaRPr lang="en-US" sz="3900" dirty="0"/>
          </a:p>
        </p:txBody>
      </p:sp>
      <p:sp>
        <p:nvSpPr>
          <p:cNvPr id="20" name="Text 18"/>
          <p:cNvSpPr/>
          <p:nvPr/>
        </p:nvSpPr>
        <p:spPr>
          <a:xfrm>
            <a:off x="11932920" y="3834474"/>
            <a:ext cx="4945380" cy="491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1705"/>
              </a:lnSpc>
              <a:buNone/>
            </a:pPr>
            <a:r>
              <a:rPr lang="en-US" sz="2550" b="1" dirty="0">
                <a:solidFill>
                  <a:srgbClr val="B5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الاتصال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2382500" y="4459287"/>
            <a:ext cx="4630674" cy="944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705"/>
              </a:lnSpc>
              <a:buNone/>
            </a:pPr>
            <a:r>
              <a:rPr lang="en-US" sz="2550" dirty="0">
                <a:solidFill>
                  <a:srgbClr val="B5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line linking nodes — data flows along it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1047750" y="6242315"/>
            <a:ext cx="16192500" cy="1548606"/>
          </a:xfrm>
          <a:custGeom>
            <a:avLst/>
            <a:gdLst/>
            <a:ahLst/>
            <a:cxnLst/>
            <a:rect l="l" t="t" r="r" b="b"/>
            <a:pathLst>
              <a:path w="16192500" h="1548606">
                <a:moveTo>
                  <a:pt x="0" y="0"/>
                </a:moveTo>
                <a:lnTo>
                  <a:pt x="16021050" y="0"/>
                </a:lnTo>
                <a:arcTo wR="171450" hR="171450" stAng="16200000" swAng="5400000"/>
                <a:lnTo>
                  <a:pt x="16192500" y="1377156"/>
                </a:lnTo>
                <a:arcTo wR="171450" hR="171450" stAng="0" swAng="5400000"/>
                <a:lnTo>
                  <a:pt x="0" y="1548606"/>
                </a:lnTo>
                <a:lnTo>
                  <a:pt x="0" y="0"/>
                </a:lnTo>
                <a:close/>
              </a:path>
            </a:pathLst>
          </a:cu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1047750" y="6242315"/>
            <a:ext cx="93133" cy="1548606"/>
          </a:xfrm>
          <a:prstGeom prst="rect">
            <a:avLst/>
          </a:prstGeom>
          <a:solidFill>
            <a:srgbClr val="14C8C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1521883" y="6547115"/>
            <a:ext cx="15823142" cy="977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51"/>
              </a:lnSpc>
              <a:buNone/>
            </a:pPr>
            <a:r>
              <a:rPr lang="en-US" sz="255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data flows: a trigger starts the workflow → each node receives, transforms and passes data → the workflow ends when the last node finishes.</a:t>
            </a:r>
            <a:endParaRPr lang="en-US" sz="2550" dirty="0"/>
          </a:p>
        </p:txBody>
      </p:sp>
      <p:sp>
        <p:nvSpPr>
          <p:cNvPr id="25" name="Shape 23"/>
          <p:cNvSpPr/>
          <p:nvPr/>
        </p:nvSpPr>
        <p:spPr>
          <a:xfrm>
            <a:off x="1047750" y="9069917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1047750" y="9353550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4533563" y="9353550"/>
            <a:ext cx="297735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AUTOMATION</a:t>
            </a:r>
            <a:endParaRPr lang="en-US" sz="21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14C8C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190777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8394" y="762000"/>
            <a:ext cx="88317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المشغّلات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2420410" cy="1546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806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Nodes — What Starts a Workflow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2982385" y="1844146"/>
            <a:ext cx="4257866" cy="978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3418"/>
              </a:lnSpc>
              <a:buNone/>
            </a:pPr>
            <a:r>
              <a:rPr lang="en-US" sz="285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عُقد المشغّل — ما الذي يبدأ سير العمل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047750" y="3032654"/>
            <a:ext cx="15697200" cy="977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51"/>
              </a:lnSpc>
              <a:buNone/>
            </a:pPr>
            <a:r>
              <a:rPr lang="en-US" sz="25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workflow needs exactly one trigger — it defines the event that kicks things off. Trigger nodes always appear on the far left of the canvas.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1047750" y="4390760"/>
            <a:ext cx="16192500" cy="1452563"/>
          </a:xfrm>
          <a:prstGeom prst="roundRect">
            <a:avLst>
              <a:gd name="adj" fmla="val 11803"/>
            </a:avLst>
          </a:prstGeom>
          <a:solidFill>
            <a:srgbClr val="0D2E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428750" y="4693444"/>
            <a:ext cx="2651628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56"/>
              </a:lnSpc>
              <a:buNone/>
            </a:pPr>
            <a:r>
              <a:rPr lang="en-US" sz="2850" b="1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Trigger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1028700" y="5128948"/>
            <a:ext cx="44005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8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المشغّل اليدوي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5753100" y="4903655"/>
            <a:ext cx="737485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B5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only when you click "Test workflow" yourself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047750" y="6052873"/>
            <a:ext cx="16192500" cy="1905000"/>
          </a:xfrm>
          <a:prstGeom prst="roundRect">
            <a:avLst>
              <a:gd name="adj" fmla="val 9000"/>
            </a:avLst>
          </a:prstGeom>
          <a:solidFill>
            <a:srgbClr val="0D2E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428750" y="6355556"/>
            <a:ext cx="3024709" cy="896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56"/>
              </a:lnSpc>
              <a:buNone/>
            </a:pPr>
            <a:r>
              <a:rPr lang="en-US" sz="2850" b="1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Trigger (Cron)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1028700" y="7243498"/>
            <a:ext cx="44005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8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المجدوَل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5753100" y="6791987"/>
            <a:ext cx="8789313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B5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automatically at set times — every hour, day, or week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047750" y="8167423"/>
            <a:ext cx="16192500" cy="1452563"/>
          </a:xfrm>
          <a:prstGeom prst="roundRect">
            <a:avLst>
              <a:gd name="adj" fmla="val 11803"/>
            </a:avLst>
          </a:prstGeom>
          <a:solidFill>
            <a:srgbClr val="0D2E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1428750" y="8470106"/>
            <a:ext cx="303806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56"/>
              </a:lnSpc>
              <a:buNone/>
            </a:pPr>
            <a:r>
              <a:rPr lang="en-US" sz="2850" b="1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Trigger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1028700" y="8905610"/>
            <a:ext cx="44005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8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الـ Webhook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5753100" y="8467063"/>
            <a:ext cx="11439335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B5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when another app sends it data via a unique URL — the most common way to connect n8n to the outside world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047750" y="9829536"/>
            <a:ext cx="16192500" cy="1476375"/>
          </a:xfrm>
          <a:prstGeom prst="roundRect">
            <a:avLst>
              <a:gd name="adj" fmla="val 11613"/>
            </a:avLst>
          </a:prstGeom>
          <a:solidFill>
            <a:srgbClr val="0D2E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1428750" y="10115286"/>
            <a:ext cx="4120515" cy="942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56"/>
              </a:lnSpc>
              <a:buNone/>
            </a:pPr>
            <a:r>
              <a:rPr lang="en-US" sz="2850" b="1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/ Chat / Form Trigger</a:t>
            </a:r>
            <a:endParaRPr lang="en-US" sz="2850" dirty="0"/>
          </a:p>
        </p:txBody>
      </p:sp>
      <p:sp>
        <p:nvSpPr>
          <p:cNvPr id="22" name="Text 20"/>
          <p:cNvSpPr/>
          <p:nvPr/>
        </p:nvSpPr>
        <p:spPr>
          <a:xfrm>
            <a:off x="5753100" y="10354337"/>
            <a:ext cx="11665678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B5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 on an app event, starts from a chat interface, or builds a simple web form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1047750" y="11305911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1047750" y="11589544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4533563" y="11589544"/>
            <a:ext cx="297735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AUTOMATION</a:t>
            </a:r>
            <a:endParaRPr lang="en-US" sz="21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14C8C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407763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&amp; AI NODES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630995" y="762000"/>
            <a:ext cx="346295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العُقد العادية وعُقد الذكاء الاصطناعي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0115008" cy="834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969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Nodes You'll Use Most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4536181" y="1552575"/>
            <a:ext cx="2704068" cy="558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1682"/>
              </a:lnSpc>
              <a:buNone/>
            </a:pPr>
            <a:r>
              <a:rPr lang="en-US" sz="315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أكثر العُقد استخداماً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1047750" y="2548864"/>
            <a:ext cx="5232400" cy="2059120"/>
          </a:xfrm>
          <a:prstGeom prst="roundRect">
            <a:avLst>
              <a:gd name="adj" fmla="val 8326"/>
            </a:avLst>
          </a:prstGeom>
          <a:solidFill>
            <a:srgbClr val="0D2E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371600" y="2853664"/>
            <a:ext cx="5043170" cy="5200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7979"/>
              </a:lnSpc>
              <a:buNone/>
            </a:pPr>
            <a:r>
              <a:rPr lang="en-US" sz="3450" b="1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1371600" y="3449902"/>
            <a:ext cx="504317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B5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or edits fields of data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527800" y="2548864"/>
            <a:ext cx="5232400" cy="2059120"/>
          </a:xfrm>
          <a:prstGeom prst="roundRect">
            <a:avLst>
              <a:gd name="adj" fmla="val 8326"/>
            </a:avLst>
          </a:prstGeom>
          <a:solidFill>
            <a:srgbClr val="0D2E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851650" y="2853664"/>
            <a:ext cx="5043170" cy="5200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7979"/>
              </a:lnSpc>
              <a:buNone/>
            </a:pPr>
            <a:r>
              <a:rPr lang="en-US" sz="3450" b="1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/ Switch</a:t>
            </a:r>
            <a:endParaRPr lang="en-US" sz="3450" dirty="0"/>
          </a:p>
        </p:txBody>
      </p:sp>
      <p:sp>
        <p:nvSpPr>
          <p:cNvPr id="12" name="Text 10"/>
          <p:cNvSpPr/>
          <p:nvPr/>
        </p:nvSpPr>
        <p:spPr>
          <a:xfrm>
            <a:off x="6851650" y="3449902"/>
            <a:ext cx="4722241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B5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Splits the flow into two, or several, paths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007850" y="2548864"/>
            <a:ext cx="5232400" cy="2059120"/>
          </a:xfrm>
          <a:prstGeom prst="roundRect">
            <a:avLst>
              <a:gd name="adj" fmla="val 8326"/>
            </a:avLst>
          </a:prstGeom>
          <a:solidFill>
            <a:srgbClr val="0D2E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2331700" y="2853664"/>
            <a:ext cx="5043170" cy="5200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7979"/>
              </a:lnSpc>
              <a:buNone/>
            </a:pPr>
            <a:r>
              <a:rPr lang="en-US" sz="3450" b="1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12331700" y="3449902"/>
            <a:ext cx="4722241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B5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data from two branches back together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047750" y="4855633"/>
            <a:ext cx="5232400" cy="2912401"/>
          </a:xfrm>
          <a:prstGeom prst="roundRect">
            <a:avLst>
              <a:gd name="adj" fmla="val 5887"/>
            </a:avLst>
          </a:prstGeom>
          <a:solidFill>
            <a:srgbClr val="0D2E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1371600" y="5160433"/>
            <a:ext cx="5043170" cy="5200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7979"/>
              </a:lnSpc>
              <a:buNone/>
            </a:pPr>
            <a:r>
              <a:rPr lang="en-US" sz="3450" b="1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3450" dirty="0"/>
          </a:p>
        </p:txBody>
      </p:sp>
      <p:sp>
        <p:nvSpPr>
          <p:cNvPr id="18" name="Text 16"/>
          <p:cNvSpPr/>
          <p:nvPr/>
        </p:nvSpPr>
        <p:spPr>
          <a:xfrm>
            <a:off x="1371600" y="5756672"/>
            <a:ext cx="4722241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B5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piece of JavaScript for anything the visual nodes can't do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527800" y="4855633"/>
            <a:ext cx="5232400" cy="2912401"/>
          </a:xfrm>
          <a:prstGeom prst="roundRect">
            <a:avLst>
              <a:gd name="adj" fmla="val 5887"/>
            </a:avLst>
          </a:prstGeom>
          <a:solidFill>
            <a:srgbClr val="0D2E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851650" y="5160433"/>
            <a:ext cx="5043170" cy="5200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7979"/>
              </a:lnSpc>
              <a:buNone/>
            </a:pPr>
            <a:r>
              <a:rPr lang="en-US" sz="3450" b="1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Request</a:t>
            </a:r>
            <a:endParaRPr lang="en-US" sz="3450" dirty="0"/>
          </a:p>
        </p:txBody>
      </p:sp>
      <p:sp>
        <p:nvSpPr>
          <p:cNvPr id="21" name="Text 19"/>
          <p:cNvSpPr/>
          <p:nvPr/>
        </p:nvSpPr>
        <p:spPr>
          <a:xfrm>
            <a:off x="6851650" y="5756672"/>
            <a:ext cx="4722241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B5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any external API directly — the universal connector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12007850" y="4855633"/>
            <a:ext cx="5232400" cy="2912401"/>
          </a:xfrm>
          <a:prstGeom prst="roundRect">
            <a:avLst>
              <a:gd name="adj" fmla="val 5887"/>
            </a:avLst>
          </a:prstGeom>
          <a:solidFill>
            <a:srgbClr val="14C8C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12331700" y="5160433"/>
            <a:ext cx="5043170" cy="5200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7979"/>
              </a:lnSpc>
              <a:buNone/>
            </a:pPr>
            <a:r>
              <a:rPr lang="en-US" sz="3450" b="1" dirty="0">
                <a:solidFill>
                  <a:srgbClr val="03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</a:t>
            </a:r>
            <a:endParaRPr lang="en-US" sz="3450" dirty="0"/>
          </a:p>
        </p:txBody>
      </p:sp>
      <p:sp>
        <p:nvSpPr>
          <p:cNvPr id="24" name="Text 22"/>
          <p:cNvSpPr/>
          <p:nvPr/>
        </p:nvSpPr>
        <p:spPr>
          <a:xfrm>
            <a:off x="12331700" y="5756672"/>
            <a:ext cx="4722241" cy="1744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02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Lets an AI model (Claude/GPT) make decisions mid-workflow, guided by a Chat Model, Memory, and Tools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1047750" y="9069917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1047750" y="9353550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4533563" y="9353550"/>
            <a:ext cx="297735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AUTOMATION</a:t>
            </a:r>
            <a:endParaRPr lang="en-US" sz="21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14C8C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17936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NODES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554677" y="762000"/>
            <a:ext cx="21250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عُقد الذكاء الاصطناعي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3153627" cy="1546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806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Agent Node — Its Three Companions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3715602" y="1794404"/>
            <a:ext cx="3524648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2500"/>
              </a:lnSpc>
              <a:buNone/>
            </a:pPr>
            <a:r>
              <a:rPr lang="en-US" sz="300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عُقدة الوكيل الذكي وثلاثة رفقاء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47750" y="3032654"/>
            <a:ext cx="15697200" cy="977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51"/>
              </a:lnSpc>
              <a:buNone/>
            </a:pPr>
            <a:r>
              <a:rPr lang="en-US" sz="2550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Agent node lets a model make decisions mid-workflow — reading data, choosing an action, or writing content — instead of only following fixed rules. This is how n8n connects to Claude or GPT.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1047750" y="4447910"/>
            <a:ext cx="5219700" cy="3449505"/>
          </a:xfrm>
          <a:prstGeom prst="roundRect">
            <a:avLst>
              <a:gd name="adj" fmla="val 5523"/>
            </a:avLst>
          </a:prstGeom>
          <a:solidFill>
            <a:srgbClr val="0D2E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047750" y="4447910"/>
            <a:ext cx="5219700" cy="93133"/>
          </a:xfrm>
          <a:prstGeom prst="rect">
            <a:avLst/>
          </a:prstGeom>
          <a:solidFill>
            <a:srgbClr val="14C8C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390650" y="4922044"/>
            <a:ext cx="4987290" cy="540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58"/>
              </a:lnSpc>
              <a:buNone/>
            </a:pPr>
            <a:r>
              <a:rPr lang="en-US" sz="3600" b="1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Model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937260" y="5577285"/>
            <a:ext cx="498729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8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المحادثة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90650" y="6156325"/>
            <a:ext cx="4669917" cy="944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705"/>
              </a:lnSpc>
              <a:buNone/>
            </a:pPr>
            <a:r>
              <a:rPr lang="en-US" sz="2550" dirty="0">
                <a:solidFill>
                  <a:srgbClr val="B5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AI model powers the agent (Claude, GPT, etc.)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6534150" y="4447910"/>
            <a:ext cx="5219700" cy="3449505"/>
          </a:xfrm>
          <a:prstGeom prst="roundRect">
            <a:avLst>
              <a:gd name="adj" fmla="val 5523"/>
            </a:avLst>
          </a:prstGeom>
          <a:solidFill>
            <a:srgbClr val="0D2E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534150" y="4447910"/>
            <a:ext cx="5219700" cy="93133"/>
          </a:xfrm>
          <a:prstGeom prst="rect">
            <a:avLst/>
          </a:prstGeom>
          <a:solidFill>
            <a:srgbClr val="14C8C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877050" y="4922044"/>
            <a:ext cx="4987290" cy="540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58"/>
              </a:lnSpc>
              <a:buNone/>
            </a:pPr>
            <a:r>
              <a:rPr lang="en-US" sz="3600" b="1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423660" y="5577285"/>
            <a:ext cx="498729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8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الذاكرة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877050" y="6156325"/>
            <a:ext cx="4669917" cy="1398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705"/>
              </a:lnSpc>
              <a:buNone/>
            </a:pPr>
            <a:r>
              <a:rPr lang="en-US" sz="2550" dirty="0">
                <a:solidFill>
                  <a:srgbClr val="B5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Lets the agent remember earlier steps in the conversation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2020550" y="4447910"/>
            <a:ext cx="5219700" cy="3449505"/>
          </a:xfrm>
          <a:prstGeom prst="roundRect">
            <a:avLst>
              <a:gd name="adj" fmla="val 5523"/>
            </a:avLst>
          </a:prstGeom>
          <a:solidFill>
            <a:srgbClr val="0D2E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12020550" y="4447910"/>
            <a:ext cx="5219700" cy="93133"/>
          </a:xfrm>
          <a:prstGeom prst="rect">
            <a:avLst/>
          </a:prstGeom>
          <a:solidFill>
            <a:srgbClr val="14C8C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12363450" y="4922044"/>
            <a:ext cx="4987290" cy="540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58"/>
              </a:lnSpc>
              <a:buNone/>
            </a:pPr>
            <a:r>
              <a:rPr lang="en-US" sz="3600" b="1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11910060" y="5577285"/>
            <a:ext cx="4987290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8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الأدوات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2363450" y="6156325"/>
            <a:ext cx="4669917" cy="1398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705"/>
              </a:lnSpc>
              <a:buNone/>
            </a:pPr>
            <a:r>
              <a:rPr lang="en-US" sz="2550" dirty="0">
                <a:solidFill>
                  <a:srgbClr val="B5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abilities you give the agent, like search or a calculator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047750" y="9069917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1047750" y="9353550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4533563" y="9353550"/>
            <a:ext cx="297735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AUTOMATION</a:t>
            </a:r>
            <a:endParaRPr lang="en-US" sz="21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14C8C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198228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726127" y="762000"/>
            <a:ext cx="140398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تفاصيل متقدمة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0090123" cy="834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969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Expressions &amp; Credentials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3555953" y="1552575"/>
            <a:ext cx="3684296" cy="558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1682"/>
              </a:lnSpc>
              <a:buNone/>
            </a:pPr>
            <a:r>
              <a:rPr lang="en-US" sz="315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التعبيرات وبيانات الاعتماد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1047750" y="2606014"/>
            <a:ext cx="16192500" cy="1586706"/>
          </a:xfrm>
          <a:custGeom>
            <a:avLst/>
            <a:gdLst/>
            <a:ahLst/>
            <a:cxnLst/>
            <a:rect l="l" t="t" r="r" b="b"/>
            <a:pathLst>
              <a:path w="16192500" h="1586706">
                <a:moveTo>
                  <a:pt x="0" y="0"/>
                </a:moveTo>
                <a:lnTo>
                  <a:pt x="16002000" y="0"/>
                </a:lnTo>
                <a:arcTo wR="190500" hR="190500" stAng="16200000" swAng="5400000"/>
                <a:lnTo>
                  <a:pt x="16192500" y="1396206"/>
                </a:lnTo>
                <a:arcTo wR="190500" hR="190500" stAng="0" swAng="5400000"/>
                <a:lnTo>
                  <a:pt x="0" y="1586706"/>
                </a:lnTo>
                <a:lnTo>
                  <a:pt x="0" y="0"/>
                </a:lnTo>
                <a:close/>
              </a:path>
            </a:pathLst>
          </a:custGeom>
          <a:solidFill>
            <a:srgbClr val="0D2E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047750" y="2606014"/>
            <a:ext cx="93133" cy="1586706"/>
          </a:xfrm>
          <a:prstGeom prst="rect">
            <a:avLst/>
          </a:prstGeom>
          <a:solidFill>
            <a:srgbClr val="14C8C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521883" y="2879064"/>
            <a:ext cx="2753687" cy="6053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627"/>
              </a:lnSpc>
              <a:buNone/>
            </a:pPr>
            <a:r>
              <a:rPr lang="en-US" sz="3150" b="1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Expressions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1140883" y="3409818"/>
            <a:ext cx="41910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8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التعبيرات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5674783" y="2929864"/>
            <a:ext cx="11520001" cy="977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51"/>
              </a:lnSpc>
              <a:buNone/>
            </a:pPr>
            <a:r>
              <a:rPr lang="en-US" sz="2550" dirty="0">
                <a:solidFill>
                  <a:srgbClr val="B5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curly braces pull in real data — $json.fieldName inserts a value from the current node; $node["Name"].json pulls from a specific earlier node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047750" y="4440370"/>
            <a:ext cx="16192500" cy="1586706"/>
          </a:xfrm>
          <a:custGeom>
            <a:avLst/>
            <a:gdLst/>
            <a:ahLst/>
            <a:cxnLst/>
            <a:rect l="l" t="t" r="r" b="b"/>
            <a:pathLst>
              <a:path w="16192500" h="1586706">
                <a:moveTo>
                  <a:pt x="0" y="0"/>
                </a:moveTo>
                <a:lnTo>
                  <a:pt x="16002000" y="0"/>
                </a:lnTo>
                <a:arcTo wR="190500" hR="190500" stAng="16200000" swAng="5400000"/>
                <a:lnTo>
                  <a:pt x="16192500" y="1396206"/>
                </a:lnTo>
                <a:arcTo wR="190500" hR="190500" stAng="0" swAng="5400000"/>
                <a:lnTo>
                  <a:pt x="0" y="1586706"/>
                </a:lnTo>
                <a:lnTo>
                  <a:pt x="0" y="0"/>
                </a:lnTo>
                <a:close/>
              </a:path>
            </a:pathLst>
          </a:custGeom>
          <a:solidFill>
            <a:srgbClr val="0D2E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1047750" y="4440370"/>
            <a:ext cx="93133" cy="1586706"/>
          </a:xfrm>
          <a:prstGeom prst="rect">
            <a:avLst/>
          </a:prstGeom>
          <a:solidFill>
            <a:srgbClr val="14C8C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521883" y="4713420"/>
            <a:ext cx="2593975" cy="6053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627"/>
              </a:lnSpc>
              <a:buNone/>
            </a:pPr>
            <a:r>
              <a:rPr lang="en-US" sz="3150" b="1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</a:t>
            </a:r>
            <a:endParaRPr lang="en-US" sz="3150" dirty="0"/>
          </a:p>
        </p:txBody>
      </p:sp>
      <p:sp>
        <p:nvSpPr>
          <p:cNvPr id="15" name="Text 13"/>
          <p:cNvSpPr/>
          <p:nvPr/>
        </p:nvSpPr>
        <p:spPr>
          <a:xfrm>
            <a:off x="1140883" y="5244174"/>
            <a:ext cx="41910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8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الاعتماد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5674783" y="4764220"/>
            <a:ext cx="11520001" cy="977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51"/>
              </a:lnSpc>
              <a:buNone/>
            </a:pPr>
            <a:r>
              <a:rPr lang="en-US" sz="2550" dirty="0">
                <a:solidFill>
                  <a:srgbClr val="B5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any app node → "Create New Credential" → sign in or paste the API key → n8n stores it securely and reuses it everywhere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1047750" y="6274726"/>
            <a:ext cx="16192500" cy="1586706"/>
          </a:xfrm>
          <a:custGeom>
            <a:avLst/>
            <a:gdLst/>
            <a:ahLst/>
            <a:cxnLst/>
            <a:rect l="l" t="t" r="r" b="b"/>
            <a:pathLst>
              <a:path w="16192500" h="1586706">
                <a:moveTo>
                  <a:pt x="0" y="0"/>
                </a:moveTo>
                <a:lnTo>
                  <a:pt x="16002000" y="0"/>
                </a:lnTo>
                <a:arcTo wR="190500" hR="190500" stAng="16200000" swAng="5400000"/>
                <a:lnTo>
                  <a:pt x="16192500" y="1396206"/>
                </a:lnTo>
                <a:arcTo wR="190500" hR="190500" stAng="0" swAng="5400000"/>
                <a:lnTo>
                  <a:pt x="0" y="1586706"/>
                </a:lnTo>
                <a:lnTo>
                  <a:pt x="0" y="0"/>
                </a:lnTo>
                <a:close/>
              </a:path>
            </a:pathLst>
          </a:custGeom>
          <a:solidFill>
            <a:srgbClr val="0D2E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1047750" y="6274726"/>
            <a:ext cx="93133" cy="1586706"/>
          </a:xfrm>
          <a:prstGeom prst="rect">
            <a:avLst/>
          </a:prstGeom>
          <a:solidFill>
            <a:srgbClr val="14C8C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521883" y="6547776"/>
            <a:ext cx="3274338" cy="6053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627"/>
              </a:lnSpc>
              <a:buNone/>
            </a:pPr>
            <a:r>
              <a:rPr lang="en-US" sz="3150" b="1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</a:t>
            </a:r>
            <a:endParaRPr lang="en-US" sz="3150" dirty="0"/>
          </a:p>
        </p:txBody>
      </p:sp>
      <p:sp>
        <p:nvSpPr>
          <p:cNvPr id="20" name="Text 18"/>
          <p:cNvSpPr/>
          <p:nvPr/>
        </p:nvSpPr>
        <p:spPr>
          <a:xfrm>
            <a:off x="1140883" y="7078530"/>
            <a:ext cx="41910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8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التعامل مع الأخطاء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5674783" y="6598576"/>
            <a:ext cx="11520001" cy="977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51"/>
              </a:lnSpc>
              <a:buNone/>
            </a:pPr>
            <a:r>
              <a:rPr lang="en-US" sz="2550" dirty="0">
                <a:solidFill>
                  <a:srgbClr val="B5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Workflow runs automatically when this one fails; Retry On Fail tries again before giving up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1047750" y="9069917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1047750" y="9353550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4533563" y="9353550"/>
            <a:ext cx="297735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AUTOMATION</a:t>
            </a:r>
            <a:endParaRPr lang="en-US" sz="21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14C8C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428573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WORKFLOWS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820172" y="762000"/>
            <a:ext cx="14165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أمثلة سير عمل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9129395" cy="834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969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Real Automations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4905223" y="1552575"/>
            <a:ext cx="2335027" cy="558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1682"/>
              </a:lnSpc>
              <a:buNone/>
            </a:pPr>
            <a:r>
              <a:rPr lang="en-US" sz="315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 أتمتات حقيقية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1047750" y="2606014"/>
            <a:ext cx="16192500" cy="2136775"/>
          </a:xfrm>
          <a:prstGeom prst="roundRect">
            <a:avLst>
              <a:gd name="adj" fmla="val 8915"/>
            </a:avLst>
          </a:prstGeom>
          <a:solidFill>
            <a:srgbClr val="0D2E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428750" y="2948914"/>
            <a:ext cx="169735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3000" b="1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→ Slack Notification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428750" y="3596614"/>
            <a:ext cx="5055129" cy="803275"/>
          </a:xfrm>
          <a:prstGeom prst="roundRect">
            <a:avLst>
              <a:gd name="adj" fmla="val 16601"/>
            </a:avLst>
          </a:prstGeom>
          <a:solidFill>
            <a:srgbClr val="122340"/>
          </a:solidFill>
          <a:ln w="25400">
            <a:solidFill>
              <a:srgbClr val="14C8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701800" y="3812514"/>
            <a:ext cx="466068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B5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Trigger (request submitted)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6655329" y="3826801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9828"/>
              </a:lnSpc>
              <a:buNone/>
            </a:pPr>
            <a:r>
              <a:rPr lang="en-US" sz="2700" b="1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7169679" y="3596614"/>
            <a:ext cx="2817019" cy="803275"/>
          </a:xfrm>
          <a:prstGeom prst="roundRect">
            <a:avLst>
              <a:gd name="adj" fmla="val 16601"/>
            </a:avLst>
          </a:prstGeom>
          <a:solidFill>
            <a:srgbClr val="122340"/>
          </a:solidFill>
          <a:ln w="25400">
            <a:solidFill>
              <a:srgbClr val="2E5A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7442729" y="3812514"/>
            <a:ext cx="235542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B5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(clean fields)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0158149" y="3826801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9828"/>
              </a:lnSpc>
              <a:buNone/>
            </a:pPr>
            <a:r>
              <a:rPr lang="en-US" sz="2700" b="1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10672499" y="3596614"/>
            <a:ext cx="4896379" cy="803275"/>
          </a:xfrm>
          <a:prstGeom prst="roundRect">
            <a:avLst>
              <a:gd name="adj" fmla="val 16601"/>
            </a:avLst>
          </a:prstGeom>
          <a:solidFill>
            <a:srgbClr val="122340"/>
          </a:solidFill>
          <a:ln w="25400">
            <a:solidFill>
              <a:srgbClr val="2E5A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0945549" y="3812514"/>
            <a:ext cx="449717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B5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(post to the right channel)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047750" y="5028538"/>
            <a:ext cx="16192500" cy="2508250"/>
          </a:xfrm>
          <a:prstGeom prst="roundRect">
            <a:avLst>
              <a:gd name="adj" fmla="val 7595"/>
            </a:avLst>
          </a:prstGeom>
          <a:solidFill>
            <a:srgbClr val="0D2E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428750" y="5371438"/>
            <a:ext cx="169735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3000" b="1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→ AI Agent → Email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1428750" y="6019138"/>
            <a:ext cx="3503613" cy="1174750"/>
          </a:xfrm>
          <a:prstGeom prst="roundRect">
            <a:avLst>
              <a:gd name="adj" fmla="val 11351"/>
            </a:avLst>
          </a:prstGeom>
          <a:solidFill>
            <a:srgbClr val="122340"/>
          </a:solidFill>
          <a:ln w="25400">
            <a:solidFill>
              <a:srgbClr val="14C8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1701800" y="6235038"/>
            <a:ext cx="306262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B5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(new inquiry)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5103812" y="6435064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9828"/>
              </a:lnSpc>
              <a:buNone/>
            </a:pPr>
            <a:r>
              <a:rPr lang="en-US" sz="2700" b="1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22" name="Shape 20"/>
          <p:cNvSpPr/>
          <p:nvPr/>
        </p:nvSpPr>
        <p:spPr>
          <a:xfrm>
            <a:off x="5618162" y="6019138"/>
            <a:ext cx="5174985" cy="1174750"/>
          </a:xfrm>
          <a:prstGeom prst="roundRect">
            <a:avLst>
              <a:gd name="adj" fmla="val 11351"/>
            </a:avLst>
          </a:prstGeom>
          <a:solidFill>
            <a:srgbClr val="122340"/>
          </a:solidFill>
          <a:ln w="25400">
            <a:solidFill>
              <a:srgbClr val="E080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5891212" y="6235038"/>
            <a:ext cx="478413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F7D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with Claude (drafts a reply)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0964598" y="6435064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9828"/>
              </a:lnSpc>
              <a:buNone/>
            </a:pPr>
            <a:r>
              <a:rPr lang="en-US" sz="2700" b="1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25" name="Shape 23"/>
          <p:cNvSpPr/>
          <p:nvPr/>
        </p:nvSpPr>
        <p:spPr>
          <a:xfrm>
            <a:off x="11478948" y="6019138"/>
            <a:ext cx="5380302" cy="1174750"/>
          </a:xfrm>
          <a:prstGeom prst="roundRect">
            <a:avLst>
              <a:gd name="adj" fmla="val 11351"/>
            </a:avLst>
          </a:prstGeom>
          <a:solidFill>
            <a:srgbClr val="122340"/>
          </a:solidFill>
          <a:ln w="25400">
            <a:solidFill>
              <a:srgbClr val="2E5A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11751998" y="6235038"/>
            <a:ext cx="499561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B5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Email (for review or direct send)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1047750" y="7822539"/>
            <a:ext cx="16192500" cy="2508250"/>
          </a:xfrm>
          <a:prstGeom prst="roundRect">
            <a:avLst>
              <a:gd name="adj" fmla="val 7595"/>
            </a:avLst>
          </a:prstGeom>
          <a:solidFill>
            <a:srgbClr val="0D2E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1428750" y="8165439"/>
            <a:ext cx="169735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3000" b="1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→ API → Google Sheets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1428750" y="8813139"/>
            <a:ext cx="4435078" cy="1174750"/>
          </a:xfrm>
          <a:prstGeom prst="roundRect">
            <a:avLst>
              <a:gd name="adj" fmla="val 11351"/>
            </a:avLst>
          </a:prstGeom>
          <a:solidFill>
            <a:srgbClr val="122340"/>
          </a:solidFill>
          <a:ln w="25400">
            <a:solidFill>
              <a:srgbClr val="14C8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1701800" y="9029039"/>
            <a:ext cx="402203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B5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Trigger (every morning)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6035278" y="9229063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9828"/>
              </a:lnSpc>
              <a:buNone/>
            </a:pPr>
            <a:r>
              <a:rPr lang="en-US" sz="2700" b="1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32" name="Shape 30"/>
          <p:cNvSpPr/>
          <p:nvPr/>
        </p:nvSpPr>
        <p:spPr>
          <a:xfrm>
            <a:off x="6549628" y="8813139"/>
            <a:ext cx="4254235" cy="1174750"/>
          </a:xfrm>
          <a:prstGeom prst="roundRect">
            <a:avLst>
              <a:gd name="adj" fmla="val 11351"/>
            </a:avLst>
          </a:prstGeom>
          <a:solidFill>
            <a:srgbClr val="122340"/>
          </a:solidFill>
          <a:ln w="25400">
            <a:solidFill>
              <a:srgbClr val="2E5A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6822678" y="9029039"/>
            <a:ext cx="3835762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B5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Request (fetch fresh data)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10975314" y="9229063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69828"/>
              </a:lnSpc>
              <a:buNone/>
            </a:pPr>
            <a:r>
              <a:rPr lang="en-US" sz="2700" b="1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35" name="Shape 33"/>
          <p:cNvSpPr/>
          <p:nvPr/>
        </p:nvSpPr>
        <p:spPr>
          <a:xfrm>
            <a:off x="11489664" y="8813139"/>
            <a:ext cx="5369587" cy="1174750"/>
          </a:xfrm>
          <a:prstGeom prst="roundRect">
            <a:avLst>
              <a:gd name="adj" fmla="val 11351"/>
            </a:avLst>
          </a:prstGeom>
          <a:solidFill>
            <a:srgbClr val="122340"/>
          </a:solidFill>
          <a:ln w="25400">
            <a:solidFill>
              <a:srgbClr val="2E5A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11762714" y="9029039"/>
            <a:ext cx="498457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B5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Sheets (append to tracking sheet)</a:t>
            </a:r>
            <a:endParaRPr lang="en-US" sz="2250" dirty="0"/>
          </a:p>
        </p:txBody>
      </p:sp>
      <p:sp>
        <p:nvSpPr>
          <p:cNvPr id="37" name="Shape 35"/>
          <p:cNvSpPr/>
          <p:nvPr/>
        </p:nvSpPr>
        <p:spPr>
          <a:xfrm>
            <a:off x="1047750" y="10330789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1047750" y="10614422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14533563" y="10614422"/>
            <a:ext cx="297735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AUTOMATION</a:t>
            </a:r>
            <a:endParaRPr lang="en-US" sz="21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14C8C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354037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REFERENCE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142574" y="762000"/>
            <a:ext cx="199698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ورقة n8n المرجعية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1192007" cy="792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806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Cheat Sheet &amp; Deployment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1603209" y="1535377"/>
            <a:ext cx="5637041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2500"/>
              </a:lnSpc>
              <a:buNone/>
            </a:pPr>
            <a:r>
              <a:rPr lang="en-US" sz="300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ورقة n8n المرجعية وخيارات الاستضافة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047750" y="2468827"/>
            <a:ext cx="7981950" cy="1000125"/>
          </a:xfrm>
          <a:prstGeom prst="roundRect">
            <a:avLst>
              <a:gd name="adj" fmla="val 17143"/>
            </a:avLst>
          </a:prstGeom>
          <a:solidFill>
            <a:srgbClr val="0D2E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390650" y="2754577"/>
            <a:ext cx="209564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713"/>
              </a:lnSpc>
              <a:buNone/>
            </a:pPr>
            <a:r>
              <a:rPr lang="en-US" sz="2700" b="1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Node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046742" y="2770717"/>
            <a:ext cx="3640058" cy="434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1429"/>
              </a:lnSpc>
              <a:buNone/>
            </a:pPr>
            <a:r>
              <a:rPr lang="en-US" sz="2400" dirty="0">
                <a:solidFill>
                  <a:srgbClr val="B5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"+" button on the canvas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258300" y="2468827"/>
            <a:ext cx="7981950" cy="1000125"/>
          </a:xfrm>
          <a:prstGeom prst="roundRect">
            <a:avLst>
              <a:gd name="adj" fmla="val 17143"/>
            </a:avLst>
          </a:prstGeom>
          <a:solidFill>
            <a:srgbClr val="0D2E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9601200" y="2754577"/>
            <a:ext cx="321339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713"/>
              </a:lnSpc>
              <a:buNone/>
            </a:pPr>
            <a:r>
              <a:rPr lang="en-US" sz="2700" b="1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the Workflow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2391589" y="2770717"/>
            <a:ext cx="4505761" cy="434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1429"/>
              </a:lnSpc>
              <a:buNone/>
            </a:pPr>
            <a:r>
              <a:rPr lang="en-US" sz="2400" dirty="0">
                <a:solidFill>
                  <a:srgbClr val="B5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"Test workflow" button, top bar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047750" y="3697552"/>
            <a:ext cx="7981950" cy="1000125"/>
          </a:xfrm>
          <a:prstGeom prst="roundRect">
            <a:avLst>
              <a:gd name="adj" fmla="val 17143"/>
            </a:avLst>
          </a:prstGeom>
          <a:solidFill>
            <a:srgbClr val="0D2E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390650" y="3983302"/>
            <a:ext cx="146757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713"/>
              </a:lnSpc>
              <a:buNone/>
            </a:pPr>
            <a:r>
              <a:rPr lang="en-US" sz="2700" b="1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4195008" y="3999442"/>
            <a:ext cx="4491792" cy="434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1429"/>
              </a:lnSpc>
              <a:buNone/>
            </a:pPr>
            <a:r>
              <a:rPr lang="en-US" sz="2400" dirty="0">
                <a:solidFill>
                  <a:srgbClr val="B5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Toggle, top-right of the canvas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258300" y="3697552"/>
            <a:ext cx="7981950" cy="1000125"/>
          </a:xfrm>
          <a:prstGeom prst="roundRect">
            <a:avLst>
              <a:gd name="adj" fmla="val 17143"/>
            </a:avLst>
          </a:prstGeom>
          <a:solidFill>
            <a:srgbClr val="0D2E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9601200" y="3983302"/>
            <a:ext cx="280840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713"/>
              </a:lnSpc>
              <a:buNone/>
            </a:pPr>
            <a:r>
              <a:rPr lang="en-US" sz="2700" b="1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Executions Log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2051942" y="3999442"/>
            <a:ext cx="4845407" cy="434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1429"/>
              </a:lnSpc>
              <a:buNone/>
            </a:pPr>
            <a:r>
              <a:rPr lang="en-US" sz="2400" dirty="0">
                <a:solidFill>
                  <a:srgbClr val="B5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Executions tab — every past run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047750" y="4926277"/>
            <a:ext cx="7981950" cy="1428750"/>
          </a:xfrm>
          <a:prstGeom prst="roundRect">
            <a:avLst>
              <a:gd name="adj" fmla="val 12000"/>
            </a:avLst>
          </a:prstGeom>
          <a:solidFill>
            <a:srgbClr val="0D2E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1390650" y="5426340"/>
            <a:ext cx="205431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713"/>
              </a:lnSpc>
              <a:buNone/>
            </a:pPr>
            <a:r>
              <a:rPr lang="en-US" sz="2700" b="1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3877773" y="5442479"/>
            <a:ext cx="4809027" cy="434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1429"/>
              </a:lnSpc>
              <a:buNone/>
            </a:pPr>
            <a:r>
              <a:rPr lang="en-US" sz="2400" dirty="0">
                <a:solidFill>
                  <a:srgbClr val="B5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any app node, or Settings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258300" y="4926277"/>
            <a:ext cx="7981950" cy="1428750"/>
          </a:xfrm>
          <a:prstGeom prst="roundRect">
            <a:avLst>
              <a:gd name="adj" fmla="val 12000"/>
            </a:avLst>
          </a:prstGeom>
          <a:solidFill>
            <a:srgbClr val="0D2E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9601200" y="5212027"/>
            <a:ext cx="2595298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713"/>
              </a:lnSpc>
              <a:buNone/>
            </a:pPr>
            <a:r>
              <a:rPr lang="en-US" sz="2700" b="1" dirty="0">
                <a:solidFill>
                  <a:srgbClr val="14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vs Self-Hosted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12212445" y="5269177"/>
            <a:ext cx="468490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2500"/>
              </a:lnSpc>
              <a:buNone/>
            </a:pPr>
            <a:r>
              <a:rPr lang="en-US" sz="2250" dirty="0">
                <a:solidFill>
                  <a:srgbClr val="B5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Cloud: nothing to set up · Self-Hosted: full control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1047750" y="6736027"/>
            <a:ext cx="16192500" cy="1407583"/>
          </a:xfrm>
          <a:prstGeom prst="roundRect">
            <a:avLst>
              <a:gd name="adj" fmla="val 12180"/>
            </a:avLst>
          </a:prstGeom>
          <a:solidFill>
            <a:srgbClr val="14C8C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1428750" y="7002727"/>
            <a:ext cx="15916275" cy="912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58"/>
              </a:lnSpc>
              <a:buNone/>
            </a:pPr>
            <a:r>
              <a:rPr lang="en-US" sz="2550" b="1" dirty="0">
                <a:solidFill>
                  <a:srgbClr val="03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set an Error Workflow for anything running unattended — a separate workflow that runs automatically when this one fails.</a:t>
            </a:r>
            <a:endParaRPr lang="en-US" sz="2550" dirty="0"/>
          </a:p>
        </p:txBody>
      </p:sp>
      <p:sp>
        <p:nvSpPr>
          <p:cNvPr id="27" name="Shape 25"/>
          <p:cNvSpPr/>
          <p:nvPr/>
        </p:nvSpPr>
        <p:spPr>
          <a:xfrm>
            <a:off x="1047750" y="9069917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1047750" y="9353550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4533563" y="9353550"/>
            <a:ext cx="297735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AUTOMATION</a:t>
            </a:r>
            <a:endParaRPr lang="en-US" sz="21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866775"/>
            <a:ext cx="533400" cy="57150"/>
          </a:xfrm>
          <a:prstGeom prst="roundRect">
            <a:avLst>
              <a:gd name="adj" fmla="val 50000"/>
            </a:avLst>
          </a:prstGeom>
          <a:solidFill>
            <a:srgbClr val="F5B9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52600" y="762000"/>
            <a:ext cx="30991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336" dirty="0">
                <a:solidFill>
                  <a:srgbClr val="F5B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741466" y="762000"/>
            <a:ext cx="9105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dirty="0">
                <a:solidFill>
                  <a:srgbClr val="F5B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أهم النقاط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0057527" cy="834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969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You Now Know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4378001" y="1527837"/>
            <a:ext cx="2862249" cy="582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2895"/>
              </a:lnSpc>
              <a:buNone/>
            </a:pPr>
            <a:r>
              <a:rPr lang="en-US" sz="3300" b="1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اللي بقيت تعرفه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1047750" y="2567914"/>
            <a:ext cx="16192500" cy="1445816"/>
          </a:xfrm>
          <a:custGeom>
            <a:avLst/>
            <a:gdLst/>
            <a:ahLst/>
            <a:cxnLst/>
            <a:rect l="l" t="t" r="r" b="b"/>
            <a:pathLst>
              <a:path w="16192500" h="1445816">
                <a:moveTo>
                  <a:pt x="0" y="0"/>
                </a:moveTo>
                <a:lnTo>
                  <a:pt x="16021050" y="0"/>
                </a:lnTo>
                <a:arcTo wR="171450" hR="171450" stAng="16200000" swAng="5400000"/>
                <a:lnTo>
                  <a:pt x="16192500" y="1274366"/>
                </a:lnTo>
                <a:arcTo wR="171450" hR="171450" stAng="0" swAng="5400000"/>
                <a:lnTo>
                  <a:pt x="0" y="1445816"/>
                </a:lnTo>
                <a:lnTo>
                  <a:pt x="0" y="0"/>
                </a:lnTo>
                <a:close/>
              </a:path>
            </a:pathLst>
          </a:cu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047750" y="2567914"/>
            <a:ext cx="93133" cy="1445816"/>
          </a:xfrm>
          <a:prstGeom prst="rect">
            <a:avLst/>
          </a:prstGeom>
          <a:solidFill>
            <a:srgbClr val="F5B9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521883" y="2976430"/>
            <a:ext cx="628650" cy="628650"/>
          </a:xfrm>
          <a:prstGeom prst="roundRect">
            <a:avLst>
              <a:gd name="adj" fmla="val 24242"/>
            </a:avLst>
          </a:prstGeom>
          <a:solidFill>
            <a:srgbClr val="F5B9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483783" y="2976430"/>
            <a:ext cx="7048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8017"/>
              </a:lnSpc>
              <a:buNone/>
            </a:pPr>
            <a:r>
              <a:rPr lang="en-US" sz="2700" b="1" dirty="0">
                <a:solidFill>
                  <a:srgbClr val="0A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2474383" y="2853664"/>
            <a:ext cx="15823354" cy="483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21"/>
              </a:lnSpc>
              <a:buNone/>
            </a:pPr>
            <a:r>
              <a:rPr lang="en-US" sz="27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a skill, not magic — myths busted, limits understood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035897" y="3299354"/>
            <a:ext cx="1582335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مهارة، مش سحر — كسرنا الخرافات وفهمنا الحدود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047750" y="4223279"/>
            <a:ext cx="16192500" cy="1445816"/>
          </a:xfrm>
          <a:custGeom>
            <a:avLst/>
            <a:gdLst/>
            <a:ahLst/>
            <a:cxnLst/>
            <a:rect l="l" t="t" r="r" b="b"/>
            <a:pathLst>
              <a:path w="16192500" h="1445816">
                <a:moveTo>
                  <a:pt x="0" y="0"/>
                </a:moveTo>
                <a:lnTo>
                  <a:pt x="16021050" y="0"/>
                </a:lnTo>
                <a:arcTo wR="171450" hR="171450" stAng="16200000" swAng="5400000"/>
                <a:lnTo>
                  <a:pt x="16192500" y="1274366"/>
                </a:lnTo>
                <a:arcTo wR="171450" hR="171450" stAng="0" swAng="5400000"/>
                <a:lnTo>
                  <a:pt x="0" y="1445816"/>
                </a:lnTo>
                <a:lnTo>
                  <a:pt x="0" y="0"/>
                </a:lnTo>
                <a:close/>
              </a:path>
            </a:pathLst>
          </a:cu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1047750" y="4223279"/>
            <a:ext cx="93133" cy="1445816"/>
          </a:xfrm>
          <a:prstGeom prst="rect">
            <a:avLst/>
          </a:prstGeom>
          <a:solidFill>
            <a:srgbClr val="2FCC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1521883" y="4631796"/>
            <a:ext cx="628650" cy="628650"/>
          </a:xfrm>
          <a:prstGeom prst="roundRect">
            <a:avLst>
              <a:gd name="adj" fmla="val 24242"/>
            </a:avLst>
          </a:prstGeom>
          <a:solidFill>
            <a:srgbClr val="2FCC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483783" y="4631796"/>
            <a:ext cx="7048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8017"/>
              </a:lnSpc>
              <a:buNone/>
            </a:pPr>
            <a:r>
              <a:rPr lang="en-US" sz="2700" b="1" dirty="0">
                <a:solidFill>
                  <a:srgbClr val="0620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2474383" y="4509029"/>
            <a:ext cx="15823354" cy="483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21"/>
              </a:lnSpc>
              <a:buNone/>
            </a:pPr>
            <a:r>
              <a:rPr lang="en-US" sz="27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4Ds and 8 frameworks turn casual use into professional prompting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035897" y="4954720"/>
            <a:ext cx="1582335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قاعدة 4D والأطر الثمانية تحوّل الاستخدام العادي لهندسة أوامر احترافية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047750" y="5878645"/>
            <a:ext cx="16192500" cy="1445816"/>
          </a:xfrm>
          <a:custGeom>
            <a:avLst/>
            <a:gdLst/>
            <a:ahLst/>
            <a:cxnLst/>
            <a:rect l="l" t="t" r="r" b="b"/>
            <a:pathLst>
              <a:path w="16192500" h="1445816">
                <a:moveTo>
                  <a:pt x="0" y="0"/>
                </a:moveTo>
                <a:lnTo>
                  <a:pt x="16021050" y="0"/>
                </a:lnTo>
                <a:arcTo wR="171450" hR="171450" stAng="16200000" swAng="5400000"/>
                <a:lnTo>
                  <a:pt x="16192500" y="1274366"/>
                </a:lnTo>
                <a:arcTo wR="171450" hR="171450" stAng="0" swAng="5400000"/>
                <a:lnTo>
                  <a:pt x="0" y="1445816"/>
                </a:lnTo>
                <a:lnTo>
                  <a:pt x="0" y="0"/>
                </a:lnTo>
                <a:close/>
              </a:path>
            </a:pathLst>
          </a:cu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1047750" y="5878645"/>
            <a:ext cx="93133" cy="1445816"/>
          </a:xfrm>
          <a:prstGeom prst="rect">
            <a:avLst/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1521883" y="6287162"/>
            <a:ext cx="628650" cy="628650"/>
          </a:xfrm>
          <a:prstGeom prst="roundRect">
            <a:avLst>
              <a:gd name="adj" fmla="val 24242"/>
            </a:avLst>
          </a:prstGeom>
          <a:solidFill>
            <a:srgbClr val="FF6F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1483783" y="6287162"/>
            <a:ext cx="7048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8017"/>
              </a:lnSpc>
              <a:buNone/>
            </a:pPr>
            <a:r>
              <a:rPr lang="en-US" sz="2700" b="1" dirty="0">
                <a:solidFill>
                  <a:srgbClr val="2E07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2474383" y="6164395"/>
            <a:ext cx="15823354" cy="483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21"/>
              </a:lnSpc>
              <a:buNone/>
            </a:pPr>
            <a:r>
              <a:rPr lang="en-US" sz="27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clusters map every daily task to the right AI tool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1035897" y="6610085"/>
            <a:ext cx="1582335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 مجموعات تربط كل مهمة يومية بالأداة المناسبة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1047750" y="7534010"/>
            <a:ext cx="16192500" cy="1445816"/>
          </a:xfrm>
          <a:custGeom>
            <a:avLst/>
            <a:gdLst/>
            <a:ahLst/>
            <a:cxnLst/>
            <a:rect l="l" t="t" r="r" b="b"/>
            <a:pathLst>
              <a:path w="16192500" h="1445816">
                <a:moveTo>
                  <a:pt x="0" y="0"/>
                </a:moveTo>
                <a:lnTo>
                  <a:pt x="16021050" y="0"/>
                </a:lnTo>
                <a:arcTo wR="171450" hR="171450" stAng="16200000" swAng="5400000"/>
                <a:lnTo>
                  <a:pt x="16192500" y="1274366"/>
                </a:lnTo>
                <a:arcTo wR="171450" hR="171450" stAng="0" swAng="5400000"/>
                <a:lnTo>
                  <a:pt x="0" y="1445816"/>
                </a:lnTo>
                <a:lnTo>
                  <a:pt x="0" y="0"/>
                </a:lnTo>
                <a:close/>
              </a:path>
            </a:pathLst>
          </a:cu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1047750" y="7534010"/>
            <a:ext cx="93133" cy="1445816"/>
          </a:xfrm>
          <a:prstGeom prst="rect">
            <a:avLst/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1521883" y="7942527"/>
            <a:ext cx="628650" cy="628650"/>
          </a:xfrm>
          <a:prstGeom prst="roundRect">
            <a:avLst>
              <a:gd name="adj" fmla="val 24242"/>
            </a:avLst>
          </a:prstGeom>
          <a:solidFill>
            <a:srgbClr val="E080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1483783" y="7942527"/>
            <a:ext cx="7048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8017"/>
              </a:lnSpc>
              <a:buNone/>
            </a:pPr>
            <a:r>
              <a:rPr lang="en-US" sz="2700" b="1" dirty="0">
                <a:solidFill>
                  <a:srgbClr val="2A0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700" dirty="0"/>
          </a:p>
        </p:txBody>
      </p:sp>
      <p:sp>
        <p:nvSpPr>
          <p:cNvPr id="29" name="Text 27"/>
          <p:cNvSpPr/>
          <p:nvPr/>
        </p:nvSpPr>
        <p:spPr>
          <a:xfrm>
            <a:off x="2474383" y="7819760"/>
            <a:ext cx="15823354" cy="483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21"/>
              </a:lnSpc>
              <a:buNone/>
            </a:pPr>
            <a:r>
              <a:rPr lang="en-US" sz="27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Claude: Projects, Skills, Artifacts, Connectors, and MCP work together</a:t>
            </a:r>
            <a:endParaRPr lang="en-US" sz="2700" dirty="0"/>
          </a:p>
        </p:txBody>
      </p:sp>
      <p:sp>
        <p:nvSpPr>
          <p:cNvPr id="30" name="Text 28"/>
          <p:cNvSpPr/>
          <p:nvPr/>
        </p:nvSpPr>
        <p:spPr>
          <a:xfrm>
            <a:off x="1035897" y="8265451"/>
            <a:ext cx="1582335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Claude: المشاريع والمهارات والمخرجات والموصلات وMCP تعمل معاً</a:t>
            </a:r>
            <a:endParaRPr lang="en-US" sz="2250" dirty="0"/>
          </a:p>
        </p:txBody>
      </p:sp>
      <p:sp>
        <p:nvSpPr>
          <p:cNvPr id="31" name="Shape 29"/>
          <p:cNvSpPr/>
          <p:nvPr/>
        </p:nvSpPr>
        <p:spPr>
          <a:xfrm>
            <a:off x="1047750" y="9189376"/>
            <a:ext cx="16192500" cy="1445816"/>
          </a:xfrm>
          <a:custGeom>
            <a:avLst/>
            <a:gdLst/>
            <a:ahLst/>
            <a:cxnLst/>
            <a:rect l="l" t="t" r="r" b="b"/>
            <a:pathLst>
              <a:path w="16192500" h="1445816">
                <a:moveTo>
                  <a:pt x="0" y="0"/>
                </a:moveTo>
                <a:lnTo>
                  <a:pt x="16021050" y="0"/>
                </a:lnTo>
                <a:arcTo wR="171450" hR="171450" stAng="16200000" swAng="5400000"/>
                <a:lnTo>
                  <a:pt x="16192500" y="1274366"/>
                </a:lnTo>
                <a:arcTo wR="171450" hR="171450" stAng="0" swAng="5400000"/>
                <a:lnTo>
                  <a:pt x="0" y="1445816"/>
                </a:lnTo>
                <a:lnTo>
                  <a:pt x="0" y="0"/>
                </a:lnTo>
                <a:close/>
              </a:path>
            </a:pathLst>
          </a:custGeom>
          <a:solidFill>
            <a:srgbClr val="1223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1047750" y="9189376"/>
            <a:ext cx="93133" cy="1445816"/>
          </a:xfrm>
          <a:prstGeom prst="rect">
            <a:avLst/>
          </a:prstGeom>
          <a:solidFill>
            <a:srgbClr val="14C8C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1521883" y="9597893"/>
            <a:ext cx="628650" cy="628650"/>
          </a:xfrm>
          <a:prstGeom prst="roundRect">
            <a:avLst>
              <a:gd name="adj" fmla="val 24242"/>
            </a:avLst>
          </a:prstGeom>
          <a:solidFill>
            <a:srgbClr val="14C8C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1483783" y="9597893"/>
            <a:ext cx="7048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8017"/>
              </a:lnSpc>
              <a:buNone/>
            </a:pPr>
            <a:r>
              <a:rPr lang="en-US" sz="2700" b="1" dirty="0">
                <a:solidFill>
                  <a:srgbClr val="032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700" dirty="0"/>
          </a:p>
        </p:txBody>
      </p:sp>
      <p:sp>
        <p:nvSpPr>
          <p:cNvPr id="35" name="Text 33"/>
          <p:cNvSpPr/>
          <p:nvPr/>
        </p:nvSpPr>
        <p:spPr>
          <a:xfrm>
            <a:off x="2474383" y="9475126"/>
            <a:ext cx="15823354" cy="483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21"/>
              </a:lnSpc>
              <a:buNone/>
            </a:pPr>
            <a:r>
              <a:rPr lang="en-US" sz="27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turns any of this into an automated, always-on workflow</a:t>
            </a:r>
            <a:endParaRPr lang="en-US" sz="2700" dirty="0"/>
          </a:p>
        </p:txBody>
      </p:sp>
      <p:sp>
        <p:nvSpPr>
          <p:cNvPr id="36" name="Text 34"/>
          <p:cNvSpPr/>
          <p:nvPr/>
        </p:nvSpPr>
        <p:spPr>
          <a:xfrm>
            <a:off x="1035897" y="9920817"/>
            <a:ext cx="1582335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9808"/>
              </a:lnSpc>
              <a:buNone/>
            </a:pPr>
            <a:r>
              <a:rPr lang="en-US" sz="2250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بيحوّل كل ده لسير عمل آلي يشتغل باستمرار</a:t>
            </a:r>
            <a:endParaRPr lang="en-US" sz="2250" dirty="0"/>
          </a:p>
        </p:txBody>
      </p:sp>
      <p:sp>
        <p:nvSpPr>
          <p:cNvPr id="37" name="Shape 35"/>
          <p:cNvSpPr/>
          <p:nvPr/>
        </p:nvSpPr>
        <p:spPr>
          <a:xfrm>
            <a:off x="1047750" y="10635192"/>
            <a:ext cx="16192500" cy="16933"/>
          </a:xfrm>
          <a:prstGeom prst="rect">
            <a:avLst/>
          </a:prstGeom>
          <a:solidFill>
            <a:srgbClr val="1E32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1047750" y="10918825"/>
            <a:ext cx="59026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MASTERY · AI TRAINING SERIES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15779353" y="10918825"/>
            <a:ext cx="160698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135"/>
              </a:lnSpc>
              <a:buNone/>
            </a:pPr>
            <a:r>
              <a:rPr lang="en-US" sz="2100" b="1" kern="0" spc="210" dirty="0">
                <a:solidFill>
                  <a:srgbClr val="6E8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</a:t>
            </a:r>
            <a:endParaRPr lang="en-US" sz="21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6305A">
                  <a:alpha val="100000"/>
                </a:srgbClr>
              </a:gs>
              <a:gs pos="55000">
                <a:srgbClr val="0A1526">
                  <a:alpha val="100000"/>
                </a:srgbClr>
              </a:gs>
              <a:gs pos="100000">
                <a:srgbClr val="060D19">
                  <a:alpha val="100000"/>
                </a:srgbClr>
              </a:gs>
            </a:gsLst>
            <a:path path="circle">
              <a:fillToRect l="88000" t="100000" r="12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47750" y="762000"/>
            <a:ext cx="4351999" cy="1003300"/>
          </a:xfrm>
          <a:prstGeom prst="roundRect">
            <a:avLst>
              <a:gd name="adj" fmla="val 18987"/>
            </a:avLst>
          </a:prstGeom>
          <a:ln w="25400">
            <a:solidFill>
              <a:srgbClr val="3E5680">
                <a:alpha val="60000"/>
              </a:srgbClr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339850" y="958850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F5B9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301750" y="95885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4138"/>
              </a:lnSpc>
              <a:buNone/>
            </a:pPr>
            <a:r>
              <a:rPr lang="en-US" sz="2700" b="1" dirty="0">
                <a:solidFill>
                  <a:srgbClr val="0A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2139950" y="1090348"/>
            <a:ext cx="3264469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676"/>
              </a:lnSpc>
              <a:buNone/>
            </a:pPr>
            <a:r>
              <a:rPr lang="en-US" sz="2100" b="1" kern="0" spc="294" dirty="0">
                <a:solidFill>
                  <a:srgbClr val="9C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LOGO HERE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4001750" y="762000"/>
            <a:ext cx="3238500" cy="76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5B93A">
                  <a:alpha val="100000"/>
                </a:srgbClr>
              </a:gs>
              <a:gs pos="16667">
                <a:srgbClr val="3DA9F5">
                  <a:alpha val="100000"/>
                </a:srgbClr>
              </a:gs>
              <a:gs pos="33333">
                <a:srgbClr val="2FCC94">
                  <a:alpha val="100000"/>
                </a:srgbClr>
              </a:gs>
              <a:gs pos="50000">
                <a:srgbClr val="A98BF7">
                  <a:alpha val="100000"/>
                </a:srgbClr>
              </a:gs>
              <a:gs pos="66667">
                <a:srgbClr val="FF6F91">
                  <a:alpha val="100000"/>
                </a:srgbClr>
              </a:gs>
              <a:gs pos="83333">
                <a:srgbClr val="E0805C">
                  <a:alpha val="100000"/>
                </a:srgbClr>
              </a:gs>
              <a:gs pos="100000">
                <a:srgbClr val="14C8C8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047750" y="3266943"/>
            <a:ext cx="1781175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017"/>
              </a:lnSpc>
              <a:buNone/>
            </a:pPr>
            <a:r>
              <a:rPr lang="en-US" sz="10500" b="1" kern="0" spc="-2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0500" dirty="0"/>
          </a:p>
        </p:txBody>
      </p:sp>
      <p:sp>
        <p:nvSpPr>
          <p:cNvPr id="9" name="Text 7"/>
          <p:cNvSpPr/>
          <p:nvPr/>
        </p:nvSpPr>
        <p:spPr>
          <a:xfrm>
            <a:off x="-571500" y="4924293"/>
            <a:ext cx="17811750" cy="830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4146"/>
              </a:lnSpc>
              <a:buNone/>
            </a:pPr>
            <a:r>
              <a:rPr lang="en-US" sz="4800" b="1" dirty="0">
                <a:solidFill>
                  <a:srgbClr val="C8D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شكراً لكم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1047750" y="6040570"/>
            <a:ext cx="146685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808"/>
              </a:lnSpc>
              <a:buNone/>
            </a:pPr>
            <a:r>
              <a:rPr lang="en-US" sz="3000" dirty="0">
                <a:solidFill>
                  <a:srgbClr val="AFC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your first prompt to a fully automated AI workflow.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-571500" y="6935920"/>
            <a:ext cx="17811750" cy="5561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39091"/>
              </a:lnSpc>
              <a:buNone/>
            </a:pPr>
            <a:r>
              <a:rPr lang="en-US" sz="2550" dirty="0">
                <a:solidFill>
                  <a:srgbClr val="8FA3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أول أمر تكتبه إلى سير عمل آلي متكامل بالذكاء الاصطناعي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047750" y="8955617"/>
            <a:ext cx="16192500" cy="16933"/>
          </a:xfrm>
          <a:prstGeom prst="rect">
            <a:avLst/>
          </a:prstGeom>
          <a:solidFill>
            <a:srgbClr val="2338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047750" y="9258300"/>
            <a:ext cx="350268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24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Mohamed Hussein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771945" y="9258300"/>
            <a:ext cx="161513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714"/>
              </a:lnSpc>
              <a:buNone/>
            </a:pPr>
            <a:r>
              <a:rPr lang="en-US" sz="2400" b="1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د. محمد حسين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9532</Words>
  <Application>Microsoft Office PowerPoint</Application>
  <PresentationFormat>مخصص</PresentationFormat>
  <Paragraphs>1804</Paragraphs>
  <Slides>87</Slides>
  <Notes>87</Notes>
  <HiddenSlides>0</HiddenSlides>
  <MMClips>0</MMClip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87</vt:i4>
      </vt:variant>
    </vt:vector>
  </HeadingPairs>
  <TitlesOfParts>
    <vt:vector size="88" baseType="lpstr"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اشرف ابراهيم</cp:lastModifiedBy>
  <cp:revision>3</cp:revision>
  <dcterms:created xsi:type="dcterms:W3CDTF">2026-08-16T17:55:38Z</dcterms:created>
  <dcterms:modified xsi:type="dcterms:W3CDTF">2026-08-30T07:31:29Z</dcterms:modified>
</cp:coreProperties>
</file>